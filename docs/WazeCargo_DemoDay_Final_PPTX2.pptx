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 name="Shape 29"/>
          <p:cNvSpPr/>
          <p:nvPr>
            <p:ph type="sldImg"/>
          </p:nvPr>
        </p:nvSpPr>
        <p:spPr>
          <a:prstGeom prst="rect">
            <a:avLst/>
          </a:prstGeom>
        </p:spPr>
        <p:txBody>
          <a:bodyPr/>
          <a:lstStyle/>
          <a:p>
            <a:pPr/>
          </a:p>
        </p:txBody>
      </p:sp>
      <p:sp>
        <p:nvSpPr>
          <p:cNvPr id="30" name="Shape 30"/>
          <p:cNvSpPr/>
          <p:nvPr>
            <p:ph type="body" sz="quarter" idx="1"/>
          </p:nvPr>
        </p:nvSpPr>
        <p:spPr>
          <a:prstGeom prst="rect">
            <a:avLst/>
          </a:prstGeom>
        </p:spPr>
        <p:txBody>
          <a:bodyPr/>
          <a:lstStyle/>
          <a:p>
            <a:pPr/>
            <a:r>
              <a:t>Open strong: Waze Cargo predicts Chilean port congestion before it happens. Hold on the tagline. We turn 20 years of customs data plus ocean weather into a routing decision. One line: existing tools show where your ship is; we show what happens when it arrives.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 name="Shape 57"/>
          <p:cNvSpPr/>
          <p:nvPr>
            <p:ph type="sldImg"/>
          </p:nvPr>
        </p:nvSpPr>
        <p:spPr>
          <a:prstGeom prst="rect">
            <a:avLst/>
          </a:prstGeom>
        </p:spPr>
        <p:txBody>
          <a:bodyPr/>
          <a:lstStyle/>
          <a:p>
            <a:pPr/>
          </a:p>
        </p:txBody>
      </p:sp>
      <p:sp>
        <p:nvSpPr>
          <p:cNvPr id="58" name="Shape 58"/>
          <p:cNvSpPr/>
          <p:nvPr>
            <p:ph type="body" sz="quarter" idx="1"/>
          </p:nvPr>
        </p:nvSpPr>
        <p:spPr>
          <a:prstGeom prst="rect">
            <a:avLst/>
          </a:prstGeom>
        </p:spPr>
        <p:txBody>
          <a:bodyPr/>
          <a:lstStyle/>
          <a:p>
            <a:pPr/>
            <a:r>
              <a:t>The whole pitch in 30 seconds. Hit the four boxes in order: opportunity (223.2B, 98.6% SMEs, nobody predicts), product (live Dashboard 2.0, 31 ports, 4.03% error), model (freemium funnel), ask (120K for 15%). Then move on - detail comes later.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 name="Shape 98"/>
          <p:cNvSpPr/>
          <p:nvPr>
            <p:ph type="sldImg"/>
          </p:nvPr>
        </p:nvSpPr>
        <p:spPr>
          <a:prstGeom prst="rect">
            <a:avLst/>
          </a:prstGeom>
        </p:spPr>
        <p:txBody>
          <a:bodyPr/>
          <a:lstStyle/>
          <a:p>
            <a:pPr/>
          </a:p>
        </p:txBody>
      </p:sp>
      <p:sp>
        <p:nvSpPr>
          <p:cNvPr id="99" name="Shape 99"/>
          <p:cNvSpPr/>
          <p:nvPr>
            <p:ph type="body" sz="quarter" idx="1"/>
          </p:nvPr>
        </p:nvSpPr>
        <p:spPr>
          <a:prstGeom prst="rect">
            <a:avLst/>
          </a:prstGeom>
        </p:spPr>
        <p:txBody>
          <a:bodyPr/>
          <a:lstStyle/>
          <a:p>
            <a:pPr/>
            <a:r>
              <a:t>Spend your time on David. He was inside Chilean customs - that is why we have 20 years of data and operational insight no outsider can copy. Frame the rest as a complete stack: ML, data science, product, ops. The unfair advantage is the headline, not the resumes.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Shape 130"/>
          <p:cNvSpPr/>
          <p:nvPr>
            <p:ph type="sldImg"/>
          </p:nvPr>
        </p:nvSpPr>
        <p:spPr>
          <a:prstGeom prst="rect">
            <a:avLst/>
          </a:prstGeom>
        </p:spPr>
        <p:txBody>
          <a:bodyPr/>
          <a:lstStyle/>
          <a:p>
            <a:pPr/>
          </a:p>
        </p:txBody>
      </p:sp>
      <p:sp>
        <p:nvSpPr>
          <p:cNvPr id="131" name="Shape 131"/>
          <p:cNvSpPr/>
          <p:nvPr>
            <p:ph type="body" sz="quarter" idx="1"/>
          </p:nvPr>
        </p:nvSpPr>
        <p:spPr>
          <a:prstGeom prst="rect">
            <a:avLst/>
          </a:prstGeom>
        </p:spPr>
        <p:txBody>
          <a:bodyPr/>
          <a:lstStyle/>
          <a:p>
            <a:pPr/>
            <a:r>
              <a:t>Make it visceral: 223.2B moves blind. Importers face stockouts and penalties insurance won't cover; exporters face spoiled fruit during harvest. Then the three-line gap: what tools tell you / what they can't / what we tell you. End on the concrete forecast - San Antonio 40% above norm, reroute to Coquimbo at 7%. That number does not exist anywhere today.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 name="Shape 165"/>
          <p:cNvSpPr/>
          <p:nvPr>
            <p:ph type="sldImg"/>
          </p:nvPr>
        </p:nvSpPr>
        <p:spPr>
          <a:prstGeom prst="rect">
            <a:avLst/>
          </a:prstGeom>
        </p:spPr>
        <p:txBody>
          <a:bodyPr/>
          <a:lstStyle/>
          <a:p>
            <a:pPr/>
          </a:p>
        </p:txBody>
      </p:sp>
      <p:sp>
        <p:nvSpPr>
          <p:cNvPr id="166" name="Shape 166"/>
          <p:cNvSpPr/>
          <p:nvPr>
            <p:ph type="body" sz="quarter" idx="1"/>
          </p:nvPr>
        </p:nvSpPr>
        <p:spPr>
          <a:prstGeom prst="rect">
            <a:avLst/>
          </a:prstGeom>
        </p:spPr>
        <p:txBody>
          <a:bodyPr/>
          <a:lstStyle/>
          <a:p>
            <a:pPr/>
            <a:r>
              <a:t>Three segments map to three tiers: small=free, medium=Pro core revenue, B2B=Enterprise. Then tell Maria's story - the 180K cherry loss. That one avoided delay paying for years of subscription is the whole value argument.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Shape 212"/>
          <p:cNvSpPr/>
          <p:nvPr>
            <p:ph type="sldImg"/>
          </p:nvPr>
        </p:nvSpPr>
        <p:spPr>
          <a:prstGeom prst="rect">
            <a:avLst/>
          </a:prstGeom>
        </p:spPr>
        <p:txBody>
          <a:bodyPr/>
          <a:lstStyle/>
          <a:p>
            <a:pPr/>
          </a:p>
        </p:txBody>
      </p:sp>
      <p:sp>
        <p:nvSpPr>
          <p:cNvPr id="213" name="Shape 213"/>
          <p:cNvSpPr/>
          <p:nvPr>
            <p:ph type="body" sz="quarter" idx="1"/>
          </p:nvPr>
        </p:nvSpPr>
        <p:spPr>
          <a:prstGeom prst="rect">
            <a:avLst/>
          </a:prstGeom>
        </p:spPr>
        <p:txBody>
          <a:bodyPr/>
          <a:lstStyle/>
          <a:p>
            <a:pPr/>
            <a:r>
              <a:t>Freemium mechanics. The key phrase is 'taste then crave': the user SEES the routing recommendation but it is paywalled, the commodity table is blurred, swell alerts locked. Walk the AARRR row: public dashboard acquires, blurred value converts, alerts retain, partner-invite refers.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0" name="Shape 250"/>
          <p:cNvSpPr/>
          <p:nvPr>
            <p:ph type="sldImg"/>
          </p:nvPr>
        </p:nvSpPr>
        <p:spPr>
          <a:prstGeom prst="rect">
            <a:avLst/>
          </a:prstGeom>
        </p:spPr>
        <p:txBody>
          <a:bodyPr/>
          <a:lstStyle/>
          <a:p>
            <a:pPr/>
          </a:p>
        </p:txBody>
      </p:sp>
      <p:sp>
        <p:nvSpPr>
          <p:cNvPr id="251" name="Shape 251"/>
          <p:cNvSpPr/>
          <p:nvPr>
            <p:ph type="body" sz="quarter" idx="1"/>
          </p:nvPr>
        </p:nvSpPr>
        <p:spPr>
          <a:prstGeom prst="rect">
            <a:avLst/>
          </a:prstGeom>
        </p:spPr>
        <p:txBody>
          <a:bodyPr/>
          <a:lstStyle/>
          <a:p>
            <a:pPr/>
            <a:r>
              <a:t>If live demo works, DRIVE IT - this is the moment. Walk the 6 steps on the right. Land the 'aha': a port they never considered is best for their commodity. If demo fails, this slide stands alone. Always end on the rigor box - we found two leakage bugs, R2 looked like 0.91 but was honestly 0.57, we report the honest 4.03% wMAPE. Honesty about our own numbers builds more trust than a big number would.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0" name="Shape 320"/>
          <p:cNvSpPr/>
          <p:nvPr>
            <p:ph type="sldImg"/>
          </p:nvPr>
        </p:nvSpPr>
        <p:spPr>
          <a:prstGeom prst="rect">
            <a:avLst/>
          </a:prstGeom>
        </p:spPr>
        <p:txBody>
          <a:bodyPr/>
          <a:lstStyle/>
          <a:p>
            <a:pPr/>
          </a:p>
        </p:txBody>
      </p:sp>
      <p:sp>
        <p:nvSpPr>
          <p:cNvPr id="321" name="Shape 321"/>
          <p:cNvSpPr/>
          <p:nvPr>
            <p:ph type="body" sz="quarter" idx="1"/>
          </p:nvPr>
        </p:nvSpPr>
        <p:spPr>
          <a:prstGeom prst="rect">
            <a:avLst/>
          </a:prstGeom>
        </p:spPr>
        <p:txBody>
          <a:bodyPr/>
          <a:lstStyle/>
          <a:p>
            <a:pPr/>
            <a:r>
              <a:t>This is the credibility kill-shot. We forecast 2026 before it happened; now we grade it on real customs data. National error 7.1%, overall 8.5% wMAPE. Drive the honesty: 2025 holdout was 4.03%, live 2026 is 8.5% - that degradation is EXPECTED for a fully out-of-sample recursive forecast, and we report it openly. Land the punchline: large ports carry 98% of volume and we hit 8.3% there - most accurate exactly where the money is. The Valparaiso miss we own as a known fix target, not hide.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3" name="Shape 423"/>
          <p:cNvSpPr/>
          <p:nvPr>
            <p:ph type="sldImg"/>
          </p:nvPr>
        </p:nvSpPr>
        <p:spPr>
          <a:prstGeom prst="rect">
            <a:avLst/>
          </a:prstGeom>
        </p:spPr>
        <p:txBody>
          <a:bodyPr/>
          <a:lstStyle/>
          <a:p>
            <a:pPr/>
          </a:p>
        </p:txBody>
      </p:sp>
      <p:sp>
        <p:nvSpPr>
          <p:cNvPr id="424" name="Shape 424"/>
          <p:cNvSpPr/>
          <p:nvPr>
            <p:ph type="body" sz="quarter" idx="1"/>
          </p:nvPr>
        </p:nvSpPr>
        <p:spPr>
          <a:prstGeom prst="rect">
            <a:avLst/>
          </a:prstGeom>
        </p:spPr>
        <p:txBody>
          <a:bodyPr/>
          <a:lstStyle/>
          <a:p>
            <a:pPr/>
            <a:r>
              <a:t>Market is large AND growing: 1.8B to 5.6B, 12% CAGR, 69% untapped. Walk the table left to right - everyone is red on prediction and Chile data except us. Close on the moat: 20 years of HS2xport customs data is unreplicable from AIS; global players won't build Chile-specific models for a niche. We are already there.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8" name="Shape 468"/>
          <p:cNvSpPr/>
          <p:nvPr>
            <p:ph type="sldImg"/>
          </p:nvPr>
        </p:nvSpPr>
        <p:spPr>
          <a:prstGeom prst="rect">
            <a:avLst/>
          </a:prstGeom>
        </p:spPr>
        <p:txBody>
          <a:bodyPr/>
          <a:lstStyle/>
          <a:p>
            <a:pPr/>
          </a:p>
        </p:txBody>
      </p:sp>
      <p:sp>
        <p:nvSpPr>
          <p:cNvPr id="469" name="Shape 469"/>
          <p:cNvSpPr/>
          <p:nvPr>
            <p:ph type="body" sz="quarter" idx="1"/>
          </p:nvPr>
        </p:nvSpPr>
        <p:spPr>
          <a:prstGeom prst="rect">
            <a:avLst/>
          </a:prstGeom>
        </p:spPr>
        <p:txBody>
          <a:bodyPr/>
          <a:lstStyle/>
          <a:p>
            <a:pPr/>
            <a:r>
              <a:t>North star is Weekly Active Port Checks - engagement plus habit. Don't read every card; point at conversion (8-12% vs 3-5% benchmark) and LTV:CAC 3:1. Close on how-to-get-there: Y1 is just 10 Pro users / 40K ARR via a dashboard that already exists. Modest and credible.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8" name="Shape 498"/>
          <p:cNvSpPr/>
          <p:nvPr>
            <p:ph type="sldImg"/>
          </p:nvPr>
        </p:nvSpPr>
        <p:spPr>
          <a:prstGeom prst="rect">
            <a:avLst/>
          </a:prstGeom>
        </p:spPr>
        <p:txBody>
          <a:bodyPr/>
          <a:lstStyle/>
          <a:p>
            <a:pPr/>
          </a:p>
        </p:txBody>
      </p:sp>
      <p:sp>
        <p:nvSpPr>
          <p:cNvPr id="499" name="Shape 499"/>
          <p:cNvSpPr/>
          <p:nvPr>
            <p:ph type="body" sz="quarter" idx="1"/>
          </p:nvPr>
        </p:nvSpPr>
        <p:spPr>
          <a:prstGeom prst="rect">
            <a:avLst/>
          </a:prstGeom>
        </p:spPr>
        <p:txBody>
          <a:bodyPr/>
          <a:lstStyle/>
          <a:p>
            <a:pPr/>
            <a:r>
              <a:t>Walk the ARR ladder: 40K to 1.2M over five years, Pro users on the line. Emphasize the assumptions box - conversion above benchmark because of taste-then-crave, churn under 5% because routing is recurring, pipeline is country-agnostic so Peru/Colombia are cheap. Keep it top-level, invite questions.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2" name="Shape 542"/>
          <p:cNvSpPr/>
          <p:nvPr>
            <p:ph type="sldImg"/>
          </p:nvPr>
        </p:nvSpPr>
        <p:spPr>
          <a:prstGeom prst="rect">
            <a:avLst/>
          </a:prstGeom>
        </p:spPr>
        <p:txBody>
          <a:bodyPr/>
          <a:lstStyle/>
          <a:p>
            <a:pPr/>
          </a:p>
        </p:txBody>
      </p:sp>
      <p:sp>
        <p:nvSpPr>
          <p:cNvPr id="543" name="Shape 543"/>
          <p:cNvSpPr/>
          <p:nvPr>
            <p:ph type="body" sz="quarter" idx="1"/>
          </p:nvPr>
        </p:nvSpPr>
        <p:spPr>
          <a:prstGeom prst="rect">
            <a:avLst/>
          </a:prstGeom>
        </p:spPr>
        <p:txBody>
          <a:bodyPr/>
          <a:lstStyle/>
          <a:p>
            <a:pPr/>
            <a:r>
              <a:t>The ask: 120K for 15%, 800K valuation. Use of funds 40/30/30. The de-risk line is the closer - this is a go-to-market bet, not R&amp;D; the product is built. Then the return math: 16x by Y3, 50x by Y5 on a conservative 5x multiple, with maritime comps trading 8-12x.</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9" name="Shape 579"/>
          <p:cNvSpPr/>
          <p:nvPr>
            <p:ph type="sldImg"/>
          </p:nvPr>
        </p:nvSpPr>
        <p:spPr>
          <a:prstGeom prst="rect">
            <a:avLst/>
          </a:prstGeom>
        </p:spPr>
        <p:txBody>
          <a:bodyPr/>
          <a:lstStyle/>
          <a:p>
            <a:pPr/>
          </a:p>
        </p:txBody>
      </p:sp>
      <p:sp>
        <p:nvSpPr>
          <p:cNvPr id="580" name="Shape 580"/>
          <p:cNvSpPr/>
          <p:nvPr>
            <p:ph type="body" sz="quarter" idx="1"/>
          </p:nvPr>
        </p:nvSpPr>
        <p:spPr>
          <a:prstGeom prst="rect">
            <a:avLst/>
          </a:prstGeom>
        </p:spPr>
        <p:txBody>
          <a:bodyPr/>
          <a:lstStyle/>
          <a:p>
            <a:pPr/>
            <a:r>
              <a:t>Backup only - do not present unless asked. If a juror probes risk, jump here. Each risk has a severity and a concrete mitigation. The two High risks (SME adoption, team capacity) both resolve to: free tier removes friction, product already built, focused MVP on two ports.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9" name="Shape 589"/>
          <p:cNvSpPr/>
          <p:nvPr>
            <p:ph type="sldImg"/>
          </p:nvPr>
        </p:nvSpPr>
        <p:spPr>
          <a:prstGeom prst="rect">
            <a:avLst/>
          </a:prstGeom>
        </p:spPr>
        <p:txBody>
          <a:bodyPr/>
          <a:lstStyle/>
          <a:p>
            <a:pPr/>
          </a:p>
        </p:txBody>
      </p:sp>
      <p:sp>
        <p:nvSpPr>
          <p:cNvPr id="590" name="Shape 590"/>
          <p:cNvSpPr/>
          <p:nvPr>
            <p:ph type="body" sz="quarter" idx="1"/>
          </p:nvPr>
        </p:nvSpPr>
        <p:spPr>
          <a:prstGeom prst="rect">
            <a:avLst/>
          </a:prstGeom>
        </p:spPr>
        <p:txBody>
          <a:bodyPr/>
          <a:lstStyle/>
          <a:p>
            <a:pPr/>
            <a:r>
              <a:t>Close on the tagline - say it slowly. The ocean doesn't wait, now you can move before it does. Reinforce: this is a working product, not a concept. Restate the ask one last time: 120K, 15%. Thank the jury and open for questions.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5.png"/><Relationship Id="rId5" Type="http://schemas.openxmlformats.org/officeDocument/2006/relationships/image" Target="../media/image15.png"/><Relationship Id="rId6" Type="http://schemas.openxmlformats.org/officeDocument/2006/relationships/image" Target="../media/image16.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18.png"/><Relationship Id="rId6" Type="http://schemas.openxmlformats.org/officeDocument/2006/relationships/image" Target="../media/image19.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2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8.png"/><Relationship Id="rId5" Type="http://schemas.openxmlformats.org/officeDocument/2006/relationships/image" Target="../media/image23.png"/><Relationship Id="rId6" Type="http://schemas.openxmlformats.org/officeDocument/2006/relationships/image" Target="../media/image20.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2.png"/><Relationship Id="rId6" Type="http://schemas.openxmlformats.org/officeDocument/2006/relationships/image" Target="../media/image1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27.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8.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7.png"/><Relationship Id="rId6" Type="http://schemas.openxmlformats.org/officeDocument/2006/relationships/image" Target="../media/image14.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3"/>
          <a:srcRect l="0" t="0" r="0" b="0"/>
          <a:stretch>
            <a:fillRect/>
          </a:stretch>
        </a:blipFill>
      </p:bgPr>
    </p:bg>
    <p:spTree>
      <p:nvGrpSpPr>
        <p:cNvPr id="1" name=""/>
        <p:cNvGrpSpPr/>
        <p:nvPr/>
      </p:nvGrpSpPr>
      <p:grpSpPr>
        <a:xfrm>
          <a:off x="0" y="0"/>
          <a:ext cx="0" cy="0"/>
          <a:chOff x="0" y="0"/>
          <a:chExt cx="0" cy="0"/>
        </a:xfrm>
      </p:grpSpPr>
      <p:pic>
        <p:nvPicPr>
          <p:cNvPr id="20" name="Image 0" descr="Image 0"/>
          <p:cNvPicPr>
            <a:picLocks noChangeAspect="1"/>
          </p:cNvPicPr>
          <p:nvPr/>
        </p:nvPicPr>
        <p:blipFill>
          <a:blip r:embed="rId4">
            <a:extLst/>
          </a:blip>
          <a:stretch>
            <a:fillRect/>
          </a:stretch>
        </p:blipFill>
        <p:spPr>
          <a:xfrm>
            <a:off x="548640" y="502919"/>
            <a:ext cx="457201" cy="457201"/>
          </a:xfrm>
          <a:prstGeom prst="rect">
            <a:avLst/>
          </a:prstGeom>
          <a:ln w="12700">
            <a:miter lim="400000"/>
          </a:ln>
        </p:spPr>
      </p:pic>
      <p:sp>
        <p:nvSpPr>
          <p:cNvPr id="21" name="Text 0"/>
          <p:cNvSpPr txBox="1"/>
          <p:nvPr/>
        </p:nvSpPr>
        <p:spPr>
          <a:xfrm>
            <a:off x="1097280" y="620013"/>
            <a:ext cx="54864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600">
                <a:solidFill>
                  <a:srgbClr val="FFFFFF"/>
                </a:solidFill>
                <a:latin typeface="DM Sans"/>
                <a:ea typeface="DM Sans"/>
                <a:cs typeface="DM Sans"/>
                <a:sym typeface="DM Sans"/>
              </a:defRPr>
            </a:lvl1pPr>
          </a:lstStyle>
          <a:p>
            <a:pPr/>
            <a:r>
              <a:t>WAZE CARGO</a:t>
            </a:r>
          </a:p>
        </p:txBody>
      </p:sp>
      <p:sp>
        <p:nvSpPr>
          <p:cNvPr id="22" name="Text 1"/>
          <p:cNvSpPr txBox="1"/>
          <p:nvPr/>
        </p:nvSpPr>
        <p:spPr>
          <a:xfrm>
            <a:off x="7528255" y="676402"/>
            <a:ext cx="41148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pc="100" sz="1100">
                <a:solidFill>
                  <a:srgbClr val="7FB8C9"/>
                </a:solidFill>
                <a:latin typeface="DM Sans"/>
                <a:ea typeface="DM Sans"/>
                <a:cs typeface="DM Sans"/>
                <a:sym typeface="DM Sans"/>
              </a:defRPr>
            </a:lvl1pPr>
          </a:lstStyle>
          <a:p>
            <a:pPr/>
            <a:r>
              <a:t>BTS MSc AI &amp; Data Solutions — 2026</a:t>
            </a:r>
          </a:p>
        </p:txBody>
      </p:sp>
      <p:sp>
        <p:nvSpPr>
          <p:cNvPr id="23" name="Text 2"/>
          <p:cNvSpPr txBox="1"/>
          <p:nvPr/>
        </p:nvSpPr>
        <p:spPr>
          <a:xfrm>
            <a:off x="777240" y="1953260"/>
            <a:ext cx="8229601" cy="939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6200">
                <a:solidFill>
                  <a:srgbClr val="FFFFFF"/>
                </a:solidFill>
                <a:latin typeface="DM Sans"/>
                <a:ea typeface="DM Sans"/>
                <a:cs typeface="DM Sans"/>
                <a:sym typeface="DM Sans"/>
              </a:defRPr>
            </a:lvl1pPr>
          </a:lstStyle>
          <a:p>
            <a:pPr/>
            <a:r>
              <a:t>Waze Cargo</a:t>
            </a:r>
          </a:p>
        </p:txBody>
      </p:sp>
      <p:sp>
        <p:nvSpPr>
          <p:cNvPr id="24" name="Text 3"/>
          <p:cNvSpPr txBox="1"/>
          <p:nvPr/>
        </p:nvSpPr>
        <p:spPr>
          <a:xfrm>
            <a:off x="822959" y="2976245"/>
            <a:ext cx="7955282" cy="9055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sz="1900">
                <a:solidFill>
                  <a:srgbClr val="06B6D4"/>
                </a:solidFill>
                <a:latin typeface="DM Sans"/>
                <a:ea typeface="DM Sans"/>
                <a:cs typeface="DM Sans"/>
                <a:sym typeface="DM Sans"/>
              </a:defRPr>
            </a:pPr>
            <a:r>
              <a:t>A predictive maritime analytics solution designed to forecast shipping</a:t>
            </a:r>
          </a:p>
          <a:p>
            <a:pPr>
              <a:lnSpc>
                <a:spcPct val="104999"/>
              </a:lnSpc>
              <a:defRPr sz="1900">
                <a:solidFill>
                  <a:srgbClr val="06B6D4"/>
                </a:solidFill>
                <a:latin typeface="DM Sans"/>
                <a:ea typeface="DM Sans"/>
                <a:cs typeface="DM Sans"/>
                <a:sym typeface="DM Sans"/>
              </a:defRPr>
            </a:pPr>
            <a:r>
              <a:t>disruptions and improve operational efficiency through data-driven insights.</a:t>
            </a:r>
          </a:p>
        </p:txBody>
      </p:sp>
      <p:sp>
        <p:nvSpPr>
          <p:cNvPr id="25" name="Text 4"/>
          <p:cNvSpPr txBox="1"/>
          <p:nvPr/>
        </p:nvSpPr>
        <p:spPr>
          <a:xfrm>
            <a:off x="822959" y="4307840"/>
            <a:ext cx="786384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700">
                <a:solidFill>
                  <a:srgbClr val="E2E8F0"/>
                </a:solidFill>
                <a:latin typeface="DM Sans"/>
                <a:ea typeface="DM Sans"/>
                <a:cs typeface="DM Sans"/>
                <a:sym typeface="DM Sans"/>
              </a:defRPr>
            </a:lvl1pPr>
          </a:lstStyle>
          <a:p>
            <a:pPr/>
            <a:r>
              <a:t>“The ocean doesn’t wait. Now you can move before it does.”</a:t>
            </a:r>
          </a:p>
        </p:txBody>
      </p:sp>
      <p:pic>
        <p:nvPicPr>
          <p:cNvPr id="26" name="Image 1" descr="Image 1"/>
          <p:cNvPicPr>
            <a:picLocks noChangeAspect="1"/>
          </p:cNvPicPr>
          <p:nvPr/>
        </p:nvPicPr>
        <p:blipFill>
          <a:blip r:embed="rId5">
            <a:extLst/>
          </a:blip>
          <a:stretch>
            <a:fillRect/>
          </a:stretch>
        </p:blipFill>
        <p:spPr>
          <a:xfrm>
            <a:off x="9189719" y="1371600"/>
            <a:ext cx="2286001" cy="4965192"/>
          </a:xfrm>
          <a:prstGeom prst="rect">
            <a:avLst/>
          </a:prstGeom>
          <a:ln w="12700">
            <a:miter lim="400000"/>
          </a:ln>
        </p:spPr>
      </p:pic>
      <p:sp>
        <p:nvSpPr>
          <p:cNvPr id="27" name="Text 5"/>
          <p:cNvSpPr txBox="1"/>
          <p:nvPr/>
        </p:nvSpPr>
        <p:spPr>
          <a:xfrm>
            <a:off x="502919" y="6461759"/>
            <a:ext cx="27432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64748B"/>
                </a:solidFill>
                <a:latin typeface="DM Sans"/>
                <a:ea typeface="DM Sans"/>
                <a:cs typeface="DM Sans"/>
                <a:sym typeface="DM Sans"/>
              </a:defRPr>
            </a:lvl1pPr>
          </a:lstStyle>
          <a:p>
            <a:pPr/>
            <a:r>
              <a:t>Waze Cargo</a:t>
            </a:r>
          </a:p>
        </p:txBody>
      </p:sp>
      <p:sp>
        <p:nvSpPr>
          <p:cNvPr id="28" name="Text 6"/>
          <p:cNvSpPr txBox="1"/>
          <p:nvPr/>
        </p:nvSpPr>
        <p:spPr>
          <a:xfrm>
            <a:off x="10728655" y="6461759"/>
            <a:ext cx="96012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latin typeface="DM Sans"/>
                <a:ea typeface="DM Sans"/>
                <a:cs typeface="DM Sans"/>
                <a:sym typeface="DM Sans"/>
              </a:defRPr>
            </a:lvl1pPr>
          </a:lstStyle>
          <a:p>
            <a:pPr/>
            <a:r>
              <a:t>01 / 14</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6090F"/>
        </a:solidFill>
      </p:bgPr>
    </p:bg>
    <p:spTree>
      <p:nvGrpSpPr>
        <p:cNvPr id="1" name=""/>
        <p:cNvGrpSpPr/>
        <p:nvPr/>
      </p:nvGrpSpPr>
      <p:grpSpPr>
        <a:xfrm>
          <a:off x="0" y="0"/>
          <a:ext cx="0" cy="0"/>
          <a:chOff x="0" y="0"/>
          <a:chExt cx="0" cy="0"/>
        </a:xfrm>
      </p:grpSpPr>
      <p:sp>
        <p:nvSpPr>
          <p:cNvPr id="32" name="Text 0"/>
          <p:cNvSpPr txBox="1"/>
          <p:nvPr/>
        </p:nvSpPr>
        <p:spPr>
          <a:xfrm>
            <a:off x="548640" y="514604"/>
            <a:ext cx="10058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200">
                <a:solidFill>
                  <a:srgbClr val="06B6D4"/>
                </a:solidFill>
                <a:latin typeface="DM Sans"/>
                <a:ea typeface="DM Sans"/>
                <a:cs typeface="DM Sans"/>
                <a:sym typeface="DM Sans"/>
              </a:defRPr>
            </a:lvl1pPr>
          </a:lstStyle>
          <a:p>
            <a:pPr/>
            <a:r>
              <a:t>EXECUTIVE SUMMARY</a:t>
            </a:r>
          </a:p>
        </p:txBody>
      </p:sp>
      <p:sp>
        <p:nvSpPr>
          <p:cNvPr id="33" name="Text 1"/>
          <p:cNvSpPr txBox="1"/>
          <p:nvPr/>
        </p:nvSpPr>
        <p:spPr>
          <a:xfrm>
            <a:off x="548639" y="909828"/>
            <a:ext cx="11155682"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FFFFF"/>
                </a:solidFill>
                <a:latin typeface="DM Sans"/>
                <a:ea typeface="DM Sans"/>
                <a:cs typeface="DM Sans"/>
                <a:sym typeface="DM Sans"/>
              </a:defRPr>
            </a:lvl1pPr>
          </a:lstStyle>
          <a:p>
            <a:pPr/>
            <a:r>
              <a:t>What we're designing — and why it matters now.</a:t>
            </a:r>
          </a:p>
        </p:txBody>
      </p:sp>
      <p:sp>
        <p:nvSpPr>
          <p:cNvPr id="34" name="Text 2"/>
          <p:cNvSpPr txBox="1"/>
          <p:nvPr/>
        </p:nvSpPr>
        <p:spPr>
          <a:xfrm>
            <a:off x="548639" y="1661921"/>
            <a:ext cx="11064242" cy="69951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2000"/>
              </a:lnSpc>
              <a:defRPr sz="1400">
                <a:solidFill>
                  <a:srgbClr val="E2E8F0"/>
                </a:solidFill>
                <a:latin typeface="DM Sans"/>
                <a:ea typeface="DM Sans"/>
                <a:cs typeface="DM Sans"/>
                <a:sym typeface="DM Sans"/>
              </a:defRPr>
            </a:lvl1pPr>
          </a:lstStyle>
          <a:p>
            <a:pPr/>
            <a:r>
              <a:t>Waze Cargo is a freemium SaaS platform that predicts Chilean port congestion up to 12 months ahead — combining 20 years of customs intelligence (2005–2025) with seasonal ocean-weather forecasts across Chile’s three coastal zones. We help importers and exporters pick the right port, at the right time, before delays happen.</a:t>
            </a:r>
          </a:p>
        </p:txBody>
      </p:sp>
      <p:sp>
        <p:nvSpPr>
          <p:cNvPr id="35" name="Shape 3"/>
          <p:cNvSpPr/>
          <p:nvPr/>
        </p:nvSpPr>
        <p:spPr>
          <a:xfrm>
            <a:off x="548640" y="2697479"/>
            <a:ext cx="5394960" cy="1627633"/>
          </a:xfrm>
          <a:prstGeom prst="roundRect">
            <a:avLst>
              <a:gd name="adj" fmla="val 5618"/>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36" name="Shape 4"/>
          <p:cNvSpPr/>
          <p:nvPr/>
        </p:nvSpPr>
        <p:spPr>
          <a:xfrm>
            <a:off x="822960" y="3008376"/>
            <a:ext cx="713233" cy="713233"/>
          </a:xfrm>
          <a:prstGeom prst="ellipse">
            <a:avLst/>
          </a:prstGeom>
          <a:solidFill>
            <a:srgbClr val="0E2A38"/>
          </a:solidFill>
          <a:ln w="12700">
            <a:miter lim="400000"/>
          </a:ln>
        </p:spPr>
        <p:txBody>
          <a:bodyPr lIns="45719" rIns="45719"/>
          <a:lstStyle/>
          <a:p>
            <a:pPr/>
          </a:p>
        </p:txBody>
      </p:sp>
      <p:pic>
        <p:nvPicPr>
          <p:cNvPr id="37" name="Image 0" descr="Image 0"/>
          <p:cNvPicPr>
            <a:picLocks noChangeAspect="1"/>
          </p:cNvPicPr>
          <p:nvPr/>
        </p:nvPicPr>
        <p:blipFill>
          <a:blip r:embed="rId3">
            <a:extLst/>
          </a:blip>
          <a:stretch>
            <a:fillRect/>
          </a:stretch>
        </p:blipFill>
        <p:spPr>
          <a:xfrm>
            <a:off x="996696" y="3182111"/>
            <a:ext cx="365761" cy="365761"/>
          </a:xfrm>
          <a:prstGeom prst="rect">
            <a:avLst/>
          </a:prstGeom>
          <a:ln w="12700">
            <a:miter lim="400000"/>
          </a:ln>
        </p:spPr>
      </p:pic>
      <p:sp>
        <p:nvSpPr>
          <p:cNvPr id="38" name="Text 5"/>
          <p:cNvSpPr txBox="1"/>
          <p:nvPr/>
        </p:nvSpPr>
        <p:spPr>
          <a:xfrm>
            <a:off x="1737360" y="3022091"/>
            <a:ext cx="3977641"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latin typeface="DM Sans"/>
                <a:ea typeface="DM Sans"/>
                <a:cs typeface="DM Sans"/>
                <a:sym typeface="DM Sans"/>
              </a:defRPr>
            </a:lvl1pPr>
          </a:lstStyle>
          <a:p>
            <a:pPr/>
            <a:r>
              <a:t>The opportunity</a:t>
            </a:r>
          </a:p>
        </p:txBody>
      </p:sp>
      <p:sp>
        <p:nvSpPr>
          <p:cNvPr id="39" name="Text 6"/>
          <p:cNvSpPr txBox="1"/>
          <p:nvPr/>
        </p:nvSpPr>
        <p:spPr>
          <a:xfrm>
            <a:off x="1737360" y="3547998"/>
            <a:ext cx="4041648" cy="5118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sz="1100">
                <a:solidFill>
                  <a:srgbClr val="AEB9C7"/>
                </a:solidFill>
                <a:latin typeface="DM Sans"/>
                <a:ea typeface="DM Sans"/>
                <a:cs typeface="DM Sans"/>
                <a:sym typeface="DM Sans"/>
              </a:defRPr>
            </a:lvl1pPr>
          </a:lstStyle>
          <a:p>
            <a:pPr/>
            <a:r>
              <a:t>Chile moves $223.2B in annual trade through its ports. 98.6% of firms are SMEs. No existing tool predicts congestion before it strikes.</a:t>
            </a:r>
          </a:p>
        </p:txBody>
      </p:sp>
      <p:sp>
        <p:nvSpPr>
          <p:cNvPr id="40" name="Shape 7"/>
          <p:cNvSpPr/>
          <p:nvPr/>
        </p:nvSpPr>
        <p:spPr>
          <a:xfrm>
            <a:off x="6172200" y="2697479"/>
            <a:ext cx="5394960" cy="1627633"/>
          </a:xfrm>
          <a:prstGeom prst="roundRect">
            <a:avLst>
              <a:gd name="adj" fmla="val 5618"/>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41" name="Shape 8"/>
          <p:cNvSpPr/>
          <p:nvPr/>
        </p:nvSpPr>
        <p:spPr>
          <a:xfrm>
            <a:off x="6446520" y="3008376"/>
            <a:ext cx="713233" cy="713233"/>
          </a:xfrm>
          <a:prstGeom prst="ellipse">
            <a:avLst/>
          </a:prstGeom>
          <a:solidFill>
            <a:srgbClr val="0E2A38"/>
          </a:solidFill>
          <a:ln w="12700">
            <a:miter lim="400000"/>
          </a:ln>
        </p:spPr>
        <p:txBody>
          <a:bodyPr lIns="45719" rIns="45719"/>
          <a:lstStyle/>
          <a:p>
            <a:pPr/>
          </a:p>
        </p:txBody>
      </p:sp>
      <p:pic>
        <p:nvPicPr>
          <p:cNvPr id="42" name="Image 1" descr="Image 1"/>
          <p:cNvPicPr>
            <a:picLocks noChangeAspect="1"/>
          </p:cNvPicPr>
          <p:nvPr/>
        </p:nvPicPr>
        <p:blipFill>
          <a:blip r:embed="rId4">
            <a:extLst/>
          </a:blip>
          <a:stretch>
            <a:fillRect/>
          </a:stretch>
        </p:blipFill>
        <p:spPr>
          <a:xfrm>
            <a:off x="6620256" y="3182111"/>
            <a:ext cx="365761" cy="365761"/>
          </a:xfrm>
          <a:prstGeom prst="rect">
            <a:avLst/>
          </a:prstGeom>
          <a:ln w="12700">
            <a:miter lim="400000"/>
          </a:ln>
        </p:spPr>
      </p:pic>
      <p:sp>
        <p:nvSpPr>
          <p:cNvPr id="43" name="Text 9"/>
          <p:cNvSpPr txBox="1"/>
          <p:nvPr/>
        </p:nvSpPr>
        <p:spPr>
          <a:xfrm>
            <a:off x="7360919" y="3022091"/>
            <a:ext cx="3977641"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latin typeface="DM Sans"/>
                <a:ea typeface="DM Sans"/>
                <a:cs typeface="DM Sans"/>
                <a:sym typeface="DM Sans"/>
              </a:defRPr>
            </a:lvl1pPr>
          </a:lstStyle>
          <a:p>
            <a:pPr/>
            <a:r>
              <a:t>The product</a:t>
            </a:r>
          </a:p>
        </p:txBody>
      </p:sp>
      <p:sp>
        <p:nvSpPr>
          <p:cNvPr id="44" name="Text 10"/>
          <p:cNvSpPr txBox="1"/>
          <p:nvPr/>
        </p:nvSpPr>
        <p:spPr>
          <a:xfrm>
            <a:off x="7360919" y="3547998"/>
            <a:ext cx="4041649" cy="5118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sz="1100">
                <a:solidFill>
                  <a:srgbClr val="AEB9C7"/>
                </a:solidFill>
                <a:latin typeface="DM Sans"/>
                <a:ea typeface="DM Sans"/>
                <a:cs typeface="DM Sans"/>
                <a:sym typeface="DM Sans"/>
              </a:defRPr>
            </a:lvl1pPr>
          </a:lstStyle>
          <a:p>
            <a:pPr/>
            <a:r>
              <a:t>A live dashboard across 31 Chilean ports — ML congestion forecasts (4.03% error), commodity-level analysis, and weather-adjusted delay-risk. Dashboard 2.0 is built and running.</a:t>
            </a:r>
          </a:p>
        </p:txBody>
      </p:sp>
      <p:sp>
        <p:nvSpPr>
          <p:cNvPr id="45" name="Shape 11"/>
          <p:cNvSpPr/>
          <p:nvPr/>
        </p:nvSpPr>
        <p:spPr>
          <a:xfrm>
            <a:off x="548640" y="4480559"/>
            <a:ext cx="5394960" cy="1627633"/>
          </a:xfrm>
          <a:prstGeom prst="roundRect">
            <a:avLst>
              <a:gd name="adj" fmla="val 5618"/>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46" name="Shape 12"/>
          <p:cNvSpPr/>
          <p:nvPr/>
        </p:nvSpPr>
        <p:spPr>
          <a:xfrm>
            <a:off x="822960" y="4791455"/>
            <a:ext cx="713233" cy="713233"/>
          </a:xfrm>
          <a:prstGeom prst="ellipse">
            <a:avLst/>
          </a:prstGeom>
          <a:solidFill>
            <a:srgbClr val="0E2A38"/>
          </a:solidFill>
          <a:ln w="12700">
            <a:miter lim="400000"/>
          </a:ln>
        </p:spPr>
        <p:txBody>
          <a:bodyPr lIns="45719" rIns="45719"/>
          <a:lstStyle/>
          <a:p>
            <a:pPr/>
          </a:p>
        </p:txBody>
      </p:sp>
      <p:pic>
        <p:nvPicPr>
          <p:cNvPr id="47" name="Image 2" descr="Image 2"/>
          <p:cNvPicPr>
            <a:picLocks noChangeAspect="1"/>
          </p:cNvPicPr>
          <p:nvPr/>
        </p:nvPicPr>
        <p:blipFill>
          <a:blip r:embed="rId5">
            <a:extLst/>
          </a:blip>
          <a:stretch>
            <a:fillRect/>
          </a:stretch>
        </p:blipFill>
        <p:spPr>
          <a:xfrm>
            <a:off x="996696" y="4965191"/>
            <a:ext cx="365761" cy="365761"/>
          </a:xfrm>
          <a:prstGeom prst="rect">
            <a:avLst/>
          </a:prstGeom>
          <a:ln w="12700">
            <a:miter lim="400000"/>
          </a:ln>
        </p:spPr>
      </p:pic>
      <p:sp>
        <p:nvSpPr>
          <p:cNvPr id="48" name="Text 13"/>
          <p:cNvSpPr txBox="1"/>
          <p:nvPr/>
        </p:nvSpPr>
        <p:spPr>
          <a:xfrm>
            <a:off x="1737360" y="4805171"/>
            <a:ext cx="3977641"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latin typeface="DM Sans"/>
                <a:ea typeface="DM Sans"/>
                <a:cs typeface="DM Sans"/>
                <a:sym typeface="DM Sans"/>
              </a:defRPr>
            </a:lvl1pPr>
          </a:lstStyle>
          <a:p>
            <a:pPr/>
            <a:r>
              <a:t>The model</a:t>
            </a:r>
          </a:p>
        </p:txBody>
      </p:sp>
      <p:sp>
        <p:nvSpPr>
          <p:cNvPr id="49" name="Text 14"/>
          <p:cNvSpPr txBox="1"/>
          <p:nvPr/>
        </p:nvSpPr>
        <p:spPr>
          <a:xfrm>
            <a:off x="1737360" y="5331079"/>
            <a:ext cx="4041648" cy="5118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sz="1100">
                <a:solidFill>
                  <a:srgbClr val="AEB9C7"/>
                </a:solidFill>
                <a:latin typeface="DM Sans"/>
                <a:ea typeface="DM Sans"/>
                <a:cs typeface="DM Sans"/>
                <a:sym typeface="DM Sans"/>
              </a:defRPr>
            </a:lvl1pPr>
          </a:lstStyle>
          <a:p>
            <a:pPr/>
            <a:r>
              <a:t>Freemium. Free congestion labels acquire users; Pro (€100–350/mo) unlocks full forecasts and commodity routing; Enterprise (€500+/mo) adds API access and integrations.</a:t>
            </a:r>
          </a:p>
        </p:txBody>
      </p:sp>
      <p:sp>
        <p:nvSpPr>
          <p:cNvPr id="50" name="Shape 15"/>
          <p:cNvSpPr/>
          <p:nvPr/>
        </p:nvSpPr>
        <p:spPr>
          <a:xfrm>
            <a:off x="6172200" y="4480559"/>
            <a:ext cx="5394960" cy="1627633"/>
          </a:xfrm>
          <a:prstGeom prst="roundRect">
            <a:avLst>
              <a:gd name="adj" fmla="val 5618"/>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51" name="Shape 16"/>
          <p:cNvSpPr/>
          <p:nvPr/>
        </p:nvSpPr>
        <p:spPr>
          <a:xfrm>
            <a:off x="6446520" y="4791455"/>
            <a:ext cx="713233" cy="713233"/>
          </a:xfrm>
          <a:prstGeom prst="ellipse">
            <a:avLst/>
          </a:prstGeom>
          <a:solidFill>
            <a:srgbClr val="0E2A38"/>
          </a:solidFill>
          <a:ln w="12700">
            <a:miter lim="400000"/>
          </a:ln>
        </p:spPr>
        <p:txBody>
          <a:bodyPr lIns="45719" rIns="45719"/>
          <a:lstStyle/>
          <a:p>
            <a:pPr/>
          </a:p>
        </p:txBody>
      </p:sp>
      <p:pic>
        <p:nvPicPr>
          <p:cNvPr id="52" name="Image 3" descr="Image 3"/>
          <p:cNvPicPr>
            <a:picLocks noChangeAspect="1"/>
          </p:cNvPicPr>
          <p:nvPr/>
        </p:nvPicPr>
        <p:blipFill>
          <a:blip r:embed="rId6">
            <a:extLst/>
          </a:blip>
          <a:stretch>
            <a:fillRect/>
          </a:stretch>
        </p:blipFill>
        <p:spPr>
          <a:xfrm>
            <a:off x="6620256" y="4965191"/>
            <a:ext cx="365761" cy="365761"/>
          </a:xfrm>
          <a:prstGeom prst="rect">
            <a:avLst/>
          </a:prstGeom>
          <a:ln w="12700">
            <a:miter lim="400000"/>
          </a:ln>
        </p:spPr>
      </p:pic>
      <p:sp>
        <p:nvSpPr>
          <p:cNvPr id="53" name="Text 17"/>
          <p:cNvSpPr txBox="1"/>
          <p:nvPr/>
        </p:nvSpPr>
        <p:spPr>
          <a:xfrm>
            <a:off x="7360919" y="4805171"/>
            <a:ext cx="3977641"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latin typeface="DM Sans"/>
                <a:ea typeface="DM Sans"/>
                <a:cs typeface="DM Sans"/>
                <a:sym typeface="DM Sans"/>
              </a:defRPr>
            </a:lvl1pPr>
          </a:lstStyle>
          <a:p>
            <a:pPr/>
            <a:r>
              <a:t>The ask</a:t>
            </a:r>
          </a:p>
        </p:txBody>
      </p:sp>
      <p:sp>
        <p:nvSpPr>
          <p:cNvPr id="54" name="Text 18"/>
          <p:cNvSpPr txBox="1"/>
          <p:nvPr/>
        </p:nvSpPr>
        <p:spPr>
          <a:xfrm>
            <a:off x="7360919" y="5417756"/>
            <a:ext cx="4041649" cy="33845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sz="1100">
                <a:solidFill>
                  <a:srgbClr val="AEB9C7"/>
                </a:solidFill>
                <a:latin typeface="DM Sans"/>
                <a:ea typeface="DM Sans"/>
                <a:cs typeface="DM Sans"/>
                <a:sym typeface="DM Sans"/>
              </a:defRPr>
            </a:lvl1pPr>
          </a:lstStyle>
          <a:p>
            <a:pPr/>
            <a:r>
              <a:t>€120,000 seed for 15% equity. Funds go to deployment, go-to-market, and a Chile-based market representative.</a:t>
            </a:r>
          </a:p>
        </p:txBody>
      </p:sp>
      <p:sp>
        <p:nvSpPr>
          <p:cNvPr id="55" name="Text 19"/>
          <p:cNvSpPr txBox="1"/>
          <p:nvPr/>
        </p:nvSpPr>
        <p:spPr>
          <a:xfrm>
            <a:off x="502919" y="6461759"/>
            <a:ext cx="27432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64748B"/>
                </a:solidFill>
                <a:latin typeface="DM Sans"/>
                <a:ea typeface="DM Sans"/>
                <a:cs typeface="DM Sans"/>
                <a:sym typeface="DM Sans"/>
              </a:defRPr>
            </a:lvl1pPr>
          </a:lstStyle>
          <a:p>
            <a:pPr/>
            <a:r>
              <a:t>Waze Cargo</a:t>
            </a:r>
          </a:p>
        </p:txBody>
      </p:sp>
      <p:sp>
        <p:nvSpPr>
          <p:cNvPr id="56" name="Text 20"/>
          <p:cNvSpPr txBox="1"/>
          <p:nvPr/>
        </p:nvSpPr>
        <p:spPr>
          <a:xfrm>
            <a:off x="10728655" y="6461759"/>
            <a:ext cx="96012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latin typeface="DM Sans"/>
                <a:ea typeface="DM Sans"/>
                <a:cs typeface="DM Sans"/>
                <a:sym typeface="DM Sans"/>
              </a:defRPr>
            </a:lvl1pPr>
          </a:lstStyle>
          <a:p>
            <a:pPr/>
            <a:r>
              <a:t>02 / 14</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6090F"/>
        </a:solidFill>
      </p:bgPr>
    </p:bg>
    <p:spTree>
      <p:nvGrpSpPr>
        <p:cNvPr id="1" name=""/>
        <p:cNvGrpSpPr/>
        <p:nvPr/>
      </p:nvGrpSpPr>
      <p:grpSpPr>
        <a:xfrm>
          <a:off x="0" y="0"/>
          <a:ext cx="0" cy="0"/>
          <a:chOff x="0" y="0"/>
          <a:chExt cx="0" cy="0"/>
        </a:xfrm>
      </p:grpSpPr>
      <p:sp>
        <p:nvSpPr>
          <p:cNvPr id="60" name="Text 0"/>
          <p:cNvSpPr txBox="1"/>
          <p:nvPr/>
        </p:nvSpPr>
        <p:spPr>
          <a:xfrm>
            <a:off x="548640" y="514604"/>
            <a:ext cx="10058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200">
                <a:solidFill>
                  <a:srgbClr val="06B6D4"/>
                </a:solidFill>
                <a:latin typeface="DM Sans"/>
                <a:ea typeface="DM Sans"/>
                <a:cs typeface="DM Sans"/>
                <a:sym typeface="DM Sans"/>
              </a:defRPr>
            </a:lvl1pPr>
          </a:lstStyle>
          <a:p>
            <a:pPr/>
            <a:r>
              <a:t>TEAM — WHO?</a:t>
            </a:r>
          </a:p>
        </p:txBody>
      </p:sp>
      <p:sp>
        <p:nvSpPr>
          <p:cNvPr id="61" name="Text 1"/>
          <p:cNvSpPr txBox="1"/>
          <p:nvPr/>
        </p:nvSpPr>
        <p:spPr>
          <a:xfrm>
            <a:off x="548639" y="909828"/>
            <a:ext cx="11155682"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FFFFF"/>
                </a:solidFill>
                <a:latin typeface="DM Sans"/>
                <a:ea typeface="DM Sans"/>
                <a:cs typeface="DM Sans"/>
                <a:sym typeface="DM Sans"/>
              </a:defRPr>
            </a:lvl1pPr>
          </a:lstStyle>
          <a:p>
            <a:pPr/>
            <a:r>
              <a:t>Five builders — and one unfair advantage.</a:t>
            </a:r>
          </a:p>
        </p:txBody>
      </p:sp>
      <p:sp>
        <p:nvSpPr>
          <p:cNvPr id="62" name="Shape 2"/>
          <p:cNvSpPr/>
          <p:nvPr/>
        </p:nvSpPr>
        <p:spPr>
          <a:xfrm>
            <a:off x="548640" y="1783079"/>
            <a:ext cx="2057401" cy="2697481"/>
          </a:xfrm>
          <a:prstGeom prst="roundRect">
            <a:avLst>
              <a:gd name="adj" fmla="val 4444"/>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63" name="Shape 3"/>
          <p:cNvSpPr/>
          <p:nvPr/>
        </p:nvSpPr>
        <p:spPr>
          <a:xfrm>
            <a:off x="1120139" y="2075688"/>
            <a:ext cx="914401" cy="914401"/>
          </a:xfrm>
          <a:prstGeom prst="ellipse">
            <a:avLst/>
          </a:prstGeom>
          <a:solidFill>
            <a:srgbClr val="0E2A38"/>
          </a:solidFill>
          <a:ln w="15875">
            <a:solidFill>
              <a:srgbClr val="0E7490"/>
            </a:solidFill>
          </a:ln>
        </p:spPr>
        <p:txBody>
          <a:bodyPr lIns="45719" rIns="45719"/>
          <a:lstStyle/>
          <a:p>
            <a:pPr/>
          </a:p>
        </p:txBody>
      </p:sp>
      <p:sp>
        <p:nvSpPr>
          <p:cNvPr id="64" name="Text 4"/>
          <p:cNvSpPr txBox="1"/>
          <p:nvPr/>
        </p:nvSpPr>
        <p:spPr>
          <a:xfrm>
            <a:off x="1120139" y="2367788"/>
            <a:ext cx="91440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06B6D4"/>
                </a:solidFill>
                <a:latin typeface="DM Sans"/>
                <a:ea typeface="DM Sans"/>
                <a:cs typeface="DM Sans"/>
                <a:sym typeface="DM Sans"/>
              </a:defRPr>
            </a:lvl1pPr>
          </a:lstStyle>
          <a:p>
            <a:pPr/>
            <a:r>
              <a:t>MA</a:t>
            </a:r>
          </a:p>
        </p:txBody>
      </p:sp>
      <p:sp>
        <p:nvSpPr>
          <p:cNvPr id="65" name="Text 5"/>
          <p:cNvSpPr txBox="1"/>
          <p:nvPr/>
        </p:nvSpPr>
        <p:spPr>
          <a:xfrm>
            <a:off x="658368" y="3169919"/>
            <a:ext cx="1837945" cy="31699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92000"/>
              </a:lnSpc>
              <a:defRPr b="1" sz="1100">
                <a:solidFill>
                  <a:srgbClr val="FFFFFF"/>
                </a:solidFill>
                <a:latin typeface="DM Sans"/>
                <a:ea typeface="DM Sans"/>
                <a:cs typeface="DM Sans"/>
                <a:sym typeface="DM Sans"/>
              </a:defRPr>
            </a:lvl1pPr>
          </a:lstStyle>
          <a:p>
            <a:pPr/>
            <a:r>
              <a:t>Michalis Arvanitis Katzourakis</a:t>
            </a:r>
          </a:p>
        </p:txBody>
      </p:sp>
      <p:sp>
        <p:nvSpPr>
          <p:cNvPr id="66" name="Text 6"/>
          <p:cNvSpPr txBox="1"/>
          <p:nvPr/>
        </p:nvSpPr>
        <p:spPr>
          <a:xfrm>
            <a:off x="640079" y="3734053"/>
            <a:ext cx="187452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95000"/>
              </a:lnSpc>
              <a:defRPr b="1" sz="900">
                <a:solidFill>
                  <a:srgbClr val="06B6D4"/>
                </a:solidFill>
                <a:latin typeface="DM Sans"/>
                <a:ea typeface="DM Sans"/>
                <a:cs typeface="DM Sans"/>
                <a:sym typeface="DM Sans"/>
              </a:defRPr>
            </a:lvl1pPr>
          </a:lstStyle>
          <a:p>
            <a:pPr/>
            <a:r>
              <a:t>ML Engineer &amp; Tech Lead</a:t>
            </a:r>
          </a:p>
        </p:txBody>
      </p:sp>
      <p:sp>
        <p:nvSpPr>
          <p:cNvPr id="67" name="Text 7"/>
          <p:cNvSpPr txBox="1"/>
          <p:nvPr/>
        </p:nvSpPr>
        <p:spPr>
          <a:xfrm>
            <a:off x="694943" y="4045711"/>
            <a:ext cx="1764794" cy="3759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98000"/>
              </a:lnSpc>
              <a:defRPr sz="800">
                <a:solidFill>
                  <a:srgbClr val="9AA6B4"/>
                </a:solidFill>
                <a:latin typeface="DM Sans"/>
                <a:ea typeface="DM Sans"/>
                <a:cs typeface="DM Sans"/>
                <a:sym typeface="DM Sans"/>
              </a:defRPr>
            </a:lvl1pPr>
          </a:lstStyle>
          <a:p>
            <a:pPr/>
            <a:r>
              <a:t>Built the full ML pipeline, AWS cloud infrastructure, and maritime weather integration from scratch.</a:t>
            </a:r>
          </a:p>
        </p:txBody>
      </p:sp>
      <p:sp>
        <p:nvSpPr>
          <p:cNvPr id="68" name="Shape 8"/>
          <p:cNvSpPr/>
          <p:nvPr/>
        </p:nvSpPr>
        <p:spPr>
          <a:xfrm>
            <a:off x="2788920" y="1783079"/>
            <a:ext cx="2057401" cy="2697481"/>
          </a:xfrm>
          <a:prstGeom prst="roundRect">
            <a:avLst>
              <a:gd name="adj" fmla="val 4444"/>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69" name="Shape 9"/>
          <p:cNvSpPr/>
          <p:nvPr/>
        </p:nvSpPr>
        <p:spPr>
          <a:xfrm>
            <a:off x="3360420" y="2075688"/>
            <a:ext cx="914401" cy="914401"/>
          </a:xfrm>
          <a:prstGeom prst="ellipse">
            <a:avLst/>
          </a:prstGeom>
          <a:solidFill>
            <a:srgbClr val="0E2A38"/>
          </a:solidFill>
          <a:ln w="15875">
            <a:solidFill>
              <a:srgbClr val="0E7490"/>
            </a:solidFill>
          </a:ln>
        </p:spPr>
        <p:txBody>
          <a:bodyPr lIns="45719" rIns="45719"/>
          <a:lstStyle/>
          <a:p>
            <a:pPr/>
          </a:p>
        </p:txBody>
      </p:sp>
      <p:sp>
        <p:nvSpPr>
          <p:cNvPr id="70" name="Text 10"/>
          <p:cNvSpPr txBox="1"/>
          <p:nvPr/>
        </p:nvSpPr>
        <p:spPr>
          <a:xfrm>
            <a:off x="3360420" y="2367788"/>
            <a:ext cx="91440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06B6D4"/>
                </a:solidFill>
                <a:latin typeface="DM Sans"/>
                <a:ea typeface="DM Sans"/>
                <a:cs typeface="DM Sans"/>
                <a:sym typeface="DM Sans"/>
              </a:defRPr>
            </a:lvl1pPr>
          </a:lstStyle>
          <a:p>
            <a:pPr/>
            <a:r>
              <a:t>MM</a:t>
            </a:r>
          </a:p>
        </p:txBody>
      </p:sp>
      <p:sp>
        <p:nvSpPr>
          <p:cNvPr id="71" name="Text 11"/>
          <p:cNvSpPr txBox="1"/>
          <p:nvPr/>
        </p:nvSpPr>
        <p:spPr>
          <a:xfrm>
            <a:off x="2898648" y="3245865"/>
            <a:ext cx="1837945"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92000"/>
              </a:lnSpc>
              <a:defRPr b="1" sz="1100">
                <a:solidFill>
                  <a:srgbClr val="FFFFFF"/>
                </a:solidFill>
                <a:latin typeface="DM Sans"/>
                <a:ea typeface="DM Sans"/>
                <a:cs typeface="DM Sans"/>
                <a:sym typeface="DM Sans"/>
              </a:defRPr>
            </a:lvl1pPr>
          </a:lstStyle>
          <a:p>
            <a:pPr/>
            <a:r>
              <a:t>Meliane Meledje</a:t>
            </a:r>
          </a:p>
        </p:txBody>
      </p:sp>
      <p:sp>
        <p:nvSpPr>
          <p:cNvPr id="72" name="Text 12"/>
          <p:cNvSpPr txBox="1"/>
          <p:nvPr/>
        </p:nvSpPr>
        <p:spPr>
          <a:xfrm>
            <a:off x="2880360" y="3734053"/>
            <a:ext cx="187452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95000"/>
              </a:lnSpc>
              <a:defRPr b="1" sz="900">
                <a:solidFill>
                  <a:srgbClr val="06B6D4"/>
                </a:solidFill>
                <a:latin typeface="DM Sans"/>
                <a:ea typeface="DM Sans"/>
                <a:cs typeface="DM Sans"/>
                <a:sym typeface="DM Sans"/>
              </a:defRPr>
            </a:lvl1pPr>
          </a:lstStyle>
          <a:p>
            <a:pPr/>
            <a:r>
              <a:t>Product &amp; GTM Strategy</a:t>
            </a:r>
          </a:p>
        </p:txBody>
      </p:sp>
      <p:sp>
        <p:nvSpPr>
          <p:cNvPr id="73" name="Text 13"/>
          <p:cNvSpPr txBox="1"/>
          <p:nvPr/>
        </p:nvSpPr>
        <p:spPr>
          <a:xfrm>
            <a:off x="2935223" y="4107941"/>
            <a:ext cx="1764794" cy="2514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98000"/>
              </a:lnSpc>
              <a:defRPr sz="800">
                <a:solidFill>
                  <a:srgbClr val="9AA6B4"/>
                </a:solidFill>
                <a:latin typeface="DM Sans"/>
                <a:ea typeface="DM Sans"/>
                <a:cs typeface="DM Sans"/>
                <a:sym typeface="DM Sans"/>
              </a:defRPr>
            </a:lvl1pPr>
          </a:lstStyle>
          <a:p>
            <a:pPr/>
            <a:r>
              <a:t>Led the go-to-market design and AARRR funnel strategy.</a:t>
            </a:r>
          </a:p>
        </p:txBody>
      </p:sp>
      <p:sp>
        <p:nvSpPr>
          <p:cNvPr id="74" name="Shape 14"/>
          <p:cNvSpPr/>
          <p:nvPr/>
        </p:nvSpPr>
        <p:spPr>
          <a:xfrm>
            <a:off x="5029200" y="1783079"/>
            <a:ext cx="2057400" cy="2697481"/>
          </a:xfrm>
          <a:prstGeom prst="roundRect">
            <a:avLst>
              <a:gd name="adj" fmla="val 4444"/>
            </a:avLst>
          </a:prstGeom>
          <a:solidFill>
            <a:srgbClr val="111A2B"/>
          </a:solidFill>
          <a:ln w="22225">
            <a:solidFill>
              <a:srgbClr val="06B6D4"/>
            </a:solidFill>
          </a:ln>
          <a:effectLst>
            <a:outerShdw sx="100000" sy="100000" kx="0" ky="0" algn="b" rotWithShape="0" blurRad="152400" dist="50800" dir="5400000">
              <a:srgbClr val="000000">
                <a:alpha val="35000"/>
              </a:srgbClr>
            </a:outerShdw>
          </a:effectLst>
        </p:spPr>
        <p:txBody>
          <a:bodyPr lIns="45719" rIns="45719"/>
          <a:lstStyle/>
          <a:p>
            <a:pPr/>
          </a:p>
        </p:txBody>
      </p:sp>
      <p:sp>
        <p:nvSpPr>
          <p:cNvPr id="75" name="Shape 15"/>
          <p:cNvSpPr/>
          <p:nvPr/>
        </p:nvSpPr>
        <p:spPr>
          <a:xfrm>
            <a:off x="5600700" y="2075688"/>
            <a:ext cx="914400" cy="914401"/>
          </a:xfrm>
          <a:prstGeom prst="ellipse">
            <a:avLst/>
          </a:prstGeom>
          <a:solidFill>
            <a:srgbClr val="06B6D4"/>
          </a:solidFill>
          <a:ln w="15875">
            <a:solidFill>
              <a:srgbClr val="06B6D4"/>
            </a:solidFill>
          </a:ln>
        </p:spPr>
        <p:txBody>
          <a:bodyPr lIns="45719" rIns="45719"/>
          <a:lstStyle/>
          <a:p>
            <a:pPr/>
          </a:p>
        </p:txBody>
      </p:sp>
      <p:sp>
        <p:nvSpPr>
          <p:cNvPr id="76" name="Text 16"/>
          <p:cNvSpPr txBox="1"/>
          <p:nvPr/>
        </p:nvSpPr>
        <p:spPr>
          <a:xfrm>
            <a:off x="5600700" y="2367788"/>
            <a:ext cx="914400"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06090F"/>
                </a:solidFill>
                <a:latin typeface="DM Sans"/>
                <a:ea typeface="DM Sans"/>
                <a:cs typeface="DM Sans"/>
                <a:sym typeface="DM Sans"/>
              </a:defRPr>
            </a:lvl1pPr>
          </a:lstStyle>
          <a:p>
            <a:pPr/>
            <a:r>
              <a:t>DV</a:t>
            </a:r>
          </a:p>
        </p:txBody>
      </p:sp>
      <p:sp>
        <p:nvSpPr>
          <p:cNvPr id="77" name="Text 17"/>
          <p:cNvSpPr txBox="1"/>
          <p:nvPr/>
        </p:nvSpPr>
        <p:spPr>
          <a:xfrm>
            <a:off x="5138928" y="3245865"/>
            <a:ext cx="1837945"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92000"/>
              </a:lnSpc>
              <a:defRPr b="1" sz="1100">
                <a:solidFill>
                  <a:srgbClr val="FFFFFF"/>
                </a:solidFill>
                <a:latin typeface="DM Sans"/>
                <a:ea typeface="DM Sans"/>
                <a:cs typeface="DM Sans"/>
                <a:sym typeface="DM Sans"/>
              </a:defRPr>
            </a:lvl1pPr>
          </a:lstStyle>
          <a:p>
            <a:pPr/>
            <a:r>
              <a:t>David Vergara Fuentes</a:t>
            </a:r>
          </a:p>
        </p:txBody>
      </p:sp>
      <p:sp>
        <p:nvSpPr>
          <p:cNvPr id="78" name="Text 18"/>
          <p:cNvSpPr txBox="1"/>
          <p:nvPr/>
        </p:nvSpPr>
        <p:spPr>
          <a:xfrm>
            <a:off x="5120640" y="3734053"/>
            <a:ext cx="187452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95000"/>
              </a:lnSpc>
              <a:defRPr b="1" sz="900">
                <a:solidFill>
                  <a:srgbClr val="06B6D4"/>
                </a:solidFill>
                <a:latin typeface="DM Sans"/>
                <a:ea typeface="DM Sans"/>
                <a:cs typeface="DM Sans"/>
                <a:sym typeface="DM Sans"/>
              </a:defRPr>
            </a:lvl1pPr>
          </a:lstStyle>
          <a:p>
            <a:pPr/>
            <a:r>
              <a:t>Data Engineer &amp; Market Lead</a:t>
            </a:r>
          </a:p>
        </p:txBody>
      </p:sp>
      <p:sp>
        <p:nvSpPr>
          <p:cNvPr id="79" name="Text 19"/>
          <p:cNvSpPr txBox="1"/>
          <p:nvPr/>
        </p:nvSpPr>
        <p:spPr>
          <a:xfrm>
            <a:off x="5175503" y="4107941"/>
            <a:ext cx="1764793" cy="2514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98000"/>
              </a:lnSpc>
              <a:defRPr sz="800">
                <a:solidFill>
                  <a:srgbClr val="9AA6B4"/>
                </a:solidFill>
                <a:latin typeface="DM Sans"/>
                <a:ea typeface="DM Sans"/>
                <a:cs typeface="DM Sans"/>
                <a:sym typeface="DM Sans"/>
              </a:defRPr>
            </a:lvl1pPr>
          </a:lstStyle>
          <a:p>
            <a:pPr/>
            <a:r>
              <a:t>Former Chilean customs professional — the origin of our 20-year data edge.</a:t>
            </a:r>
          </a:p>
        </p:txBody>
      </p:sp>
      <p:sp>
        <p:nvSpPr>
          <p:cNvPr id="80" name="Shape 20"/>
          <p:cNvSpPr/>
          <p:nvPr/>
        </p:nvSpPr>
        <p:spPr>
          <a:xfrm>
            <a:off x="7269480" y="1783079"/>
            <a:ext cx="2057401" cy="2697481"/>
          </a:xfrm>
          <a:prstGeom prst="roundRect">
            <a:avLst>
              <a:gd name="adj" fmla="val 4444"/>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81" name="Shape 21"/>
          <p:cNvSpPr/>
          <p:nvPr/>
        </p:nvSpPr>
        <p:spPr>
          <a:xfrm>
            <a:off x="7840980" y="2075688"/>
            <a:ext cx="914401" cy="914401"/>
          </a:xfrm>
          <a:prstGeom prst="ellipse">
            <a:avLst/>
          </a:prstGeom>
          <a:solidFill>
            <a:srgbClr val="0E2A38"/>
          </a:solidFill>
          <a:ln w="15875">
            <a:solidFill>
              <a:srgbClr val="0E7490"/>
            </a:solidFill>
          </a:ln>
        </p:spPr>
        <p:txBody>
          <a:bodyPr lIns="45719" rIns="45719"/>
          <a:lstStyle/>
          <a:p>
            <a:pPr/>
          </a:p>
        </p:txBody>
      </p:sp>
      <p:sp>
        <p:nvSpPr>
          <p:cNvPr id="82" name="Text 22"/>
          <p:cNvSpPr txBox="1"/>
          <p:nvPr/>
        </p:nvSpPr>
        <p:spPr>
          <a:xfrm>
            <a:off x="7840980" y="2367788"/>
            <a:ext cx="91440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06B6D4"/>
                </a:solidFill>
                <a:latin typeface="DM Sans"/>
                <a:ea typeface="DM Sans"/>
                <a:cs typeface="DM Sans"/>
                <a:sym typeface="DM Sans"/>
              </a:defRPr>
            </a:lvl1pPr>
          </a:lstStyle>
          <a:p>
            <a:pPr/>
            <a:r>
              <a:t>AK</a:t>
            </a:r>
          </a:p>
        </p:txBody>
      </p:sp>
      <p:sp>
        <p:nvSpPr>
          <p:cNvPr id="83" name="Text 23"/>
          <p:cNvSpPr txBox="1"/>
          <p:nvPr/>
        </p:nvSpPr>
        <p:spPr>
          <a:xfrm>
            <a:off x="7379207" y="3245865"/>
            <a:ext cx="1837945"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92000"/>
              </a:lnSpc>
              <a:defRPr b="1" sz="1100">
                <a:solidFill>
                  <a:srgbClr val="FFFFFF"/>
                </a:solidFill>
                <a:latin typeface="DM Sans"/>
                <a:ea typeface="DM Sans"/>
                <a:cs typeface="DM Sans"/>
                <a:sym typeface="DM Sans"/>
              </a:defRPr>
            </a:lvl1pPr>
          </a:lstStyle>
          <a:p>
            <a:pPr/>
            <a:r>
              <a:t>Artemiy Klimkin</a:t>
            </a:r>
          </a:p>
        </p:txBody>
      </p:sp>
      <p:sp>
        <p:nvSpPr>
          <p:cNvPr id="84" name="Text 24"/>
          <p:cNvSpPr txBox="1"/>
          <p:nvPr/>
        </p:nvSpPr>
        <p:spPr>
          <a:xfrm>
            <a:off x="7360919" y="3734053"/>
            <a:ext cx="187452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95000"/>
              </a:lnSpc>
              <a:defRPr b="1" sz="900">
                <a:solidFill>
                  <a:srgbClr val="06B6D4"/>
                </a:solidFill>
                <a:latin typeface="DM Sans"/>
                <a:ea typeface="DM Sans"/>
                <a:cs typeface="DM Sans"/>
                <a:sym typeface="DM Sans"/>
              </a:defRPr>
            </a:lvl1pPr>
          </a:lstStyle>
          <a:p>
            <a:pPr/>
            <a:r>
              <a:t>Data Scientist</a:t>
            </a:r>
          </a:p>
        </p:txBody>
      </p:sp>
      <p:sp>
        <p:nvSpPr>
          <p:cNvPr id="85" name="Text 25"/>
          <p:cNvSpPr txBox="1"/>
          <p:nvPr/>
        </p:nvSpPr>
        <p:spPr>
          <a:xfrm>
            <a:off x="7415783" y="4170171"/>
            <a:ext cx="176479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98000"/>
              </a:lnSpc>
              <a:defRPr sz="800">
                <a:solidFill>
                  <a:srgbClr val="9AA6B4"/>
                </a:solidFill>
                <a:latin typeface="DM Sans"/>
                <a:ea typeface="DM Sans"/>
                <a:cs typeface="DM Sans"/>
                <a:sym typeface="DM Sans"/>
              </a:defRPr>
            </a:lvl1pPr>
          </a:lstStyle>
          <a:p>
            <a:pPr/>
            <a:r>
              <a:t>ML modeling and forecasting pipelines.</a:t>
            </a:r>
          </a:p>
        </p:txBody>
      </p:sp>
      <p:sp>
        <p:nvSpPr>
          <p:cNvPr id="86" name="Shape 26"/>
          <p:cNvSpPr/>
          <p:nvPr/>
        </p:nvSpPr>
        <p:spPr>
          <a:xfrm>
            <a:off x="9509759" y="1783079"/>
            <a:ext cx="2057401" cy="2697481"/>
          </a:xfrm>
          <a:prstGeom prst="roundRect">
            <a:avLst>
              <a:gd name="adj" fmla="val 4444"/>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87" name="Shape 27"/>
          <p:cNvSpPr/>
          <p:nvPr/>
        </p:nvSpPr>
        <p:spPr>
          <a:xfrm>
            <a:off x="10081259" y="2075688"/>
            <a:ext cx="914401" cy="914401"/>
          </a:xfrm>
          <a:prstGeom prst="ellipse">
            <a:avLst/>
          </a:prstGeom>
          <a:solidFill>
            <a:srgbClr val="0E2A38"/>
          </a:solidFill>
          <a:ln w="15875">
            <a:solidFill>
              <a:srgbClr val="0E7490"/>
            </a:solidFill>
          </a:ln>
        </p:spPr>
        <p:txBody>
          <a:bodyPr lIns="45719" rIns="45719"/>
          <a:lstStyle/>
          <a:p>
            <a:pPr/>
          </a:p>
        </p:txBody>
      </p:sp>
      <p:sp>
        <p:nvSpPr>
          <p:cNvPr id="88" name="Text 28"/>
          <p:cNvSpPr txBox="1"/>
          <p:nvPr/>
        </p:nvSpPr>
        <p:spPr>
          <a:xfrm>
            <a:off x="10081259" y="2367788"/>
            <a:ext cx="91440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06B6D4"/>
                </a:solidFill>
                <a:latin typeface="DM Sans"/>
                <a:ea typeface="DM Sans"/>
                <a:cs typeface="DM Sans"/>
                <a:sym typeface="DM Sans"/>
              </a:defRPr>
            </a:lvl1pPr>
          </a:lstStyle>
          <a:p>
            <a:pPr/>
            <a:r>
              <a:t>GM</a:t>
            </a:r>
          </a:p>
        </p:txBody>
      </p:sp>
      <p:sp>
        <p:nvSpPr>
          <p:cNvPr id="89" name="Text 29"/>
          <p:cNvSpPr txBox="1"/>
          <p:nvPr/>
        </p:nvSpPr>
        <p:spPr>
          <a:xfrm>
            <a:off x="9619488" y="3245865"/>
            <a:ext cx="1837945"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92000"/>
              </a:lnSpc>
              <a:defRPr b="1" sz="1100">
                <a:solidFill>
                  <a:srgbClr val="FFFFFF"/>
                </a:solidFill>
                <a:latin typeface="DM Sans"/>
                <a:ea typeface="DM Sans"/>
                <a:cs typeface="DM Sans"/>
                <a:sym typeface="DM Sans"/>
              </a:defRPr>
            </a:lvl1pPr>
          </a:lstStyle>
          <a:p>
            <a:pPr/>
            <a:r>
              <a:t>Gerson Montesinos</a:t>
            </a:r>
          </a:p>
        </p:txBody>
      </p:sp>
      <p:sp>
        <p:nvSpPr>
          <p:cNvPr id="90" name="Text 30"/>
          <p:cNvSpPr txBox="1"/>
          <p:nvPr/>
        </p:nvSpPr>
        <p:spPr>
          <a:xfrm>
            <a:off x="9601200" y="3734053"/>
            <a:ext cx="187452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95000"/>
              </a:lnSpc>
              <a:defRPr b="1" sz="900">
                <a:solidFill>
                  <a:srgbClr val="06B6D4"/>
                </a:solidFill>
                <a:latin typeface="DM Sans"/>
                <a:ea typeface="DM Sans"/>
                <a:cs typeface="DM Sans"/>
                <a:sym typeface="DM Sans"/>
              </a:defRPr>
            </a:lvl1pPr>
          </a:lstStyle>
          <a:p>
            <a:pPr/>
            <a:r>
              <a:t>Project Lead &amp; Operations</a:t>
            </a:r>
          </a:p>
        </p:txBody>
      </p:sp>
      <p:sp>
        <p:nvSpPr>
          <p:cNvPr id="91" name="Text 31"/>
          <p:cNvSpPr txBox="1"/>
          <p:nvPr/>
        </p:nvSpPr>
        <p:spPr>
          <a:xfrm>
            <a:off x="9656064" y="4107941"/>
            <a:ext cx="1764793" cy="2514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98000"/>
              </a:lnSpc>
              <a:defRPr sz="800">
                <a:solidFill>
                  <a:srgbClr val="9AA6B4"/>
                </a:solidFill>
                <a:latin typeface="DM Sans"/>
                <a:ea typeface="DM Sans"/>
                <a:cs typeface="DM Sans"/>
                <a:sym typeface="DM Sans"/>
              </a:defRPr>
            </a:lvl1pPr>
          </a:lstStyle>
          <a:p>
            <a:pPr/>
            <a:r>
              <a:t>Team coordination and product delivery.</a:t>
            </a:r>
          </a:p>
        </p:txBody>
      </p:sp>
      <p:sp>
        <p:nvSpPr>
          <p:cNvPr id="92" name="Shape 32"/>
          <p:cNvSpPr/>
          <p:nvPr/>
        </p:nvSpPr>
        <p:spPr>
          <a:xfrm>
            <a:off x="548640" y="4754879"/>
            <a:ext cx="11064241" cy="1417321"/>
          </a:xfrm>
          <a:prstGeom prst="roundRect">
            <a:avLst>
              <a:gd name="adj" fmla="val 6452"/>
            </a:avLst>
          </a:prstGeom>
          <a:solidFill>
            <a:srgbClr val="111A2B"/>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pic>
        <p:nvPicPr>
          <p:cNvPr id="93" name="Image 0" descr="Image 0"/>
          <p:cNvPicPr>
            <a:picLocks noChangeAspect="1"/>
          </p:cNvPicPr>
          <p:nvPr/>
        </p:nvPicPr>
        <p:blipFill>
          <a:blip r:embed="rId3">
            <a:extLst/>
          </a:blip>
          <a:stretch>
            <a:fillRect/>
          </a:stretch>
        </p:blipFill>
        <p:spPr>
          <a:xfrm>
            <a:off x="808372" y="4901184"/>
            <a:ext cx="384049" cy="384049"/>
          </a:xfrm>
          <a:prstGeom prst="rect">
            <a:avLst/>
          </a:prstGeom>
          <a:ln w="12700">
            <a:miter lim="400000"/>
          </a:ln>
        </p:spPr>
      </p:pic>
      <p:sp>
        <p:nvSpPr>
          <p:cNvPr id="94" name="Text 33"/>
          <p:cNvSpPr txBox="1"/>
          <p:nvPr/>
        </p:nvSpPr>
        <p:spPr>
          <a:xfrm>
            <a:off x="1371600" y="4981520"/>
            <a:ext cx="365760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06B6D4"/>
                </a:solidFill>
                <a:latin typeface="DM Sans"/>
                <a:ea typeface="DM Sans"/>
                <a:cs typeface="DM Sans"/>
                <a:sym typeface="DM Sans"/>
              </a:defRPr>
            </a:lvl1pPr>
          </a:lstStyle>
          <a:p>
            <a:pPr/>
            <a:r>
              <a:t>Why this team?</a:t>
            </a:r>
          </a:p>
        </p:txBody>
      </p:sp>
      <p:sp>
        <p:nvSpPr>
          <p:cNvPr id="95" name="Text 34"/>
          <p:cNvSpPr txBox="1"/>
          <p:nvPr/>
        </p:nvSpPr>
        <p:spPr>
          <a:xfrm>
            <a:off x="1371600" y="5386397"/>
            <a:ext cx="9966960" cy="5618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8000"/>
              </a:lnSpc>
              <a:defRPr sz="1200">
                <a:solidFill>
                  <a:srgbClr val="E2E8F0"/>
                </a:solidFill>
                <a:latin typeface="DM Sans"/>
                <a:ea typeface="DM Sans"/>
                <a:cs typeface="DM Sans"/>
                <a:sym typeface="DM Sans"/>
              </a:defRPr>
            </a:lvl1pPr>
          </a:lstStyle>
          <a:p>
            <a:pPr/>
            <a:r>
              <a:t>David’s years inside Chilean customs give us direct access to 20 years of trade records and an insider understanding of port operations that no outside team could replicate. The rest of the team brings ML engineering, data science, product strategy, and project management — a complete stack.</a:t>
            </a:r>
          </a:p>
        </p:txBody>
      </p:sp>
      <p:sp>
        <p:nvSpPr>
          <p:cNvPr id="96" name="Text 35"/>
          <p:cNvSpPr txBox="1"/>
          <p:nvPr/>
        </p:nvSpPr>
        <p:spPr>
          <a:xfrm>
            <a:off x="502919" y="6461759"/>
            <a:ext cx="27432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64748B"/>
                </a:solidFill>
                <a:latin typeface="DM Sans"/>
                <a:ea typeface="DM Sans"/>
                <a:cs typeface="DM Sans"/>
                <a:sym typeface="DM Sans"/>
              </a:defRPr>
            </a:lvl1pPr>
          </a:lstStyle>
          <a:p>
            <a:pPr/>
            <a:r>
              <a:t>Waze Cargo</a:t>
            </a:r>
          </a:p>
        </p:txBody>
      </p:sp>
      <p:sp>
        <p:nvSpPr>
          <p:cNvPr id="97" name="Text 36"/>
          <p:cNvSpPr txBox="1"/>
          <p:nvPr/>
        </p:nvSpPr>
        <p:spPr>
          <a:xfrm>
            <a:off x="10728655" y="6461759"/>
            <a:ext cx="96012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latin typeface="DM Sans"/>
                <a:ea typeface="DM Sans"/>
                <a:cs typeface="DM Sans"/>
                <a:sym typeface="DM Sans"/>
              </a:defRPr>
            </a:lvl1pPr>
          </a:lstStyle>
          <a:p>
            <a:pPr/>
            <a:r>
              <a:t>03 / 14</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6090F"/>
        </a:solidFill>
      </p:bgPr>
    </p:bg>
    <p:spTree>
      <p:nvGrpSpPr>
        <p:cNvPr id="1" name=""/>
        <p:cNvGrpSpPr/>
        <p:nvPr/>
      </p:nvGrpSpPr>
      <p:grpSpPr>
        <a:xfrm>
          <a:off x="0" y="0"/>
          <a:ext cx="0" cy="0"/>
          <a:chOff x="0" y="0"/>
          <a:chExt cx="0" cy="0"/>
        </a:xfrm>
      </p:grpSpPr>
      <p:sp>
        <p:nvSpPr>
          <p:cNvPr id="101" name="Text 0"/>
          <p:cNvSpPr txBox="1"/>
          <p:nvPr/>
        </p:nvSpPr>
        <p:spPr>
          <a:xfrm>
            <a:off x="548640" y="514604"/>
            <a:ext cx="10058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200">
                <a:solidFill>
                  <a:srgbClr val="06B6D4"/>
                </a:solidFill>
                <a:latin typeface="DM Sans"/>
                <a:ea typeface="DM Sans"/>
                <a:cs typeface="DM Sans"/>
                <a:sym typeface="DM Sans"/>
              </a:defRPr>
            </a:lvl1pPr>
          </a:lstStyle>
          <a:p>
            <a:pPr/>
            <a:r>
              <a:t>WHAT PROBLEM ARE YOU SOLVING — WHY?</a:t>
            </a:r>
          </a:p>
        </p:txBody>
      </p:sp>
      <p:sp>
        <p:nvSpPr>
          <p:cNvPr id="102" name="Text 1"/>
          <p:cNvSpPr txBox="1"/>
          <p:nvPr/>
        </p:nvSpPr>
        <p:spPr>
          <a:xfrm>
            <a:off x="548639" y="909828"/>
            <a:ext cx="11155682"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FFFFF"/>
                </a:solidFill>
                <a:latin typeface="DM Sans"/>
                <a:ea typeface="DM Sans"/>
                <a:cs typeface="DM Sans"/>
                <a:sym typeface="DM Sans"/>
              </a:defRPr>
            </a:lvl1pPr>
          </a:lstStyle>
          <a:p>
            <a:pPr/>
            <a:r>
              <a:t>$223.2B in trade moves blind to what’s coming.</a:t>
            </a:r>
          </a:p>
        </p:txBody>
      </p:sp>
      <p:sp>
        <p:nvSpPr>
          <p:cNvPr id="103" name="Text 2"/>
          <p:cNvSpPr txBox="1"/>
          <p:nvPr/>
        </p:nvSpPr>
        <p:spPr>
          <a:xfrm>
            <a:off x="548639" y="1631187"/>
            <a:ext cx="11064242"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AEB9C7"/>
                </a:solidFill>
                <a:latin typeface="DM Sans"/>
                <a:ea typeface="DM Sans"/>
                <a:cs typeface="DM Sans"/>
                <a:sym typeface="DM Sans"/>
              </a:defRPr>
            </a:lvl1pPr>
          </a:lstStyle>
          <a:p>
            <a:pPr/>
            <a:r>
              <a:t>Every Chilean importer and exporter makes routing decisions with no idea what the port will look like when their cargo arrives.</a:t>
            </a:r>
          </a:p>
        </p:txBody>
      </p:sp>
      <p:sp>
        <p:nvSpPr>
          <p:cNvPr id="104" name="Shape 3"/>
          <p:cNvSpPr/>
          <p:nvPr/>
        </p:nvSpPr>
        <p:spPr>
          <a:xfrm>
            <a:off x="548640" y="2057400"/>
            <a:ext cx="5394960" cy="1737361"/>
          </a:xfrm>
          <a:prstGeom prst="roundRect">
            <a:avLst>
              <a:gd name="adj" fmla="val 5263"/>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pic>
        <p:nvPicPr>
          <p:cNvPr id="105" name="Image 0" descr="Image 0"/>
          <p:cNvPicPr>
            <a:picLocks noChangeAspect="1"/>
          </p:cNvPicPr>
          <p:nvPr/>
        </p:nvPicPr>
        <p:blipFill>
          <a:blip r:embed="rId3">
            <a:extLst/>
          </a:blip>
          <a:stretch>
            <a:fillRect/>
          </a:stretch>
        </p:blipFill>
        <p:spPr>
          <a:xfrm>
            <a:off x="841247" y="2350007"/>
            <a:ext cx="438913" cy="438913"/>
          </a:xfrm>
          <a:prstGeom prst="rect">
            <a:avLst/>
          </a:prstGeom>
          <a:ln w="12700">
            <a:miter lim="400000"/>
          </a:ln>
        </p:spPr>
      </p:pic>
      <p:sp>
        <p:nvSpPr>
          <p:cNvPr id="106" name="Text 4"/>
          <p:cNvSpPr txBox="1"/>
          <p:nvPr/>
        </p:nvSpPr>
        <p:spPr>
          <a:xfrm>
            <a:off x="1463039" y="2375661"/>
            <a:ext cx="27432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FFFFFF"/>
                </a:solidFill>
                <a:latin typeface="DM Sans"/>
                <a:ea typeface="DM Sans"/>
                <a:cs typeface="DM Sans"/>
                <a:sym typeface="DM Sans"/>
              </a:defRPr>
            </a:lvl1pPr>
          </a:lstStyle>
          <a:p>
            <a:pPr/>
            <a:r>
              <a:t>Importers</a:t>
            </a:r>
          </a:p>
        </p:txBody>
      </p:sp>
      <p:sp>
        <p:nvSpPr>
          <p:cNvPr id="107" name="Text 5"/>
          <p:cNvSpPr txBox="1"/>
          <p:nvPr/>
        </p:nvSpPr>
        <p:spPr>
          <a:xfrm>
            <a:off x="4114800" y="2393949"/>
            <a:ext cx="169164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600">
                <a:solidFill>
                  <a:srgbClr val="06B6D4"/>
                </a:solidFill>
                <a:latin typeface="DM Sans"/>
                <a:ea typeface="DM Sans"/>
                <a:cs typeface="DM Sans"/>
                <a:sym typeface="DM Sans"/>
              </a:defRPr>
            </a:lvl1pPr>
          </a:lstStyle>
          <a:p>
            <a:pPr/>
            <a:r>
              <a:t>$84.3B CIF</a:t>
            </a:r>
          </a:p>
        </p:txBody>
      </p:sp>
      <p:sp>
        <p:nvSpPr>
          <p:cNvPr id="108" name="Text 6"/>
          <p:cNvSpPr txBox="1"/>
          <p:nvPr/>
        </p:nvSpPr>
        <p:spPr>
          <a:xfrm>
            <a:off x="859536" y="3052572"/>
            <a:ext cx="4791456" cy="51511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5999"/>
              </a:lnSpc>
              <a:defRPr sz="1100">
                <a:solidFill>
                  <a:srgbClr val="AEB9C7"/>
                </a:solidFill>
                <a:latin typeface="DM Sans"/>
                <a:ea typeface="DM Sans"/>
                <a:cs typeface="DM Sans"/>
                <a:sym typeface="DM Sans"/>
              </a:defRPr>
            </a:lvl1pPr>
          </a:lstStyle>
          <a:p>
            <a:pPr/>
            <a:r>
              <a:t>98.6% are SMEs importing machinery, electronics, vehicles, pharma. A 5-day delay means empty shelves, missed deadlines, penalties. Insurance does NOT cover commercial losses from congestion.</a:t>
            </a:r>
          </a:p>
        </p:txBody>
      </p:sp>
      <p:sp>
        <p:nvSpPr>
          <p:cNvPr id="109" name="Shape 7"/>
          <p:cNvSpPr/>
          <p:nvPr/>
        </p:nvSpPr>
        <p:spPr>
          <a:xfrm>
            <a:off x="6172200" y="2057400"/>
            <a:ext cx="5394960" cy="1737361"/>
          </a:xfrm>
          <a:prstGeom prst="roundRect">
            <a:avLst>
              <a:gd name="adj" fmla="val 5263"/>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pic>
        <p:nvPicPr>
          <p:cNvPr id="110" name="Image 1" descr="Image 1"/>
          <p:cNvPicPr>
            <a:picLocks noChangeAspect="1"/>
          </p:cNvPicPr>
          <p:nvPr/>
        </p:nvPicPr>
        <p:blipFill>
          <a:blip r:embed="rId4">
            <a:extLst/>
          </a:blip>
          <a:stretch>
            <a:fillRect/>
          </a:stretch>
        </p:blipFill>
        <p:spPr>
          <a:xfrm>
            <a:off x="6464808" y="2350007"/>
            <a:ext cx="438913" cy="438913"/>
          </a:xfrm>
          <a:prstGeom prst="rect">
            <a:avLst/>
          </a:prstGeom>
          <a:ln w="12700">
            <a:miter lim="400000"/>
          </a:ln>
        </p:spPr>
      </p:pic>
      <p:sp>
        <p:nvSpPr>
          <p:cNvPr id="111" name="Text 8"/>
          <p:cNvSpPr txBox="1"/>
          <p:nvPr/>
        </p:nvSpPr>
        <p:spPr>
          <a:xfrm>
            <a:off x="7086600" y="2375661"/>
            <a:ext cx="274320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FFFFFF"/>
                </a:solidFill>
                <a:latin typeface="DM Sans"/>
                <a:ea typeface="DM Sans"/>
                <a:cs typeface="DM Sans"/>
                <a:sym typeface="DM Sans"/>
              </a:defRPr>
            </a:lvl1pPr>
          </a:lstStyle>
          <a:p>
            <a:pPr/>
            <a:r>
              <a:t>Exporters</a:t>
            </a:r>
          </a:p>
        </p:txBody>
      </p:sp>
      <p:sp>
        <p:nvSpPr>
          <p:cNvPr id="112" name="Text 9"/>
          <p:cNvSpPr txBox="1"/>
          <p:nvPr/>
        </p:nvSpPr>
        <p:spPr>
          <a:xfrm>
            <a:off x="9738359" y="2393949"/>
            <a:ext cx="169164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600">
                <a:solidFill>
                  <a:srgbClr val="06B6D4"/>
                </a:solidFill>
                <a:latin typeface="DM Sans"/>
                <a:ea typeface="DM Sans"/>
                <a:cs typeface="DM Sans"/>
                <a:sym typeface="DM Sans"/>
              </a:defRPr>
            </a:lvl1pPr>
          </a:lstStyle>
          <a:p>
            <a:pPr/>
            <a:r>
              <a:t>$138.9B FOB</a:t>
            </a:r>
          </a:p>
        </p:txBody>
      </p:sp>
      <p:sp>
        <p:nvSpPr>
          <p:cNvPr id="113" name="Text 10"/>
          <p:cNvSpPr txBox="1"/>
          <p:nvPr/>
        </p:nvSpPr>
        <p:spPr>
          <a:xfrm>
            <a:off x="6483096" y="3052572"/>
            <a:ext cx="4791457" cy="51511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5999"/>
              </a:lnSpc>
              <a:defRPr sz="1100">
                <a:solidFill>
                  <a:srgbClr val="AEB9C7"/>
                </a:solidFill>
                <a:latin typeface="DM Sans"/>
                <a:ea typeface="DM Sans"/>
                <a:cs typeface="DM Sans"/>
                <a:sym typeface="DM Sans"/>
              </a:defRPr>
            </a:lvl1pPr>
          </a:lstStyle>
          <a:p>
            <a:pPr/>
            <a:r>
              <a:t>Chile is #1 in copper; a top exporter of fruit, salmon, wine, lithium. A congested port during grape (March) or cherry (December) season means spoiled perishables and lost contracts worth millions.</a:t>
            </a:r>
          </a:p>
        </p:txBody>
      </p:sp>
      <p:sp>
        <p:nvSpPr>
          <p:cNvPr id="114" name="Shape 11"/>
          <p:cNvSpPr/>
          <p:nvPr/>
        </p:nvSpPr>
        <p:spPr>
          <a:xfrm>
            <a:off x="548640" y="4023359"/>
            <a:ext cx="11064241" cy="749809"/>
          </a:xfrm>
          <a:prstGeom prst="roundRect">
            <a:avLst>
              <a:gd name="adj" fmla="val 9756"/>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115" name="Shape 12"/>
          <p:cNvSpPr/>
          <p:nvPr/>
        </p:nvSpPr>
        <p:spPr>
          <a:xfrm>
            <a:off x="777240" y="4215384"/>
            <a:ext cx="384049" cy="384049"/>
          </a:xfrm>
          <a:prstGeom prst="ellipse">
            <a:avLst/>
          </a:prstGeom>
          <a:solidFill>
            <a:srgbClr val="0E2A38"/>
          </a:solidFill>
          <a:ln w="12700">
            <a:miter lim="400000"/>
          </a:ln>
        </p:spPr>
        <p:txBody>
          <a:bodyPr lIns="45719" rIns="45719"/>
          <a:lstStyle/>
          <a:p>
            <a:pPr/>
          </a:p>
        </p:txBody>
      </p:sp>
      <p:pic>
        <p:nvPicPr>
          <p:cNvPr id="116" name="Image 2" descr="Image 2"/>
          <p:cNvPicPr>
            <a:picLocks noChangeAspect="1"/>
          </p:cNvPicPr>
          <p:nvPr/>
        </p:nvPicPr>
        <p:blipFill>
          <a:blip r:embed="rId5">
            <a:extLst/>
          </a:blip>
          <a:stretch>
            <a:fillRect/>
          </a:stretch>
        </p:blipFill>
        <p:spPr>
          <a:xfrm>
            <a:off x="859536" y="4297679"/>
            <a:ext cx="219457" cy="219457"/>
          </a:xfrm>
          <a:prstGeom prst="rect">
            <a:avLst/>
          </a:prstGeom>
          <a:ln w="12700">
            <a:miter lim="400000"/>
          </a:ln>
        </p:spPr>
      </p:pic>
      <p:sp>
        <p:nvSpPr>
          <p:cNvPr id="117" name="Text 13"/>
          <p:cNvSpPr txBox="1"/>
          <p:nvPr/>
        </p:nvSpPr>
        <p:spPr>
          <a:xfrm>
            <a:off x="1325880" y="4309363"/>
            <a:ext cx="265176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5000"/>
              </a:lnSpc>
              <a:defRPr b="1" sz="1200">
                <a:solidFill>
                  <a:srgbClr val="64748B"/>
                </a:solidFill>
                <a:latin typeface="DM Sans"/>
                <a:ea typeface="DM Sans"/>
                <a:cs typeface="DM Sans"/>
                <a:sym typeface="DM Sans"/>
              </a:defRPr>
            </a:lvl1pPr>
          </a:lstStyle>
          <a:p>
            <a:pPr/>
            <a:r>
              <a:t>Today’s tools tell you</a:t>
            </a:r>
          </a:p>
        </p:txBody>
      </p:sp>
      <p:sp>
        <p:nvSpPr>
          <p:cNvPr id="118" name="Text 14"/>
          <p:cNvSpPr txBox="1"/>
          <p:nvPr/>
        </p:nvSpPr>
        <p:spPr>
          <a:xfrm>
            <a:off x="4069079" y="4233163"/>
            <a:ext cx="731520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E2E8F0"/>
                </a:solidFill>
                <a:latin typeface="DM Sans"/>
                <a:ea typeface="DM Sans"/>
                <a:cs typeface="DM Sans"/>
                <a:sym typeface="DM Sans"/>
              </a:defRPr>
            </a:lvl1pPr>
          </a:lstStyle>
          <a:p>
            <a:pPr/>
            <a:r>
              <a:t>“Your vessel is 450nm from San Antonio, ETA March 15, 14:00.”  (MarineTraffic €100–150/mo · VesselFinder €40–120/mo)</a:t>
            </a:r>
          </a:p>
        </p:txBody>
      </p:sp>
      <p:sp>
        <p:nvSpPr>
          <p:cNvPr id="119" name="Shape 15"/>
          <p:cNvSpPr/>
          <p:nvPr/>
        </p:nvSpPr>
        <p:spPr>
          <a:xfrm>
            <a:off x="548640" y="4864608"/>
            <a:ext cx="11064241" cy="749809"/>
          </a:xfrm>
          <a:prstGeom prst="roundRect">
            <a:avLst>
              <a:gd name="adj" fmla="val 9756"/>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120" name="Shape 16"/>
          <p:cNvSpPr/>
          <p:nvPr/>
        </p:nvSpPr>
        <p:spPr>
          <a:xfrm>
            <a:off x="777240" y="5056632"/>
            <a:ext cx="384049" cy="384049"/>
          </a:xfrm>
          <a:prstGeom prst="ellipse">
            <a:avLst/>
          </a:prstGeom>
          <a:solidFill>
            <a:srgbClr val="0E2A38"/>
          </a:solidFill>
          <a:ln w="12700">
            <a:miter lim="400000"/>
          </a:ln>
        </p:spPr>
        <p:txBody>
          <a:bodyPr lIns="45719" rIns="45719"/>
          <a:lstStyle/>
          <a:p>
            <a:pPr/>
          </a:p>
        </p:txBody>
      </p:sp>
      <p:pic>
        <p:nvPicPr>
          <p:cNvPr id="121" name="Image 3" descr="Image 3"/>
          <p:cNvPicPr>
            <a:picLocks noChangeAspect="1"/>
          </p:cNvPicPr>
          <p:nvPr/>
        </p:nvPicPr>
        <p:blipFill>
          <a:blip r:embed="rId6">
            <a:extLst/>
          </a:blip>
          <a:stretch>
            <a:fillRect/>
          </a:stretch>
        </p:blipFill>
        <p:spPr>
          <a:xfrm>
            <a:off x="859536" y="5138928"/>
            <a:ext cx="219457" cy="219457"/>
          </a:xfrm>
          <a:prstGeom prst="rect">
            <a:avLst/>
          </a:prstGeom>
          <a:ln w="12700">
            <a:miter lim="400000"/>
          </a:ln>
        </p:spPr>
      </p:pic>
      <p:sp>
        <p:nvSpPr>
          <p:cNvPr id="122" name="Text 17"/>
          <p:cNvSpPr txBox="1"/>
          <p:nvPr/>
        </p:nvSpPr>
        <p:spPr>
          <a:xfrm>
            <a:off x="1325880" y="5150611"/>
            <a:ext cx="265176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5000"/>
              </a:lnSpc>
              <a:defRPr b="1" sz="1200">
                <a:solidFill>
                  <a:srgbClr val="F59E0B"/>
                </a:solidFill>
                <a:latin typeface="DM Sans"/>
                <a:ea typeface="DM Sans"/>
                <a:cs typeface="DM Sans"/>
                <a:sym typeface="DM Sans"/>
              </a:defRPr>
            </a:lvl1pPr>
          </a:lstStyle>
          <a:p>
            <a:pPr/>
            <a:r>
              <a:t>What they CANNOT answer</a:t>
            </a:r>
          </a:p>
        </p:txBody>
      </p:sp>
      <p:sp>
        <p:nvSpPr>
          <p:cNvPr id="123" name="Text 18"/>
          <p:cNvSpPr txBox="1"/>
          <p:nvPr/>
        </p:nvSpPr>
        <p:spPr>
          <a:xfrm>
            <a:off x="4069079" y="5074411"/>
            <a:ext cx="731520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E2E8F0"/>
                </a:solidFill>
                <a:latin typeface="DM Sans"/>
                <a:ea typeface="DM Sans"/>
                <a:cs typeface="DM Sans"/>
                <a:sym typeface="DM Sans"/>
              </a:defRPr>
            </a:lvl1pPr>
          </a:lstStyle>
          <a:p>
            <a:pPr/>
            <a:r>
              <a:t>Will the port be congested when my cargo arrives? Will my grapes compete with copper for berth space? Are swells about to close operations? Should I reroute?</a:t>
            </a:r>
          </a:p>
        </p:txBody>
      </p:sp>
      <p:sp>
        <p:nvSpPr>
          <p:cNvPr id="124" name="Shape 19"/>
          <p:cNvSpPr/>
          <p:nvPr/>
        </p:nvSpPr>
        <p:spPr>
          <a:xfrm>
            <a:off x="548640" y="5705855"/>
            <a:ext cx="11064241" cy="749809"/>
          </a:xfrm>
          <a:prstGeom prst="roundRect">
            <a:avLst>
              <a:gd name="adj" fmla="val 9756"/>
            </a:avLst>
          </a:prstGeom>
          <a:solidFill>
            <a:srgbClr val="111A2B"/>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125" name="Shape 20"/>
          <p:cNvSpPr/>
          <p:nvPr/>
        </p:nvSpPr>
        <p:spPr>
          <a:xfrm>
            <a:off x="777240" y="5897879"/>
            <a:ext cx="384049" cy="384049"/>
          </a:xfrm>
          <a:prstGeom prst="ellipse">
            <a:avLst/>
          </a:prstGeom>
          <a:solidFill>
            <a:srgbClr val="0E2A38"/>
          </a:solidFill>
          <a:ln w="12700">
            <a:miter lim="400000"/>
          </a:ln>
        </p:spPr>
        <p:txBody>
          <a:bodyPr lIns="45719" rIns="45719"/>
          <a:lstStyle/>
          <a:p>
            <a:pPr/>
          </a:p>
        </p:txBody>
      </p:sp>
      <p:pic>
        <p:nvPicPr>
          <p:cNvPr id="126" name="Image 4" descr="Image 4"/>
          <p:cNvPicPr>
            <a:picLocks noChangeAspect="1"/>
          </p:cNvPicPr>
          <p:nvPr/>
        </p:nvPicPr>
        <p:blipFill>
          <a:blip r:embed="rId7">
            <a:extLst/>
          </a:blip>
          <a:stretch>
            <a:fillRect/>
          </a:stretch>
        </p:blipFill>
        <p:spPr>
          <a:xfrm>
            <a:off x="859536" y="5980176"/>
            <a:ext cx="219457" cy="219457"/>
          </a:xfrm>
          <a:prstGeom prst="rect">
            <a:avLst/>
          </a:prstGeom>
          <a:ln w="12700">
            <a:miter lim="400000"/>
          </a:ln>
        </p:spPr>
      </p:pic>
      <p:sp>
        <p:nvSpPr>
          <p:cNvPr id="127" name="Text 21"/>
          <p:cNvSpPr txBox="1"/>
          <p:nvPr/>
        </p:nvSpPr>
        <p:spPr>
          <a:xfrm>
            <a:off x="1325880" y="5991859"/>
            <a:ext cx="265176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5000"/>
              </a:lnSpc>
              <a:defRPr b="1" sz="1200">
                <a:solidFill>
                  <a:srgbClr val="06B6D4"/>
                </a:solidFill>
                <a:latin typeface="DM Sans"/>
                <a:ea typeface="DM Sans"/>
                <a:cs typeface="DM Sans"/>
                <a:sym typeface="DM Sans"/>
              </a:defRPr>
            </a:lvl1pPr>
          </a:lstStyle>
          <a:p>
            <a:pPr/>
            <a:r>
              <a:t>Waze Cargo tells you</a:t>
            </a:r>
          </a:p>
        </p:txBody>
      </p:sp>
      <p:sp>
        <p:nvSpPr>
          <p:cNvPr id="128" name="Text 22"/>
          <p:cNvSpPr txBox="1"/>
          <p:nvPr/>
        </p:nvSpPr>
        <p:spPr>
          <a:xfrm>
            <a:off x="4069079" y="5915659"/>
            <a:ext cx="731520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E2E8F0"/>
                </a:solidFill>
                <a:latin typeface="DM Sans"/>
                <a:ea typeface="DM Sans"/>
                <a:cs typeface="DM Sans"/>
                <a:sym typeface="DM Sans"/>
              </a:defRPr>
            </a:lvl1pPr>
          </a:lstStyle>
          <a:p>
            <a:pPr/>
            <a:r>
              <a:t>“San Antonio will run 40% above norm on March 15, swell risk 3.2% hours closed — route via Valparaíso (37%) or Coquimbo (7%, calmest in Chile).”</a:t>
            </a:r>
          </a:p>
        </p:txBody>
      </p:sp>
      <p:sp>
        <p:nvSpPr>
          <p:cNvPr id="129" name="Text 25"/>
          <p:cNvSpPr txBox="1"/>
          <p:nvPr/>
        </p:nvSpPr>
        <p:spPr>
          <a:xfrm>
            <a:off x="10728655" y="6461759"/>
            <a:ext cx="96012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latin typeface="DM Sans"/>
                <a:ea typeface="DM Sans"/>
                <a:cs typeface="DM Sans"/>
                <a:sym typeface="DM Sans"/>
              </a:defRPr>
            </a:lvl1pPr>
          </a:lstStyle>
          <a:p>
            <a:pPr/>
            <a:r>
              <a:t>04 / 14</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6090F"/>
        </a:solidFill>
      </p:bgPr>
    </p:bg>
    <p:spTree>
      <p:nvGrpSpPr>
        <p:cNvPr id="1" name=""/>
        <p:cNvGrpSpPr/>
        <p:nvPr/>
      </p:nvGrpSpPr>
      <p:grpSpPr>
        <a:xfrm>
          <a:off x="0" y="0"/>
          <a:ext cx="0" cy="0"/>
          <a:chOff x="0" y="0"/>
          <a:chExt cx="0" cy="0"/>
        </a:xfrm>
      </p:grpSpPr>
      <p:sp>
        <p:nvSpPr>
          <p:cNvPr id="133" name="Text 0"/>
          <p:cNvSpPr txBox="1"/>
          <p:nvPr/>
        </p:nvSpPr>
        <p:spPr>
          <a:xfrm>
            <a:off x="548640" y="514604"/>
            <a:ext cx="10058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200">
                <a:solidFill>
                  <a:srgbClr val="06B6D4"/>
                </a:solidFill>
                <a:latin typeface="DM Sans"/>
                <a:ea typeface="DM Sans"/>
                <a:cs typeface="DM Sans"/>
                <a:sym typeface="DM Sans"/>
              </a:defRPr>
            </a:lvl1pPr>
          </a:lstStyle>
          <a:p>
            <a:pPr/>
            <a:r>
              <a:t>MARKET AND USERS — WHO?</a:t>
            </a:r>
          </a:p>
        </p:txBody>
      </p:sp>
      <p:sp>
        <p:nvSpPr>
          <p:cNvPr id="134" name="Text 1"/>
          <p:cNvSpPr txBox="1"/>
          <p:nvPr/>
        </p:nvSpPr>
        <p:spPr>
          <a:xfrm>
            <a:off x="548639" y="909828"/>
            <a:ext cx="11155682"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FFFFF"/>
                </a:solidFill>
                <a:latin typeface="DM Sans"/>
                <a:ea typeface="DM Sans"/>
                <a:cs typeface="DM Sans"/>
                <a:sym typeface="DM Sans"/>
              </a:defRPr>
            </a:lvl1pPr>
          </a:lstStyle>
          <a:p>
            <a:pPr/>
            <a:r>
              <a:t>Three segments, one funnel.</a:t>
            </a:r>
          </a:p>
        </p:txBody>
      </p:sp>
      <p:sp>
        <p:nvSpPr>
          <p:cNvPr id="135" name="Shape 2"/>
          <p:cNvSpPr/>
          <p:nvPr/>
        </p:nvSpPr>
        <p:spPr>
          <a:xfrm>
            <a:off x="548640" y="1691639"/>
            <a:ext cx="7315201" cy="960121"/>
          </a:xfrm>
          <a:prstGeom prst="roundRect">
            <a:avLst>
              <a:gd name="adj" fmla="val 9524"/>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136" name="Shape 3"/>
          <p:cNvSpPr/>
          <p:nvPr/>
        </p:nvSpPr>
        <p:spPr>
          <a:xfrm>
            <a:off x="804672" y="1947672"/>
            <a:ext cx="457201" cy="457201"/>
          </a:xfrm>
          <a:prstGeom prst="ellipse">
            <a:avLst/>
          </a:prstGeom>
          <a:solidFill>
            <a:srgbClr val="0E2A38"/>
          </a:solidFill>
          <a:ln w="12700">
            <a:miter lim="400000"/>
          </a:ln>
        </p:spPr>
        <p:txBody>
          <a:bodyPr lIns="45719" rIns="45719"/>
          <a:lstStyle/>
          <a:p>
            <a:pPr/>
          </a:p>
        </p:txBody>
      </p:sp>
      <p:pic>
        <p:nvPicPr>
          <p:cNvPr id="137" name="Image 0" descr="Image 0"/>
          <p:cNvPicPr>
            <a:picLocks noChangeAspect="1"/>
          </p:cNvPicPr>
          <p:nvPr/>
        </p:nvPicPr>
        <p:blipFill>
          <a:blip r:embed="rId3">
            <a:extLst/>
          </a:blip>
          <a:stretch>
            <a:fillRect/>
          </a:stretch>
        </p:blipFill>
        <p:spPr>
          <a:xfrm>
            <a:off x="914400" y="2057400"/>
            <a:ext cx="237744" cy="237744"/>
          </a:xfrm>
          <a:prstGeom prst="rect">
            <a:avLst/>
          </a:prstGeom>
          <a:ln w="12700">
            <a:miter lim="400000"/>
          </a:ln>
        </p:spPr>
      </p:pic>
      <p:sp>
        <p:nvSpPr>
          <p:cNvPr id="138" name="Text 4"/>
          <p:cNvSpPr txBox="1"/>
          <p:nvPr/>
        </p:nvSpPr>
        <p:spPr>
          <a:xfrm>
            <a:off x="1463039" y="1882648"/>
            <a:ext cx="4206242"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FFFFF"/>
                </a:solidFill>
                <a:latin typeface="DM Sans"/>
                <a:ea typeface="DM Sans"/>
                <a:cs typeface="DM Sans"/>
                <a:sym typeface="DM Sans"/>
              </a:defRPr>
            </a:lvl1pPr>
          </a:lstStyle>
          <a:p>
            <a:pPr/>
            <a:r>
              <a:t>Core — Small importers/exporters</a:t>
            </a:r>
          </a:p>
        </p:txBody>
      </p:sp>
      <p:sp>
        <p:nvSpPr>
          <p:cNvPr id="139" name="Text 5"/>
          <p:cNvSpPr txBox="1"/>
          <p:nvPr/>
        </p:nvSpPr>
        <p:spPr>
          <a:xfrm>
            <a:off x="1463039" y="2225039"/>
            <a:ext cx="5349242"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AEB9C7"/>
                </a:solidFill>
                <a:latin typeface="DM Sans"/>
                <a:ea typeface="DM Sans"/>
                <a:cs typeface="DM Sans"/>
                <a:sym typeface="DM Sans"/>
              </a:defRPr>
            </a:lvl1pPr>
          </a:lstStyle>
          <a:p>
            <a:pPr/>
            <a:r>
              <a:t>Highest volume of firms · limited logistics teams · most vulnerable to delays · underserved. They rely on phone calls to brokers and gut feeling. The free tier captures this market.</a:t>
            </a:r>
          </a:p>
        </p:txBody>
      </p:sp>
      <p:sp>
        <p:nvSpPr>
          <p:cNvPr id="140" name="Shape 6"/>
          <p:cNvSpPr/>
          <p:nvPr/>
        </p:nvSpPr>
        <p:spPr>
          <a:xfrm>
            <a:off x="6400800" y="1837944"/>
            <a:ext cx="921715" cy="310897"/>
          </a:xfrm>
          <a:prstGeom prst="roundRect">
            <a:avLst>
              <a:gd name="adj" fmla="val 50000"/>
            </a:avLst>
          </a:prstGeom>
          <a:solidFill>
            <a:srgbClr val="0E2A38"/>
          </a:solidFill>
          <a:ln w="12700">
            <a:solidFill>
              <a:srgbClr val="10B981"/>
            </a:solidFill>
          </a:ln>
        </p:spPr>
        <p:txBody>
          <a:bodyPr lIns="45719" rIns="45719"/>
          <a:lstStyle/>
          <a:p>
            <a:pPr/>
          </a:p>
        </p:txBody>
      </p:sp>
      <p:sp>
        <p:nvSpPr>
          <p:cNvPr id="141" name="Text 7"/>
          <p:cNvSpPr txBox="1"/>
          <p:nvPr/>
        </p:nvSpPr>
        <p:spPr>
          <a:xfrm>
            <a:off x="6400800" y="1910842"/>
            <a:ext cx="921714"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10B981"/>
                </a:solidFill>
                <a:latin typeface="DM Sans"/>
                <a:ea typeface="DM Sans"/>
                <a:cs typeface="DM Sans"/>
                <a:sym typeface="DM Sans"/>
              </a:defRPr>
            </a:lvl1pPr>
          </a:lstStyle>
          <a:p>
            <a:pPr/>
            <a:r>
              <a:t>Free tier</a:t>
            </a:r>
          </a:p>
        </p:txBody>
      </p:sp>
      <p:sp>
        <p:nvSpPr>
          <p:cNvPr id="142" name="Shape 8"/>
          <p:cNvSpPr/>
          <p:nvPr/>
        </p:nvSpPr>
        <p:spPr>
          <a:xfrm>
            <a:off x="548640" y="2770632"/>
            <a:ext cx="7315201" cy="960121"/>
          </a:xfrm>
          <a:prstGeom prst="roundRect">
            <a:avLst>
              <a:gd name="adj" fmla="val 9524"/>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143" name="Shape 9"/>
          <p:cNvSpPr/>
          <p:nvPr/>
        </p:nvSpPr>
        <p:spPr>
          <a:xfrm>
            <a:off x="804672" y="3026664"/>
            <a:ext cx="457201" cy="457201"/>
          </a:xfrm>
          <a:prstGeom prst="ellipse">
            <a:avLst/>
          </a:prstGeom>
          <a:solidFill>
            <a:srgbClr val="0E2A38"/>
          </a:solidFill>
          <a:ln w="12700">
            <a:miter lim="400000"/>
          </a:ln>
        </p:spPr>
        <p:txBody>
          <a:bodyPr lIns="45719" rIns="45719"/>
          <a:lstStyle/>
          <a:p>
            <a:pPr/>
          </a:p>
        </p:txBody>
      </p:sp>
      <p:pic>
        <p:nvPicPr>
          <p:cNvPr id="144" name="Image 1" descr="Image 1"/>
          <p:cNvPicPr>
            <a:picLocks noChangeAspect="1"/>
          </p:cNvPicPr>
          <p:nvPr/>
        </p:nvPicPr>
        <p:blipFill>
          <a:blip r:embed="rId4">
            <a:extLst/>
          </a:blip>
          <a:stretch>
            <a:fillRect/>
          </a:stretch>
        </p:blipFill>
        <p:spPr>
          <a:xfrm>
            <a:off x="914400" y="3136392"/>
            <a:ext cx="237744" cy="237745"/>
          </a:xfrm>
          <a:prstGeom prst="rect">
            <a:avLst/>
          </a:prstGeom>
          <a:ln w="12700">
            <a:miter lim="400000"/>
          </a:ln>
        </p:spPr>
      </p:pic>
      <p:sp>
        <p:nvSpPr>
          <p:cNvPr id="145" name="Text 10"/>
          <p:cNvSpPr txBox="1"/>
          <p:nvPr/>
        </p:nvSpPr>
        <p:spPr>
          <a:xfrm>
            <a:off x="1463039" y="2961640"/>
            <a:ext cx="4206242"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FFFFF"/>
                </a:solidFill>
                <a:latin typeface="DM Sans"/>
                <a:ea typeface="DM Sans"/>
                <a:cs typeface="DM Sans"/>
                <a:sym typeface="DM Sans"/>
              </a:defRPr>
            </a:lvl1pPr>
          </a:lstStyle>
          <a:p>
            <a:pPr/>
            <a:r>
              <a:t>Growth — Medium importers/exporters</a:t>
            </a:r>
          </a:p>
        </p:txBody>
      </p:sp>
      <p:sp>
        <p:nvSpPr>
          <p:cNvPr id="146" name="Text 11"/>
          <p:cNvSpPr txBox="1"/>
          <p:nvPr/>
        </p:nvSpPr>
        <p:spPr>
          <a:xfrm>
            <a:off x="1463039" y="3304032"/>
            <a:ext cx="5349242"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AEB9C7"/>
                </a:solidFill>
                <a:latin typeface="DM Sans"/>
                <a:ea typeface="DM Sans"/>
                <a:cs typeface="DM Sans"/>
                <a:sym typeface="DM Sans"/>
              </a:defRPr>
            </a:lvl1pPr>
          </a:lstStyle>
          <a:p>
            <a:pPr/>
            <a:r>
              <a:t>Frequent trade · structured operations · willing to pay for predictive tools. Core revenue target. One avoided delay per quarter pays for the subscription.</a:t>
            </a:r>
          </a:p>
        </p:txBody>
      </p:sp>
      <p:sp>
        <p:nvSpPr>
          <p:cNvPr id="147" name="Shape 12"/>
          <p:cNvSpPr/>
          <p:nvPr/>
        </p:nvSpPr>
        <p:spPr>
          <a:xfrm>
            <a:off x="6400800" y="2916935"/>
            <a:ext cx="837590" cy="310897"/>
          </a:xfrm>
          <a:prstGeom prst="roundRect">
            <a:avLst>
              <a:gd name="adj" fmla="val 50000"/>
            </a:avLst>
          </a:prstGeom>
          <a:solidFill>
            <a:srgbClr val="0E2A38"/>
          </a:solidFill>
          <a:ln w="12700">
            <a:solidFill>
              <a:srgbClr val="06B6D4"/>
            </a:solidFill>
          </a:ln>
        </p:spPr>
        <p:txBody>
          <a:bodyPr lIns="45719" rIns="45719"/>
          <a:lstStyle/>
          <a:p>
            <a:pPr/>
          </a:p>
        </p:txBody>
      </p:sp>
      <p:sp>
        <p:nvSpPr>
          <p:cNvPr id="148" name="Text 13"/>
          <p:cNvSpPr txBox="1"/>
          <p:nvPr/>
        </p:nvSpPr>
        <p:spPr>
          <a:xfrm>
            <a:off x="6400800" y="2989834"/>
            <a:ext cx="83758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06B6D4"/>
                </a:solidFill>
                <a:latin typeface="DM Sans"/>
                <a:ea typeface="DM Sans"/>
                <a:cs typeface="DM Sans"/>
                <a:sym typeface="DM Sans"/>
              </a:defRPr>
            </a:lvl1pPr>
          </a:lstStyle>
          <a:p>
            <a:pPr/>
            <a:r>
              <a:t>Pro tier</a:t>
            </a:r>
          </a:p>
        </p:txBody>
      </p:sp>
      <p:sp>
        <p:nvSpPr>
          <p:cNvPr id="149" name="Shape 14"/>
          <p:cNvSpPr/>
          <p:nvPr/>
        </p:nvSpPr>
        <p:spPr>
          <a:xfrm>
            <a:off x="548640" y="3849623"/>
            <a:ext cx="7315201" cy="960121"/>
          </a:xfrm>
          <a:prstGeom prst="roundRect">
            <a:avLst>
              <a:gd name="adj" fmla="val 9524"/>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150" name="Shape 15"/>
          <p:cNvSpPr/>
          <p:nvPr/>
        </p:nvSpPr>
        <p:spPr>
          <a:xfrm>
            <a:off x="804672" y="4105655"/>
            <a:ext cx="457201" cy="457201"/>
          </a:xfrm>
          <a:prstGeom prst="ellipse">
            <a:avLst/>
          </a:prstGeom>
          <a:solidFill>
            <a:srgbClr val="0E2A38"/>
          </a:solidFill>
          <a:ln w="12700">
            <a:miter lim="400000"/>
          </a:ln>
        </p:spPr>
        <p:txBody>
          <a:bodyPr lIns="45719" rIns="45719"/>
          <a:lstStyle/>
          <a:p>
            <a:pPr/>
          </a:p>
        </p:txBody>
      </p:sp>
      <p:pic>
        <p:nvPicPr>
          <p:cNvPr id="151" name="Image 2" descr="Image 2"/>
          <p:cNvPicPr>
            <a:picLocks noChangeAspect="1"/>
          </p:cNvPicPr>
          <p:nvPr/>
        </p:nvPicPr>
        <p:blipFill>
          <a:blip r:embed="rId5">
            <a:extLst/>
          </a:blip>
          <a:stretch>
            <a:fillRect/>
          </a:stretch>
        </p:blipFill>
        <p:spPr>
          <a:xfrm>
            <a:off x="914400" y="4215384"/>
            <a:ext cx="237744" cy="237745"/>
          </a:xfrm>
          <a:prstGeom prst="rect">
            <a:avLst/>
          </a:prstGeom>
          <a:ln w="12700">
            <a:miter lim="400000"/>
          </a:ln>
        </p:spPr>
      </p:pic>
      <p:sp>
        <p:nvSpPr>
          <p:cNvPr id="152" name="Text 16"/>
          <p:cNvSpPr txBox="1"/>
          <p:nvPr/>
        </p:nvSpPr>
        <p:spPr>
          <a:xfrm>
            <a:off x="1463039" y="4040632"/>
            <a:ext cx="4206242"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FFFFF"/>
                </a:solidFill>
                <a:latin typeface="DM Sans"/>
                <a:ea typeface="DM Sans"/>
                <a:cs typeface="DM Sans"/>
                <a:sym typeface="DM Sans"/>
              </a:defRPr>
            </a:lvl1pPr>
          </a:lstStyle>
          <a:p>
            <a:pPr/>
            <a:r>
              <a:t>Expansion — B2B</a:t>
            </a:r>
          </a:p>
        </p:txBody>
      </p:sp>
      <p:sp>
        <p:nvSpPr>
          <p:cNvPr id="153" name="Text 17"/>
          <p:cNvSpPr txBox="1"/>
          <p:nvPr/>
        </p:nvSpPr>
        <p:spPr>
          <a:xfrm>
            <a:off x="1463039" y="4383023"/>
            <a:ext cx="5349242"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AEB9C7"/>
                </a:solidFill>
                <a:latin typeface="DM Sans"/>
                <a:ea typeface="DM Sans"/>
                <a:cs typeface="DM Sans"/>
                <a:sym typeface="DM Sans"/>
              </a:defRPr>
            </a:lvl1pPr>
          </a:lstStyle>
          <a:p>
            <a:pPr/>
            <a:r>
              <a:t>Freight forwarders, customs brokers, port authorities, carriers, mining. Enterprise &amp; API licensing. Forwarders alone make thousands of routing decisions monthly.</a:t>
            </a:r>
          </a:p>
        </p:txBody>
      </p:sp>
      <p:sp>
        <p:nvSpPr>
          <p:cNvPr id="154" name="Shape 18"/>
          <p:cNvSpPr/>
          <p:nvPr/>
        </p:nvSpPr>
        <p:spPr>
          <a:xfrm>
            <a:off x="6400800" y="3995928"/>
            <a:ext cx="1005840" cy="310897"/>
          </a:xfrm>
          <a:prstGeom prst="roundRect">
            <a:avLst>
              <a:gd name="adj" fmla="val 50000"/>
            </a:avLst>
          </a:prstGeom>
          <a:solidFill>
            <a:srgbClr val="0E2A38"/>
          </a:solidFill>
          <a:ln w="12700">
            <a:solidFill>
              <a:srgbClr val="F59E0B"/>
            </a:solidFill>
          </a:ln>
        </p:spPr>
        <p:txBody>
          <a:bodyPr lIns="45719" rIns="45719"/>
          <a:lstStyle/>
          <a:p>
            <a:pPr/>
          </a:p>
        </p:txBody>
      </p:sp>
      <p:sp>
        <p:nvSpPr>
          <p:cNvPr id="155" name="Text 19"/>
          <p:cNvSpPr txBox="1"/>
          <p:nvPr/>
        </p:nvSpPr>
        <p:spPr>
          <a:xfrm>
            <a:off x="6400800" y="4068826"/>
            <a:ext cx="100583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59E0B"/>
                </a:solidFill>
                <a:latin typeface="DM Sans"/>
                <a:ea typeface="DM Sans"/>
                <a:cs typeface="DM Sans"/>
                <a:sym typeface="DM Sans"/>
              </a:defRPr>
            </a:lvl1pPr>
          </a:lstStyle>
          <a:p>
            <a:pPr/>
            <a:r>
              <a:t>Enterprise</a:t>
            </a:r>
          </a:p>
        </p:txBody>
      </p:sp>
      <p:sp>
        <p:nvSpPr>
          <p:cNvPr id="156" name="Shape 20"/>
          <p:cNvSpPr/>
          <p:nvPr/>
        </p:nvSpPr>
        <p:spPr>
          <a:xfrm>
            <a:off x="8138159" y="1691639"/>
            <a:ext cx="3474721" cy="3255266"/>
          </a:xfrm>
          <a:prstGeom prst="roundRect">
            <a:avLst>
              <a:gd name="adj" fmla="val 2809"/>
            </a:avLst>
          </a:prstGeom>
          <a:solidFill>
            <a:srgbClr val="111A2B"/>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pic>
        <p:nvPicPr>
          <p:cNvPr id="157" name="Image 3" descr="Image 3"/>
          <p:cNvPicPr>
            <a:picLocks noChangeAspect="1"/>
          </p:cNvPicPr>
          <p:nvPr/>
        </p:nvPicPr>
        <p:blipFill>
          <a:blip r:embed="rId6">
            <a:extLst/>
          </a:blip>
          <a:stretch>
            <a:fillRect/>
          </a:stretch>
        </p:blipFill>
        <p:spPr>
          <a:xfrm>
            <a:off x="8412480" y="1965960"/>
            <a:ext cx="457201" cy="457201"/>
          </a:xfrm>
          <a:prstGeom prst="rect">
            <a:avLst/>
          </a:prstGeom>
          <a:ln w="12700">
            <a:miter lim="400000"/>
          </a:ln>
        </p:spPr>
      </p:pic>
      <p:sp>
        <p:nvSpPr>
          <p:cNvPr id="158" name="Text 21"/>
          <p:cNvSpPr txBox="1"/>
          <p:nvPr/>
        </p:nvSpPr>
        <p:spPr>
          <a:xfrm>
            <a:off x="8961119" y="2068322"/>
            <a:ext cx="246888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06B6D4"/>
                </a:solidFill>
                <a:latin typeface="DM Sans"/>
                <a:ea typeface="DM Sans"/>
                <a:cs typeface="DM Sans"/>
                <a:sym typeface="DM Sans"/>
              </a:defRPr>
            </a:lvl1pPr>
          </a:lstStyle>
          <a:p>
            <a:pPr/>
            <a:r>
              <a:t>Persona — Maria</a:t>
            </a:r>
          </a:p>
        </p:txBody>
      </p:sp>
      <p:sp>
        <p:nvSpPr>
          <p:cNvPr id="159" name="Text 22"/>
          <p:cNvSpPr txBox="1"/>
          <p:nvPr/>
        </p:nvSpPr>
        <p:spPr>
          <a:xfrm>
            <a:off x="8412480" y="2715513"/>
            <a:ext cx="2971801" cy="52171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8000"/>
              </a:lnSpc>
              <a:defRPr sz="1100">
                <a:solidFill>
                  <a:srgbClr val="E2E8F0"/>
                </a:solidFill>
                <a:latin typeface="DM Sans"/>
                <a:ea typeface="DM Sans"/>
                <a:cs typeface="DM Sans"/>
                <a:sym typeface="DM Sans"/>
              </a:defRPr>
            </a:lvl1pPr>
          </a:lstStyle>
          <a:p>
            <a:pPr/>
            <a:r>
              <a:t>Runs a mid-size fruit export company in Santiago. Every December she ships cherries to China through San Antonio.</a:t>
            </a:r>
          </a:p>
        </p:txBody>
      </p:sp>
      <p:sp>
        <p:nvSpPr>
          <p:cNvPr id="160" name="Shape 23"/>
          <p:cNvSpPr/>
          <p:nvPr/>
        </p:nvSpPr>
        <p:spPr>
          <a:xfrm>
            <a:off x="8412480" y="3429000"/>
            <a:ext cx="2971801" cy="841248"/>
          </a:xfrm>
          <a:prstGeom prst="roundRect">
            <a:avLst>
              <a:gd name="adj" fmla="val 8696"/>
            </a:avLst>
          </a:prstGeom>
          <a:solidFill>
            <a:srgbClr val="2A1518"/>
          </a:solidFill>
          <a:ln w="12700">
            <a:solidFill>
              <a:srgbClr val="EF4444"/>
            </a:solidFill>
          </a:ln>
        </p:spPr>
        <p:txBody>
          <a:bodyPr lIns="45719" rIns="45719"/>
          <a:lstStyle/>
          <a:p>
            <a:pPr/>
          </a:p>
        </p:txBody>
      </p:sp>
      <p:sp>
        <p:nvSpPr>
          <p:cNvPr id="161" name="Text 24"/>
          <p:cNvSpPr txBox="1"/>
          <p:nvPr/>
        </p:nvSpPr>
        <p:spPr>
          <a:xfrm>
            <a:off x="8577071" y="3695507"/>
            <a:ext cx="2651761" cy="31737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000">
                <a:solidFill>
                  <a:srgbClr val="EF4444"/>
                </a:solidFill>
                <a:latin typeface="DM Sans"/>
                <a:ea typeface="DM Sans"/>
                <a:cs typeface="DM Sans"/>
                <a:sym typeface="DM Sans"/>
              </a:defRPr>
            </a:pPr>
            <a:r>
              <a:t>Last year: </a:t>
            </a:r>
            <a:r>
              <a:rPr b="0">
                <a:solidFill>
                  <a:srgbClr val="E2E8F0"/>
                </a:solidFill>
              </a:rPr>
              <a:t>6-day congestion delay → cherries past peak → </a:t>
            </a:r>
            <a:r>
              <a:t>$180,000</a:t>
            </a:r>
            <a:r>
              <a:rPr b="0">
                <a:solidFill>
                  <a:srgbClr val="E2E8F0"/>
                </a:solidFill>
              </a:rPr>
              <a:t> rejected.</a:t>
            </a:r>
          </a:p>
        </p:txBody>
      </p:sp>
      <p:sp>
        <p:nvSpPr>
          <p:cNvPr id="162" name="Text 25"/>
          <p:cNvSpPr txBox="1"/>
          <p:nvPr/>
        </p:nvSpPr>
        <p:spPr>
          <a:xfrm>
            <a:off x="8412480" y="4484369"/>
            <a:ext cx="2971801" cy="3124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000">
                <a:solidFill>
                  <a:srgbClr val="10B981"/>
                </a:solidFill>
                <a:latin typeface="DM Sans"/>
                <a:ea typeface="DM Sans"/>
                <a:cs typeface="DM Sans"/>
                <a:sym typeface="DM Sans"/>
              </a:defRPr>
            </a:pPr>
            <a:r>
              <a:t>With Waze Cargo: </a:t>
            </a:r>
            <a:r>
              <a:rPr b="0">
                <a:solidFill>
                  <a:srgbClr val="E2E8F0"/>
                </a:solidFill>
              </a:rPr>
              <a:t>she sees the December spike 3 months out and routes via Valparaíso.</a:t>
            </a:r>
          </a:p>
        </p:txBody>
      </p:sp>
      <p:sp>
        <p:nvSpPr>
          <p:cNvPr id="163" name="Text 26"/>
          <p:cNvSpPr txBox="1"/>
          <p:nvPr/>
        </p:nvSpPr>
        <p:spPr>
          <a:xfrm>
            <a:off x="502919" y="6461759"/>
            <a:ext cx="27432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64748B"/>
                </a:solidFill>
                <a:latin typeface="DM Sans"/>
                <a:ea typeface="DM Sans"/>
                <a:cs typeface="DM Sans"/>
                <a:sym typeface="DM Sans"/>
              </a:defRPr>
            </a:lvl1pPr>
          </a:lstStyle>
          <a:p>
            <a:pPr/>
            <a:r>
              <a:t>Waze Cargo</a:t>
            </a:r>
          </a:p>
        </p:txBody>
      </p:sp>
      <p:sp>
        <p:nvSpPr>
          <p:cNvPr id="164" name="Text 27"/>
          <p:cNvSpPr txBox="1"/>
          <p:nvPr/>
        </p:nvSpPr>
        <p:spPr>
          <a:xfrm>
            <a:off x="10728655" y="6461759"/>
            <a:ext cx="96012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latin typeface="DM Sans"/>
                <a:ea typeface="DM Sans"/>
                <a:cs typeface="DM Sans"/>
                <a:sym typeface="DM Sans"/>
              </a:defRPr>
            </a:lvl1pPr>
          </a:lstStyle>
          <a:p>
            <a:pPr/>
            <a:r>
              <a:t>05 / 14</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6090F"/>
        </a:solidFill>
      </p:bgPr>
    </p:bg>
    <p:spTree>
      <p:nvGrpSpPr>
        <p:cNvPr id="1" name=""/>
        <p:cNvGrpSpPr/>
        <p:nvPr/>
      </p:nvGrpSpPr>
      <p:grpSpPr>
        <a:xfrm>
          <a:off x="0" y="0"/>
          <a:ext cx="0" cy="0"/>
          <a:chOff x="0" y="0"/>
          <a:chExt cx="0" cy="0"/>
        </a:xfrm>
      </p:grpSpPr>
      <p:sp>
        <p:nvSpPr>
          <p:cNvPr id="168" name="Text 0"/>
          <p:cNvSpPr txBox="1"/>
          <p:nvPr/>
        </p:nvSpPr>
        <p:spPr>
          <a:xfrm>
            <a:off x="548640" y="514604"/>
            <a:ext cx="10058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200">
                <a:solidFill>
                  <a:srgbClr val="06B6D4"/>
                </a:solidFill>
                <a:latin typeface="DM Sans"/>
                <a:ea typeface="DM Sans"/>
                <a:cs typeface="DM Sans"/>
                <a:sym typeface="DM Sans"/>
              </a:defRPr>
            </a:lvl1pPr>
          </a:lstStyle>
          <a:p>
            <a:pPr/>
            <a:r>
              <a:t>BUSINESS MODEL — HOW?</a:t>
            </a:r>
          </a:p>
        </p:txBody>
      </p:sp>
      <p:sp>
        <p:nvSpPr>
          <p:cNvPr id="169" name="Text 1"/>
          <p:cNvSpPr txBox="1"/>
          <p:nvPr/>
        </p:nvSpPr>
        <p:spPr>
          <a:xfrm>
            <a:off x="548639" y="909828"/>
            <a:ext cx="11155682"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FFFFF"/>
                </a:solidFill>
                <a:latin typeface="DM Sans"/>
                <a:ea typeface="DM Sans"/>
                <a:cs typeface="DM Sans"/>
                <a:sym typeface="DM Sans"/>
              </a:defRPr>
            </a:lvl1pPr>
          </a:lstStyle>
          <a:p>
            <a:pPr/>
            <a:r>
              <a:t>Freemium SaaS: taste, then crave.</a:t>
            </a:r>
          </a:p>
        </p:txBody>
      </p:sp>
      <p:sp>
        <p:nvSpPr>
          <p:cNvPr id="170" name="Shape 2"/>
          <p:cNvSpPr/>
          <p:nvPr/>
        </p:nvSpPr>
        <p:spPr>
          <a:xfrm>
            <a:off x="548640" y="1828800"/>
            <a:ext cx="3566160" cy="2514600"/>
          </a:xfrm>
          <a:prstGeom prst="roundRect">
            <a:avLst>
              <a:gd name="adj" fmla="val 3636"/>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171" name="Text 3"/>
          <p:cNvSpPr txBox="1"/>
          <p:nvPr/>
        </p:nvSpPr>
        <p:spPr>
          <a:xfrm>
            <a:off x="841247" y="2131822"/>
            <a:ext cx="301752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100">
                <a:solidFill>
                  <a:srgbClr val="FFFFFF"/>
                </a:solidFill>
                <a:latin typeface="DM Sans"/>
                <a:ea typeface="DM Sans"/>
                <a:cs typeface="DM Sans"/>
                <a:sym typeface="DM Sans"/>
              </a:defRPr>
            </a:lvl1pPr>
          </a:lstStyle>
          <a:p>
            <a:pPr/>
            <a:r>
              <a:t>Free</a:t>
            </a:r>
          </a:p>
        </p:txBody>
      </p:sp>
      <p:sp>
        <p:nvSpPr>
          <p:cNvPr id="172" name="Text 4"/>
          <p:cNvSpPr txBox="1"/>
          <p:nvPr/>
        </p:nvSpPr>
        <p:spPr>
          <a:xfrm>
            <a:off x="841247" y="2573782"/>
            <a:ext cx="3017522"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600">
                <a:solidFill>
                  <a:srgbClr val="FFFFFF"/>
                </a:solidFill>
                <a:latin typeface="DM Sans"/>
                <a:ea typeface="DM Sans"/>
                <a:cs typeface="DM Sans"/>
                <a:sym typeface="DM Sans"/>
              </a:defRPr>
            </a:pPr>
            <a:r>
              <a:t>€0</a:t>
            </a:r>
            <a:r>
              <a:rPr b="0" sz="1200">
                <a:solidFill>
                  <a:srgbClr val="64748B"/>
                </a:solidFill>
              </a:rPr>
              <a:t> /mo</a:t>
            </a:r>
          </a:p>
        </p:txBody>
      </p:sp>
      <p:sp>
        <p:nvSpPr>
          <p:cNvPr id="173" name="Text 5"/>
          <p:cNvSpPr txBox="1"/>
          <p:nvPr/>
        </p:nvSpPr>
        <p:spPr>
          <a:xfrm>
            <a:off x="841247" y="3096767"/>
            <a:ext cx="301752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000">
                <a:solidFill>
                  <a:srgbClr val="06B6D4"/>
                </a:solidFill>
                <a:latin typeface="DM Sans"/>
                <a:ea typeface="DM Sans"/>
                <a:cs typeface="DM Sans"/>
                <a:sym typeface="DM Sans"/>
              </a:defRPr>
            </a:lvl1pPr>
          </a:lstStyle>
          <a:p>
            <a:pPr/>
            <a:r>
              <a:t>USER ACQUISITION</a:t>
            </a:r>
          </a:p>
        </p:txBody>
      </p:sp>
      <p:sp>
        <p:nvSpPr>
          <p:cNvPr id="174" name="Shape 6"/>
          <p:cNvSpPr/>
          <p:nvPr/>
        </p:nvSpPr>
        <p:spPr>
          <a:xfrm>
            <a:off x="841247" y="3346703"/>
            <a:ext cx="2980945" cy="1"/>
          </a:xfrm>
          <a:prstGeom prst="line">
            <a:avLst/>
          </a:prstGeom>
          <a:ln w="12700">
            <a:solidFill>
              <a:srgbClr val="172033"/>
            </a:solidFill>
          </a:ln>
        </p:spPr>
        <p:txBody>
          <a:bodyPr lIns="45719" rIns="45719"/>
          <a:lstStyle/>
          <a:p>
            <a:pPr/>
          </a:p>
        </p:txBody>
      </p:sp>
      <p:sp>
        <p:nvSpPr>
          <p:cNvPr id="175" name="Text 7"/>
          <p:cNvSpPr txBox="1"/>
          <p:nvPr/>
        </p:nvSpPr>
        <p:spPr>
          <a:xfrm>
            <a:off x="841247" y="3631692"/>
            <a:ext cx="2999234" cy="48158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8000"/>
              </a:lnSpc>
              <a:defRPr sz="1000">
                <a:solidFill>
                  <a:srgbClr val="AEB9C7"/>
                </a:solidFill>
                <a:latin typeface="DM Sans"/>
                <a:ea typeface="DM Sans"/>
                <a:cs typeface="DM Sans"/>
                <a:sym typeface="DM Sans"/>
              </a:defRPr>
            </a:lvl1pPr>
          </a:lstStyle>
          <a:p>
            <a:pPr/>
            <a:r>
              <a:t>Congestion risk labels (Low/Moderate/Elevated/High) for 1 port · monthly view · no commodity detail · weather layer blurred.</a:t>
            </a:r>
          </a:p>
        </p:txBody>
      </p:sp>
      <p:sp>
        <p:nvSpPr>
          <p:cNvPr id="176" name="Shape 8"/>
          <p:cNvSpPr/>
          <p:nvPr/>
        </p:nvSpPr>
        <p:spPr>
          <a:xfrm>
            <a:off x="4315967" y="1828800"/>
            <a:ext cx="3566161" cy="2514600"/>
          </a:xfrm>
          <a:prstGeom prst="roundRect">
            <a:avLst>
              <a:gd name="adj" fmla="val 3636"/>
            </a:avLst>
          </a:prstGeom>
          <a:solidFill>
            <a:srgbClr val="111A2B"/>
          </a:solidFill>
          <a:ln w="22225">
            <a:solidFill>
              <a:srgbClr val="06B6D4"/>
            </a:solidFill>
          </a:ln>
          <a:effectLst>
            <a:outerShdw sx="100000" sy="100000" kx="0" ky="0" algn="b" rotWithShape="0" blurRad="152400" dist="50800" dir="5400000">
              <a:srgbClr val="000000">
                <a:alpha val="35000"/>
              </a:srgbClr>
            </a:outerShdw>
          </a:effectLst>
        </p:spPr>
        <p:txBody>
          <a:bodyPr lIns="45719" rIns="45719"/>
          <a:lstStyle/>
          <a:p>
            <a:pPr/>
          </a:p>
        </p:txBody>
      </p:sp>
      <p:sp>
        <p:nvSpPr>
          <p:cNvPr id="177" name="Shape 9"/>
          <p:cNvSpPr/>
          <p:nvPr/>
        </p:nvSpPr>
        <p:spPr>
          <a:xfrm>
            <a:off x="6373367" y="2029967"/>
            <a:ext cx="1174091" cy="310897"/>
          </a:xfrm>
          <a:prstGeom prst="roundRect">
            <a:avLst>
              <a:gd name="adj" fmla="val 50000"/>
            </a:avLst>
          </a:prstGeom>
          <a:solidFill>
            <a:srgbClr val="0E2A38"/>
          </a:solidFill>
          <a:ln w="12700">
            <a:solidFill>
              <a:srgbClr val="06B6D4"/>
            </a:solidFill>
          </a:ln>
        </p:spPr>
        <p:txBody>
          <a:bodyPr lIns="45719" rIns="45719"/>
          <a:lstStyle/>
          <a:p>
            <a:pPr/>
          </a:p>
        </p:txBody>
      </p:sp>
      <p:sp>
        <p:nvSpPr>
          <p:cNvPr id="178" name="Text 10"/>
          <p:cNvSpPr txBox="1"/>
          <p:nvPr/>
        </p:nvSpPr>
        <p:spPr>
          <a:xfrm>
            <a:off x="6373367" y="2102866"/>
            <a:ext cx="117409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06B6D4"/>
                </a:solidFill>
                <a:latin typeface="DM Sans"/>
                <a:ea typeface="DM Sans"/>
                <a:cs typeface="DM Sans"/>
                <a:sym typeface="DM Sans"/>
              </a:defRPr>
            </a:lvl1pPr>
          </a:lstStyle>
          <a:p>
            <a:pPr/>
            <a:r>
              <a:t>MOST POPULAR</a:t>
            </a:r>
          </a:p>
        </p:txBody>
      </p:sp>
      <p:sp>
        <p:nvSpPr>
          <p:cNvPr id="179" name="Text 11"/>
          <p:cNvSpPr txBox="1"/>
          <p:nvPr/>
        </p:nvSpPr>
        <p:spPr>
          <a:xfrm>
            <a:off x="4608576" y="2131822"/>
            <a:ext cx="301752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100">
                <a:solidFill>
                  <a:srgbClr val="06B6D4"/>
                </a:solidFill>
                <a:latin typeface="DM Sans"/>
                <a:ea typeface="DM Sans"/>
                <a:cs typeface="DM Sans"/>
                <a:sym typeface="DM Sans"/>
              </a:defRPr>
            </a:lvl1pPr>
          </a:lstStyle>
          <a:p>
            <a:pPr/>
            <a:r>
              <a:t>Pro</a:t>
            </a:r>
          </a:p>
        </p:txBody>
      </p:sp>
      <p:sp>
        <p:nvSpPr>
          <p:cNvPr id="180" name="Text 12"/>
          <p:cNvSpPr txBox="1"/>
          <p:nvPr/>
        </p:nvSpPr>
        <p:spPr>
          <a:xfrm>
            <a:off x="4608576" y="2573782"/>
            <a:ext cx="3017521"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600">
                <a:solidFill>
                  <a:srgbClr val="FFFFFF"/>
                </a:solidFill>
                <a:latin typeface="DM Sans"/>
                <a:ea typeface="DM Sans"/>
                <a:cs typeface="DM Sans"/>
                <a:sym typeface="DM Sans"/>
              </a:defRPr>
            </a:pPr>
            <a:r>
              <a:t>€100–350</a:t>
            </a:r>
            <a:r>
              <a:rPr b="0" sz="1200">
                <a:solidFill>
                  <a:srgbClr val="64748B"/>
                </a:solidFill>
              </a:rPr>
              <a:t> /mo</a:t>
            </a:r>
          </a:p>
        </p:txBody>
      </p:sp>
      <p:sp>
        <p:nvSpPr>
          <p:cNvPr id="181" name="Text 13"/>
          <p:cNvSpPr txBox="1"/>
          <p:nvPr/>
        </p:nvSpPr>
        <p:spPr>
          <a:xfrm>
            <a:off x="4608576" y="3096767"/>
            <a:ext cx="301752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000">
                <a:solidFill>
                  <a:srgbClr val="06B6D4"/>
                </a:solidFill>
                <a:latin typeface="DM Sans"/>
                <a:ea typeface="DM Sans"/>
                <a:cs typeface="DM Sans"/>
                <a:sym typeface="DM Sans"/>
              </a:defRPr>
            </a:lvl1pPr>
          </a:lstStyle>
          <a:p>
            <a:pPr/>
            <a:r>
              <a:t>SME CORE</a:t>
            </a:r>
          </a:p>
        </p:txBody>
      </p:sp>
      <p:sp>
        <p:nvSpPr>
          <p:cNvPr id="182" name="Shape 14"/>
          <p:cNvSpPr/>
          <p:nvPr/>
        </p:nvSpPr>
        <p:spPr>
          <a:xfrm>
            <a:off x="4608576" y="3346703"/>
            <a:ext cx="2980945" cy="1"/>
          </a:xfrm>
          <a:prstGeom prst="line">
            <a:avLst/>
          </a:prstGeom>
          <a:ln w="12700">
            <a:solidFill>
              <a:srgbClr val="172033"/>
            </a:solidFill>
          </a:ln>
        </p:spPr>
        <p:txBody>
          <a:bodyPr lIns="45719" rIns="45719"/>
          <a:lstStyle/>
          <a:p>
            <a:pPr/>
          </a:p>
        </p:txBody>
      </p:sp>
      <p:sp>
        <p:nvSpPr>
          <p:cNvPr id="183" name="Text 15"/>
          <p:cNvSpPr txBox="1"/>
          <p:nvPr/>
        </p:nvSpPr>
        <p:spPr>
          <a:xfrm>
            <a:off x="4608576" y="3631692"/>
            <a:ext cx="2999233" cy="48158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8000"/>
              </a:lnSpc>
              <a:defRPr sz="1000">
                <a:solidFill>
                  <a:srgbClr val="AEB9C7"/>
                </a:solidFill>
                <a:latin typeface="DM Sans"/>
                <a:ea typeface="DM Sans"/>
                <a:cs typeface="DM Sans"/>
                <a:sym typeface="DM Sans"/>
              </a:defRPr>
            </a:lvl1pPr>
          </a:lstStyle>
          <a:p>
            <a:pPr/>
            <a:r>
              <a:t>All 31 ports · 12-month horizon · commodity breakdown by HS2 · weather-adjusted delay-risk · cross-port comparison · alt-port routing · API.</a:t>
            </a:r>
          </a:p>
        </p:txBody>
      </p:sp>
      <p:sp>
        <p:nvSpPr>
          <p:cNvPr id="184" name="Shape 16"/>
          <p:cNvSpPr/>
          <p:nvPr/>
        </p:nvSpPr>
        <p:spPr>
          <a:xfrm>
            <a:off x="8083295" y="1828800"/>
            <a:ext cx="3566161" cy="2514600"/>
          </a:xfrm>
          <a:prstGeom prst="roundRect">
            <a:avLst>
              <a:gd name="adj" fmla="val 3636"/>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185" name="Text 17"/>
          <p:cNvSpPr txBox="1"/>
          <p:nvPr/>
        </p:nvSpPr>
        <p:spPr>
          <a:xfrm>
            <a:off x="8375904" y="2131822"/>
            <a:ext cx="301752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100">
                <a:solidFill>
                  <a:srgbClr val="FFFFFF"/>
                </a:solidFill>
                <a:latin typeface="DM Sans"/>
                <a:ea typeface="DM Sans"/>
                <a:cs typeface="DM Sans"/>
                <a:sym typeface="DM Sans"/>
              </a:defRPr>
            </a:lvl1pPr>
          </a:lstStyle>
          <a:p>
            <a:pPr/>
            <a:r>
              <a:t>Enterprise</a:t>
            </a:r>
          </a:p>
        </p:txBody>
      </p:sp>
      <p:sp>
        <p:nvSpPr>
          <p:cNvPr id="186" name="Text 18"/>
          <p:cNvSpPr txBox="1"/>
          <p:nvPr/>
        </p:nvSpPr>
        <p:spPr>
          <a:xfrm>
            <a:off x="8375904" y="2573782"/>
            <a:ext cx="3017521"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600">
                <a:solidFill>
                  <a:srgbClr val="FFFFFF"/>
                </a:solidFill>
                <a:latin typeface="DM Sans"/>
                <a:ea typeface="DM Sans"/>
                <a:cs typeface="DM Sans"/>
                <a:sym typeface="DM Sans"/>
              </a:defRPr>
            </a:pPr>
            <a:r>
              <a:t>€500+</a:t>
            </a:r>
            <a:r>
              <a:rPr b="0" sz="1200">
                <a:solidFill>
                  <a:srgbClr val="64748B"/>
                </a:solidFill>
              </a:rPr>
              <a:t> /mo</a:t>
            </a:r>
          </a:p>
        </p:txBody>
      </p:sp>
      <p:sp>
        <p:nvSpPr>
          <p:cNvPr id="187" name="Text 19"/>
          <p:cNvSpPr txBox="1"/>
          <p:nvPr/>
        </p:nvSpPr>
        <p:spPr>
          <a:xfrm>
            <a:off x="8375904" y="3096767"/>
            <a:ext cx="301752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000">
                <a:solidFill>
                  <a:srgbClr val="06B6D4"/>
                </a:solidFill>
                <a:latin typeface="DM Sans"/>
                <a:ea typeface="DM Sans"/>
                <a:cs typeface="DM Sans"/>
                <a:sym typeface="DM Sans"/>
              </a:defRPr>
            </a:lvl1pPr>
          </a:lstStyle>
          <a:p>
            <a:pPr/>
            <a:r>
              <a:t>SCALE &amp; INTEGRATE</a:t>
            </a:r>
          </a:p>
        </p:txBody>
      </p:sp>
      <p:sp>
        <p:nvSpPr>
          <p:cNvPr id="188" name="Shape 20"/>
          <p:cNvSpPr/>
          <p:nvPr/>
        </p:nvSpPr>
        <p:spPr>
          <a:xfrm>
            <a:off x="8375904" y="3346703"/>
            <a:ext cx="2980945" cy="1"/>
          </a:xfrm>
          <a:prstGeom prst="line">
            <a:avLst/>
          </a:prstGeom>
          <a:ln w="12700">
            <a:solidFill>
              <a:srgbClr val="172033"/>
            </a:solidFill>
          </a:ln>
        </p:spPr>
        <p:txBody>
          <a:bodyPr lIns="45719" rIns="45719"/>
          <a:lstStyle/>
          <a:p>
            <a:pPr/>
          </a:p>
        </p:txBody>
      </p:sp>
      <p:sp>
        <p:nvSpPr>
          <p:cNvPr id="189" name="Text 21"/>
          <p:cNvSpPr txBox="1"/>
          <p:nvPr/>
        </p:nvSpPr>
        <p:spPr>
          <a:xfrm>
            <a:off x="8375904" y="3631692"/>
            <a:ext cx="2999233" cy="48158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8000"/>
              </a:lnSpc>
              <a:defRPr sz="1000">
                <a:solidFill>
                  <a:srgbClr val="AEB9C7"/>
                </a:solidFill>
                <a:latin typeface="DM Sans"/>
                <a:ea typeface="DM Sans"/>
                <a:cs typeface="DM Sans"/>
                <a:sym typeface="DM Sans"/>
              </a:defRPr>
            </a:lvl1pPr>
          </a:lstStyle>
          <a:p>
            <a:pPr/>
            <a:r>
              <a:t>Multi-user dashboards · ERP/TMS integrations · dedicated support · fleet tracking · white-label · custom HS4 analysis.</a:t>
            </a:r>
          </a:p>
        </p:txBody>
      </p:sp>
      <p:sp>
        <p:nvSpPr>
          <p:cNvPr id="190" name="Shape 22"/>
          <p:cNvSpPr/>
          <p:nvPr/>
        </p:nvSpPr>
        <p:spPr>
          <a:xfrm>
            <a:off x="548640" y="4572000"/>
            <a:ext cx="2670049" cy="1600200"/>
          </a:xfrm>
          <a:prstGeom prst="roundRect">
            <a:avLst>
              <a:gd name="adj" fmla="val 5714"/>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191" name="Shape 23"/>
          <p:cNvSpPr/>
          <p:nvPr/>
        </p:nvSpPr>
        <p:spPr>
          <a:xfrm>
            <a:off x="749808" y="4773167"/>
            <a:ext cx="420624" cy="420625"/>
          </a:xfrm>
          <a:prstGeom prst="ellipse">
            <a:avLst/>
          </a:prstGeom>
          <a:solidFill>
            <a:srgbClr val="0E2A38"/>
          </a:solidFill>
          <a:ln w="12700">
            <a:miter lim="400000"/>
          </a:ln>
        </p:spPr>
        <p:txBody>
          <a:bodyPr lIns="45719" rIns="45719"/>
          <a:lstStyle/>
          <a:p>
            <a:pPr/>
          </a:p>
        </p:txBody>
      </p:sp>
      <p:pic>
        <p:nvPicPr>
          <p:cNvPr id="192" name="Image 0" descr="Image 0"/>
          <p:cNvPicPr>
            <a:picLocks noChangeAspect="1"/>
          </p:cNvPicPr>
          <p:nvPr/>
        </p:nvPicPr>
        <p:blipFill>
          <a:blip r:embed="rId3">
            <a:extLst/>
          </a:blip>
          <a:stretch>
            <a:fillRect/>
          </a:stretch>
        </p:blipFill>
        <p:spPr>
          <a:xfrm>
            <a:off x="841247" y="4855464"/>
            <a:ext cx="237745" cy="237745"/>
          </a:xfrm>
          <a:prstGeom prst="rect">
            <a:avLst/>
          </a:prstGeom>
          <a:ln w="12700">
            <a:miter lim="400000"/>
          </a:ln>
        </p:spPr>
      </p:pic>
      <p:sp>
        <p:nvSpPr>
          <p:cNvPr id="193" name="Text 24"/>
          <p:cNvSpPr txBox="1"/>
          <p:nvPr/>
        </p:nvSpPr>
        <p:spPr>
          <a:xfrm>
            <a:off x="1298447" y="4872735"/>
            <a:ext cx="18288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FFFFF"/>
                </a:solidFill>
                <a:latin typeface="DM Sans"/>
                <a:ea typeface="DM Sans"/>
                <a:cs typeface="DM Sans"/>
                <a:sym typeface="DM Sans"/>
              </a:defRPr>
            </a:lvl1pPr>
          </a:lstStyle>
          <a:p>
            <a:pPr/>
            <a:r>
              <a:t>Acquisition</a:t>
            </a:r>
          </a:p>
        </p:txBody>
      </p:sp>
      <p:sp>
        <p:nvSpPr>
          <p:cNvPr id="194" name="Text 25"/>
          <p:cNvSpPr txBox="1"/>
          <p:nvPr/>
        </p:nvSpPr>
        <p:spPr>
          <a:xfrm>
            <a:off x="768096" y="5395214"/>
            <a:ext cx="2249424" cy="5755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000"/>
              </a:lnSpc>
              <a:defRPr sz="900">
                <a:solidFill>
                  <a:srgbClr val="AEB9C7"/>
                </a:solidFill>
                <a:latin typeface="DM Sans"/>
                <a:ea typeface="DM Sans"/>
                <a:cs typeface="DM Sans"/>
                <a:sym typeface="DM Sans"/>
              </a:defRPr>
            </a:lvl1pPr>
          </a:lstStyle>
          <a:p>
            <a:pPr/>
            <a:r>
              <a:t>Public live dashboard (no signup) for San Antonio &amp; Valparaíso. Cold outreach using customs data — we show prospects their own import history.</a:t>
            </a:r>
          </a:p>
        </p:txBody>
      </p:sp>
      <p:sp>
        <p:nvSpPr>
          <p:cNvPr id="195" name="Shape 26"/>
          <p:cNvSpPr/>
          <p:nvPr/>
        </p:nvSpPr>
        <p:spPr>
          <a:xfrm>
            <a:off x="3355847" y="4572000"/>
            <a:ext cx="2670049" cy="1600200"/>
          </a:xfrm>
          <a:prstGeom prst="roundRect">
            <a:avLst>
              <a:gd name="adj" fmla="val 5714"/>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196" name="Shape 27"/>
          <p:cNvSpPr/>
          <p:nvPr/>
        </p:nvSpPr>
        <p:spPr>
          <a:xfrm>
            <a:off x="3557015" y="4773167"/>
            <a:ext cx="420625" cy="420625"/>
          </a:xfrm>
          <a:prstGeom prst="ellipse">
            <a:avLst/>
          </a:prstGeom>
          <a:solidFill>
            <a:srgbClr val="0E2A38"/>
          </a:solidFill>
          <a:ln w="12700">
            <a:miter lim="400000"/>
          </a:ln>
        </p:spPr>
        <p:txBody>
          <a:bodyPr lIns="45719" rIns="45719"/>
          <a:lstStyle/>
          <a:p>
            <a:pPr/>
          </a:p>
        </p:txBody>
      </p:sp>
      <p:pic>
        <p:nvPicPr>
          <p:cNvPr id="197" name="Image 1" descr="Image 1"/>
          <p:cNvPicPr>
            <a:picLocks noChangeAspect="1"/>
          </p:cNvPicPr>
          <p:nvPr/>
        </p:nvPicPr>
        <p:blipFill>
          <a:blip r:embed="rId4">
            <a:extLst/>
          </a:blip>
          <a:stretch>
            <a:fillRect/>
          </a:stretch>
        </p:blipFill>
        <p:spPr>
          <a:xfrm>
            <a:off x="3648455" y="4855464"/>
            <a:ext cx="237745" cy="237745"/>
          </a:xfrm>
          <a:prstGeom prst="rect">
            <a:avLst/>
          </a:prstGeom>
          <a:ln w="12700">
            <a:miter lim="400000"/>
          </a:ln>
        </p:spPr>
      </p:pic>
      <p:sp>
        <p:nvSpPr>
          <p:cNvPr id="198" name="Text 28"/>
          <p:cNvSpPr txBox="1"/>
          <p:nvPr/>
        </p:nvSpPr>
        <p:spPr>
          <a:xfrm>
            <a:off x="4105655" y="4872735"/>
            <a:ext cx="18288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FFFFF"/>
                </a:solidFill>
                <a:latin typeface="DM Sans"/>
                <a:ea typeface="DM Sans"/>
                <a:cs typeface="DM Sans"/>
                <a:sym typeface="DM Sans"/>
              </a:defRPr>
            </a:lvl1pPr>
          </a:lstStyle>
          <a:p>
            <a:pPr/>
            <a:r>
              <a:t>Conversion</a:t>
            </a:r>
          </a:p>
        </p:txBody>
      </p:sp>
      <p:sp>
        <p:nvSpPr>
          <p:cNvPr id="199" name="Text 29"/>
          <p:cNvSpPr txBox="1"/>
          <p:nvPr/>
        </p:nvSpPr>
        <p:spPr>
          <a:xfrm>
            <a:off x="3575303" y="5395214"/>
            <a:ext cx="2249425" cy="5755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000"/>
              </a:lnSpc>
              <a:defRPr sz="900">
                <a:solidFill>
                  <a:srgbClr val="AEB9C7"/>
                </a:solidFill>
                <a:latin typeface="DM Sans"/>
                <a:ea typeface="DM Sans"/>
                <a:cs typeface="DM Sans"/>
                <a:sym typeface="DM Sans"/>
              </a:defRPr>
            </a:lvl1pPr>
          </a:lstStyle>
          <a:p>
            <a:pPr/>
            <a:r>
              <a:t>“Taste then crave” — routing recs visible but paywalled, commodity table blurred, swell alerts locked. They see the value before paying.</a:t>
            </a:r>
          </a:p>
        </p:txBody>
      </p:sp>
      <p:sp>
        <p:nvSpPr>
          <p:cNvPr id="200" name="Shape 30"/>
          <p:cNvSpPr/>
          <p:nvPr/>
        </p:nvSpPr>
        <p:spPr>
          <a:xfrm>
            <a:off x="6163055" y="4572000"/>
            <a:ext cx="2670050" cy="1600200"/>
          </a:xfrm>
          <a:prstGeom prst="roundRect">
            <a:avLst>
              <a:gd name="adj" fmla="val 5714"/>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201" name="Shape 31"/>
          <p:cNvSpPr/>
          <p:nvPr/>
        </p:nvSpPr>
        <p:spPr>
          <a:xfrm>
            <a:off x="6364223" y="4773167"/>
            <a:ext cx="420625" cy="420625"/>
          </a:xfrm>
          <a:prstGeom prst="ellipse">
            <a:avLst/>
          </a:prstGeom>
          <a:solidFill>
            <a:srgbClr val="0E2A38"/>
          </a:solidFill>
          <a:ln w="12700">
            <a:miter lim="400000"/>
          </a:ln>
        </p:spPr>
        <p:txBody>
          <a:bodyPr lIns="45719" rIns="45719"/>
          <a:lstStyle/>
          <a:p>
            <a:pPr/>
          </a:p>
        </p:txBody>
      </p:sp>
      <p:pic>
        <p:nvPicPr>
          <p:cNvPr id="202" name="Image 2" descr="Image 2"/>
          <p:cNvPicPr>
            <a:picLocks noChangeAspect="1"/>
          </p:cNvPicPr>
          <p:nvPr/>
        </p:nvPicPr>
        <p:blipFill>
          <a:blip r:embed="rId5">
            <a:extLst/>
          </a:blip>
          <a:stretch>
            <a:fillRect/>
          </a:stretch>
        </p:blipFill>
        <p:spPr>
          <a:xfrm>
            <a:off x="6455664" y="4855464"/>
            <a:ext cx="237745" cy="237745"/>
          </a:xfrm>
          <a:prstGeom prst="rect">
            <a:avLst/>
          </a:prstGeom>
          <a:ln w="12700">
            <a:miter lim="400000"/>
          </a:ln>
        </p:spPr>
      </p:pic>
      <p:sp>
        <p:nvSpPr>
          <p:cNvPr id="203" name="Text 32"/>
          <p:cNvSpPr txBox="1"/>
          <p:nvPr/>
        </p:nvSpPr>
        <p:spPr>
          <a:xfrm>
            <a:off x="6912864" y="4872735"/>
            <a:ext cx="18288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FFFFF"/>
                </a:solidFill>
                <a:latin typeface="DM Sans"/>
                <a:ea typeface="DM Sans"/>
                <a:cs typeface="DM Sans"/>
                <a:sym typeface="DM Sans"/>
              </a:defRPr>
            </a:lvl1pPr>
          </a:lstStyle>
          <a:p>
            <a:pPr/>
            <a:r>
              <a:t>Retention</a:t>
            </a:r>
          </a:p>
        </p:txBody>
      </p:sp>
      <p:sp>
        <p:nvSpPr>
          <p:cNvPr id="204" name="Text 33"/>
          <p:cNvSpPr txBox="1"/>
          <p:nvPr/>
        </p:nvSpPr>
        <p:spPr>
          <a:xfrm>
            <a:off x="6382511" y="5467858"/>
            <a:ext cx="2249425" cy="430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000"/>
              </a:lnSpc>
              <a:defRPr sz="900">
                <a:solidFill>
                  <a:srgbClr val="AEB9C7"/>
                </a:solidFill>
                <a:latin typeface="DM Sans"/>
                <a:ea typeface="DM Sans"/>
                <a:cs typeface="DM Sans"/>
                <a:sym typeface="DM Sans"/>
              </a:defRPr>
            </a:lvl1pPr>
          </a:lstStyle>
          <a:p>
            <a:pPr/>
            <a:r>
              <a:t>ML alerts on congestion spikes &amp; weather disruption + monthly trade digest. Target 60% day-30 retention, &lt;5% monthly churn.</a:t>
            </a:r>
          </a:p>
        </p:txBody>
      </p:sp>
      <p:sp>
        <p:nvSpPr>
          <p:cNvPr id="205" name="Shape 34"/>
          <p:cNvSpPr/>
          <p:nvPr/>
        </p:nvSpPr>
        <p:spPr>
          <a:xfrm>
            <a:off x="8970264" y="4572000"/>
            <a:ext cx="2670049" cy="1600200"/>
          </a:xfrm>
          <a:prstGeom prst="roundRect">
            <a:avLst>
              <a:gd name="adj" fmla="val 5714"/>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206" name="Shape 35"/>
          <p:cNvSpPr/>
          <p:nvPr/>
        </p:nvSpPr>
        <p:spPr>
          <a:xfrm>
            <a:off x="9171431" y="4773167"/>
            <a:ext cx="420625" cy="420625"/>
          </a:xfrm>
          <a:prstGeom prst="ellipse">
            <a:avLst/>
          </a:prstGeom>
          <a:solidFill>
            <a:srgbClr val="0E2A38"/>
          </a:solidFill>
          <a:ln w="12700">
            <a:miter lim="400000"/>
          </a:ln>
        </p:spPr>
        <p:txBody>
          <a:bodyPr lIns="45719" rIns="45719"/>
          <a:lstStyle/>
          <a:p>
            <a:pPr/>
          </a:p>
        </p:txBody>
      </p:sp>
      <p:pic>
        <p:nvPicPr>
          <p:cNvPr id="207" name="Image 3" descr="Image 3"/>
          <p:cNvPicPr>
            <a:picLocks noChangeAspect="1"/>
          </p:cNvPicPr>
          <p:nvPr/>
        </p:nvPicPr>
        <p:blipFill>
          <a:blip r:embed="rId6">
            <a:extLst/>
          </a:blip>
          <a:stretch>
            <a:fillRect/>
          </a:stretch>
        </p:blipFill>
        <p:spPr>
          <a:xfrm>
            <a:off x="9262871" y="4855464"/>
            <a:ext cx="237745" cy="237745"/>
          </a:xfrm>
          <a:prstGeom prst="rect">
            <a:avLst/>
          </a:prstGeom>
          <a:ln w="12700">
            <a:miter lim="400000"/>
          </a:ln>
        </p:spPr>
      </p:pic>
      <p:sp>
        <p:nvSpPr>
          <p:cNvPr id="208" name="Text 36"/>
          <p:cNvSpPr txBox="1"/>
          <p:nvPr/>
        </p:nvSpPr>
        <p:spPr>
          <a:xfrm>
            <a:off x="9720071" y="4872735"/>
            <a:ext cx="18288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FFFFF"/>
                </a:solidFill>
                <a:latin typeface="DM Sans"/>
                <a:ea typeface="DM Sans"/>
                <a:cs typeface="DM Sans"/>
                <a:sym typeface="DM Sans"/>
              </a:defRPr>
            </a:lvl1pPr>
          </a:lstStyle>
          <a:p>
            <a:pPr/>
            <a:r>
              <a:t>Referral</a:t>
            </a:r>
          </a:p>
        </p:txBody>
      </p:sp>
      <p:sp>
        <p:nvSpPr>
          <p:cNvPr id="209" name="Text 37"/>
          <p:cNvSpPr txBox="1"/>
          <p:nvPr/>
        </p:nvSpPr>
        <p:spPr>
          <a:xfrm>
            <a:off x="9189719" y="5467858"/>
            <a:ext cx="2249425" cy="430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000"/>
              </a:lnSpc>
              <a:defRPr sz="900">
                <a:solidFill>
                  <a:srgbClr val="AEB9C7"/>
                </a:solidFill>
                <a:latin typeface="DM Sans"/>
                <a:ea typeface="DM Sans"/>
                <a:cs typeface="DM Sans"/>
                <a:sym typeface="DM Sans"/>
              </a:defRPr>
            </a:lvl1pPr>
          </a:lstStyle>
          <a:p>
            <a:pPr/>
            <a:r>
              <a:t>“Invite a logistics partner, both get 1 month Pro free.” Natural virality when an importer shares a warning with their forwarder.</a:t>
            </a:r>
          </a:p>
        </p:txBody>
      </p:sp>
      <p:sp>
        <p:nvSpPr>
          <p:cNvPr id="210" name="Text 38"/>
          <p:cNvSpPr txBox="1"/>
          <p:nvPr/>
        </p:nvSpPr>
        <p:spPr>
          <a:xfrm>
            <a:off x="502919" y="6461759"/>
            <a:ext cx="27432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64748B"/>
                </a:solidFill>
                <a:latin typeface="DM Sans"/>
                <a:ea typeface="DM Sans"/>
                <a:cs typeface="DM Sans"/>
                <a:sym typeface="DM Sans"/>
              </a:defRPr>
            </a:lvl1pPr>
          </a:lstStyle>
          <a:p>
            <a:pPr/>
            <a:r>
              <a:t>Waze Cargo</a:t>
            </a:r>
          </a:p>
        </p:txBody>
      </p:sp>
      <p:sp>
        <p:nvSpPr>
          <p:cNvPr id="211" name="Text 39"/>
          <p:cNvSpPr txBox="1"/>
          <p:nvPr/>
        </p:nvSpPr>
        <p:spPr>
          <a:xfrm>
            <a:off x="10728655" y="6461759"/>
            <a:ext cx="96012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latin typeface="DM Sans"/>
                <a:ea typeface="DM Sans"/>
                <a:cs typeface="DM Sans"/>
                <a:sym typeface="DM Sans"/>
              </a:defRPr>
            </a:lvl1pPr>
          </a:lstStyle>
          <a:p>
            <a:pPr/>
            <a:r>
              <a:t>06 / 14</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6090F"/>
        </a:solidFill>
      </p:bgPr>
    </p:bg>
    <p:spTree>
      <p:nvGrpSpPr>
        <p:cNvPr id="1" name=""/>
        <p:cNvGrpSpPr/>
        <p:nvPr/>
      </p:nvGrpSpPr>
      <p:grpSpPr>
        <a:xfrm>
          <a:off x="0" y="0"/>
          <a:ext cx="0" cy="0"/>
          <a:chOff x="0" y="0"/>
          <a:chExt cx="0" cy="0"/>
        </a:xfrm>
      </p:grpSpPr>
      <p:sp>
        <p:nvSpPr>
          <p:cNvPr id="215" name="Text 0"/>
          <p:cNvSpPr txBox="1"/>
          <p:nvPr/>
        </p:nvSpPr>
        <p:spPr>
          <a:xfrm>
            <a:off x="548640" y="514604"/>
            <a:ext cx="10058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200">
                <a:solidFill>
                  <a:srgbClr val="06B6D4"/>
                </a:solidFill>
                <a:latin typeface="DM Sans"/>
                <a:ea typeface="DM Sans"/>
                <a:cs typeface="DM Sans"/>
                <a:sym typeface="DM Sans"/>
              </a:defRPr>
            </a:lvl1pPr>
          </a:lstStyle>
          <a:p>
            <a:pPr/>
            <a:r>
              <a:t>PRODUCT DEMO — WHAT?</a:t>
            </a:r>
          </a:p>
        </p:txBody>
      </p:sp>
      <p:sp>
        <p:nvSpPr>
          <p:cNvPr id="216" name="Text 1"/>
          <p:cNvSpPr txBox="1"/>
          <p:nvPr/>
        </p:nvSpPr>
        <p:spPr>
          <a:xfrm>
            <a:off x="548640" y="808227"/>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DM Sans"/>
                <a:ea typeface="DM Sans"/>
                <a:cs typeface="DM Sans"/>
                <a:sym typeface="DM Sans"/>
              </a:defRPr>
            </a:lvl1pPr>
          </a:lstStyle>
          <a:p>
            <a:pPr/>
            <a:r>
              <a:t>A running product, not a mockup.</a:t>
            </a:r>
          </a:p>
        </p:txBody>
      </p:sp>
      <p:sp>
        <p:nvSpPr>
          <p:cNvPr id="217" name="Shape 2"/>
          <p:cNvSpPr/>
          <p:nvPr/>
        </p:nvSpPr>
        <p:spPr>
          <a:xfrm>
            <a:off x="9098280" y="868680"/>
            <a:ext cx="1847089" cy="310897"/>
          </a:xfrm>
          <a:prstGeom prst="roundRect">
            <a:avLst>
              <a:gd name="adj" fmla="val 50000"/>
            </a:avLst>
          </a:prstGeom>
          <a:solidFill>
            <a:srgbClr val="0E2A38"/>
          </a:solidFill>
          <a:ln w="12700">
            <a:solidFill>
              <a:srgbClr val="10B981"/>
            </a:solidFill>
          </a:ln>
        </p:spPr>
        <p:txBody>
          <a:bodyPr lIns="45719" rIns="45719"/>
          <a:lstStyle/>
          <a:p>
            <a:pPr/>
          </a:p>
        </p:txBody>
      </p:sp>
      <p:sp>
        <p:nvSpPr>
          <p:cNvPr id="218" name="Text 3"/>
          <p:cNvSpPr txBox="1"/>
          <p:nvPr/>
        </p:nvSpPr>
        <p:spPr>
          <a:xfrm>
            <a:off x="9098280" y="941577"/>
            <a:ext cx="184708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10B981"/>
                </a:solidFill>
                <a:latin typeface="DM Sans"/>
                <a:ea typeface="DM Sans"/>
                <a:cs typeface="DM Sans"/>
                <a:sym typeface="DM Sans"/>
              </a:defRPr>
            </a:lvl1pPr>
          </a:lstStyle>
          <a:p>
            <a:pPr/>
            <a:r>
              <a:t>LIVE · DASHBOARD 2.0</a:t>
            </a:r>
          </a:p>
        </p:txBody>
      </p:sp>
      <p:sp>
        <p:nvSpPr>
          <p:cNvPr id="219" name="Text 41"/>
          <p:cNvSpPr txBox="1"/>
          <p:nvPr/>
        </p:nvSpPr>
        <p:spPr>
          <a:xfrm>
            <a:off x="7097485" y="1481327"/>
            <a:ext cx="4572001"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06B6D4"/>
                </a:solidFill>
                <a:latin typeface="DM Sans"/>
                <a:ea typeface="DM Sans"/>
                <a:cs typeface="DM Sans"/>
                <a:sym typeface="DM Sans"/>
              </a:defRPr>
            </a:lvl1pPr>
          </a:lstStyle>
          <a:p>
            <a:pPr/>
            <a:r>
              <a:t>The demo flow</a:t>
            </a:r>
          </a:p>
        </p:txBody>
      </p:sp>
      <p:sp>
        <p:nvSpPr>
          <p:cNvPr id="220" name="Shape 42"/>
          <p:cNvSpPr/>
          <p:nvPr/>
        </p:nvSpPr>
        <p:spPr>
          <a:xfrm>
            <a:off x="7097485" y="1824227"/>
            <a:ext cx="384049" cy="384049"/>
          </a:xfrm>
          <a:prstGeom prst="ellipse">
            <a:avLst/>
          </a:prstGeom>
          <a:solidFill>
            <a:srgbClr val="06B6D4"/>
          </a:solidFill>
          <a:ln w="12700">
            <a:miter lim="400000"/>
          </a:ln>
        </p:spPr>
        <p:txBody>
          <a:bodyPr lIns="45719" rIns="45719"/>
          <a:lstStyle/>
          <a:p>
            <a:pPr/>
          </a:p>
        </p:txBody>
      </p:sp>
      <p:sp>
        <p:nvSpPr>
          <p:cNvPr id="221" name="Text 43"/>
          <p:cNvSpPr txBox="1"/>
          <p:nvPr/>
        </p:nvSpPr>
        <p:spPr>
          <a:xfrm>
            <a:off x="7097485" y="1914651"/>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06090F"/>
                </a:solidFill>
                <a:latin typeface="DM Sans"/>
                <a:ea typeface="DM Sans"/>
                <a:cs typeface="DM Sans"/>
                <a:sym typeface="DM Sans"/>
              </a:defRPr>
            </a:lvl1pPr>
          </a:lstStyle>
          <a:p>
            <a:pPr/>
            <a:r>
              <a:t>1</a:t>
            </a:r>
          </a:p>
        </p:txBody>
      </p:sp>
      <p:sp>
        <p:nvSpPr>
          <p:cNvPr id="222" name="Text 44"/>
          <p:cNvSpPr txBox="1"/>
          <p:nvPr/>
        </p:nvSpPr>
        <p:spPr>
          <a:xfrm>
            <a:off x="7646124" y="1869694"/>
            <a:ext cx="192024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latin typeface="DM Sans"/>
                <a:ea typeface="DM Sans"/>
                <a:cs typeface="DM Sans"/>
                <a:sym typeface="DM Sans"/>
              </a:defRPr>
            </a:lvl1pPr>
          </a:lstStyle>
          <a:p>
            <a:pPr/>
            <a:r>
              <a:t>Overview</a:t>
            </a:r>
          </a:p>
        </p:txBody>
      </p:sp>
      <p:sp>
        <p:nvSpPr>
          <p:cNvPr id="223" name="Text 45"/>
          <p:cNvSpPr txBox="1"/>
          <p:nvPr/>
        </p:nvSpPr>
        <p:spPr>
          <a:xfrm>
            <a:off x="7646124" y="2138426"/>
            <a:ext cx="42062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6000"/>
              </a:lnSpc>
              <a:defRPr sz="900">
                <a:solidFill>
                  <a:srgbClr val="9AA6B4"/>
                </a:solidFill>
                <a:latin typeface="DM Sans"/>
                <a:ea typeface="DM Sans"/>
                <a:cs typeface="DM Sans"/>
                <a:sym typeface="DM Sans"/>
              </a:defRPr>
            </a:lvl1pPr>
          </a:lstStyle>
          <a:p>
            <a:pPr/>
            <a:r>
              <a:t>Interactive map, all 31 ports color-coded by congestion risk.</a:t>
            </a:r>
          </a:p>
        </p:txBody>
      </p:sp>
      <p:sp>
        <p:nvSpPr>
          <p:cNvPr id="224" name="Shape 46"/>
          <p:cNvSpPr/>
          <p:nvPr/>
        </p:nvSpPr>
        <p:spPr>
          <a:xfrm>
            <a:off x="7097485" y="2391155"/>
            <a:ext cx="384049" cy="384049"/>
          </a:xfrm>
          <a:prstGeom prst="ellipse">
            <a:avLst/>
          </a:prstGeom>
          <a:solidFill>
            <a:srgbClr val="06B6D4"/>
          </a:solidFill>
          <a:ln w="12700">
            <a:miter lim="400000"/>
          </a:ln>
        </p:spPr>
        <p:txBody>
          <a:bodyPr lIns="45719" rIns="45719"/>
          <a:lstStyle/>
          <a:p>
            <a:pPr/>
          </a:p>
        </p:txBody>
      </p:sp>
      <p:sp>
        <p:nvSpPr>
          <p:cNvPr id="225" name="Text 47"/>
          <p:cNvSpPr txBox="1"/>
          <p:nvPr/>
        </p:nvSpPr>
        <p:spPr>
          <a:xfrm>
            <a:off x="7097485" y="248157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06090F"/>
                </a:solidFill>
                <a:latin typeface="DM Sans"/>
                <a:ea typeface="DM Sans"/>
                <a:cs typeface="DM Sans"/>
                <a:sym typeface="DM Sans"/>
              </a:defRPr>
            </a:lvl1pPr>
          </a:lstStyle>
          <a:p>
            <a:pPr/>
            <a:r>
              <a:t>2</a:t>
            </a:r>
          </a:p>
        </p:txBody>
      </p:sp>
      <p:sp>
        <p:nvSpPr>
          <p:cNvPr id="226" name="Text 48"/>
          <p:cNvSpPr txBox="1"/>
          <p:nvPr/>
        </p:nvSpPr>
        <p:spPr>
          <a:xfrm>
            <a:off x="7646124" y="2436622"/>
            <a:ext cx="192024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latin typeface="DM Sans"/>
                <a:ea typeface="DM Sans"/>
                <a:cs typeface="DM Sans"/>
                <a:sym typeface="DM Sans"/>
              </a:defRPr>
            </a:lvl1pPr>
          </a:lstStyle>
          <a:p>
            <a:pPr/>
            <a:r>
              <a:t>Direction toggle</a:t>
            </a:r>
          </a:p>
        </p:txBody>
      </p:sp>
      <p:sp>
        <p:nvSpPr>
          <p:cNvPr id="227" name="Text 49"/>
          <p:cNvSpPr txBox="1"/>
          <p:nvPr/>
        </p:nvSpPr>
        <p:spPr>
          <a:xfrm>
            <a:off x="7646124" y="2705354"/>
            <a:ext cx="42062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6000"/>
              </a:lnSpc>
              <a:defRPr sz="900">
                <a:solidFill>
                  <a:srgbClr val="9AA6B4"/>
                </a:solidFill>
                <a:latin typeface="DM Sans"/>
                <a:ea typeface="DM Sans"/>
                <a:cs typeface="DM Sans"/>
                <a:sym typeface="DM Sans"/>
              </a:defRPr>
            </a:lvl1pPr>
          </a:lstStyle>
          <a:p>
            <a:pPr/>
            <a:r>
              <a:t>Import vs Export — profiles flip (Coronel busy for coal exports).</a:t>
            </a:r>
          </a:p>
        </p:txBody>
      </p:sp>
      <p:sp>
        <p:nvSpPr>
          <p:cNvPr id="228" name="Shape 50"/>
          <p:cNvSpPr/>
          <p:nvPr/>
        </p:nvSpPr>
        <p:spPr>
          <a:xfrm>
            <a:off x="7097485" y="2958083"/>
            <a:ext cx="384049" cy="384049"/>
          </a:xfrm>
          <a:prstGeom prst="ellipse">
            <a:avLst/>
          </a:prstGeom>
          <a:solidFill>
            <a:srgbClr val="06B6D4"/>
          </a:solidFill>
          <a:ln w="12700">
            <a:miter lim="400000"/>
          </a:ln>
        </p:spPr>
        <p:txBody>
          <a:bodyPr lIns="45719" rIns="45719"/>
          <a:lstStyle/>
          <a:p>
            <a:pPr/>
          </a:p>
        </p:txBody>
      </p:sp>
      <p:sp>
        <p:nvSpPr>
          <p:cNvPr id="229" name="Text 51"/>
          <p:cNvSpPr txBox="1"/>
          <p:nvPr/>
        </p:nvSpPr>
        <p:spPr>
          <a:xfrm>
            <a:off x="7097485" y="3048507"/>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06090F"/>
                </a:solidFill>
                <a:latin typeface="DM Sans"/>
                <a:ea typeface="DM Sans"/>
                <a:cs typeface="DM Sans"/>
                <a:sym typeface="DM Sans"/>
              </a:defRPr>
            </a:lvl1pPr>
          </a:lstStyle>
          <a:p>
            <a:pPr/>
            <a:r>
              <a:t>3</a:t>
            </a:r>
          </a:p>
        </p:txBody>
      </p:sp>
      <p:sp>
        <p:nvSpPr>
          <p:cNvPr id="230" name="Text 52"/>
          <p:cNvSpPr txBox="1"/>
          <p:nvPr/>
        </p:nvSpPr>
        <p:spPr>
          <a:xfrm>
            <a:off x="7646124" y="3003549"/>
            <a:ext cx="192024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latin typeface="DM Sans"/>
                <a:ea typeface="DM Sans"/>
                <a:cs typeface="DM Sans"/>
                <a:sym typeface="DM Sans"/>
              </a:defRPr>
            </a:lvl1pPr>
          </a:lstStyle>
          <a:p>
            <a:pPr/>
            <a:r>
              <a:t>Port drill-in</a:t>
            </a:r>
          </a:p>
        </p:txBody>
      </p:sp>
      <p:sp>
        <p:nvSpPr>
          <p:cNvPr id="231" name="Text 53"/>
          <p:cNvSpPr txBox="1"/>
          <p:nvPr/>
        </p:nvSpPr>
        <p:spPr>
          <a:xfrm>
            <a:off x="7646124" y="3272282"/>
            <a:ext cx="42062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6000"/>
              </a:lnSpc>
              <a:defRPr sz="900">
                <a:solidFill>
                  <a:srgbClr val="9AA6B4"/>
                </a:solidFill>
                <a:latin typeface="DM Sans"/>
                <a:ea typeface="DM Sans"/>
                <a:cs typeface="DM Sans"/>
                <a:sym typeface="DM Sans"/>
              </a:defRPr>
            </a:lvl1pPr>
          </a:lstStyle>
          <a:p>
            <a:pPr/>
            <a:r>
              <a:t>Click San Antonio: 12-mo forecast, best vs worst month, swell vs wind driver.</a:t>
            </a:r>
          </a:p>
        </p:txBody>
      </p:sp>
      <p:sp>
        <p:nvSpPr>
          <p:cNvPr id="232" name="Shape 54"/>
          <p:cNvSpPr/>
          <p:nvPr/>
        </p:nvSpPr>
        <p:spPr>
          <a:xfrm>
            <a:off x="7097485" y="3525011"/>
            <a:ext cx="384049" cy="384049"/>
          </a:xfrm>
          <a:prstGeom prst="ellipse">
            <a:avLst/>
          </a:prstGeom>
          <a:solidFill>
            <a:srgbClr val="06B6D4"/>
          </a:solidFill>
          <a:ln w="12700">
            <a:miter lim="400000"/>
          </a:ln>
        </p:spPr>
        <p:txBody>
          <a:bodyPr lIns="45719" rIns="45719"/>
          <a:lstStyle/>
          <a:p>
            <a:pPr/>
          </a:p>
        </p:txBody>
      </p:sp>
      <p:sp>
        <p:nvSpPr>
          <p:cNvPr id="233" name="Text 55"/>
          <p:cNvSpPr txBox="1"/>
          <p:nvPr/>
        </p:nvSpPr>
        <p:spPr>
          <a:xfrm>
            <a:off x="7097485" y="3615435"/>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06090F"/>
                </a:solidFill>
                <a:latin typeface="DM Sans"/>
                <a:ea typeface="DM Sans"/>
                <a:cs typeface="DM Sans"/>
                <a:sym typeface="DM Sans"/>
              </a:defRPr>
            </a:lvl1pPr>
          </a:lstStyle>
          <a:p>
            <a:pPr/>
            <a:r>
              <a:t>4</a:t>
            </a:r>
          </a:p>
        </p:txBody>
      </p:sp>
      <p:sp>
        <p:nvSpPr>
          <p:cNvPr id="234" name="Text 56"/>
          <p:cNvSpPr txBox="1"/>
          <p:nvPr/>
        </p:nvSpPr>
        <p:spPr>
          <a:xfrm>
            <a:off x="7646124" y="3570477"/>
            <a:ext cx="192024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latin typeface="DM Sans"/>
                <a:ea typeface="DM Sans"/>
                <a:cs typeface="DM Sans"/>
                <a:sym typeface="DM Sans"/>
              </a:defRPr>
            </a:lvl1pPr>
          </a:lstStyle>
          <a:p>
            <a:pPr/>
            <a:r>
              <a:t>View modes</a:t>
            </a:r>
          </a:p>
        </p:txBody>
      </p:sp>
      <p:sp>
        <p:nvSpPr>
          <p:cNvPr id="235" name="Text 57"/>
          <p:cNvSpPr txBox="1"/>
          <p:nvPr/>
        </p:nvSpPr>
        <p:spPr>
          <a:xfrm>
            <a:off x="7646124" y="3839209"/>
            <a:ext cx="42062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6000"/>
              </a:lnSpc>
              <a:defRPr sz="900">
                <a:solidFill>
                  <a:srgbClr val="9AA6B4"/>
                </a:solidFill>
                <a:latin typeface="DM Sans"/>
                <a:ea typeface="DM Sans"/>
                <a:cs typeface="DM Sans"/>
                <a:sym typeface="DM Sans"/>
              </a:defRPr>
            </a:lvl1pPr>
          </a:lstStyle>
          <a:p>
            <a:pPr/>
            <a:r>
              <a:t>Congestion / Weather / Combined — ring weather-exposed ports.</a:t>
            </a:r>
          </a:p>
        </p:txBody>
      </p:sp>
      <p:sp>
        <p:nvSpPr>
          <p:cNvPr id="236" name="Shape 58"/>
          <p:cNvSpPr/>
          <p:nvPr/>
        </p:nvSpPr>
        <p:spPr>
          <a:xfrm>
            <a:off x="7097485" y="4091940"/>
            <a:ext cx="384049" cy="384049"/>
          </a:xfrm>
          <a:prstGeom prst="ellipse">
            <a:avLst/>
          </a:prstGeom>
          <a:solidFill>
            <a:srgbClr val="06B6D4"/>
          </a:solidFill>
          <a:ln w="12700">
            <a:miter lim="400000"/>
          </a:ln>
        </p:spPr>
        <p:txBody>
          <a:bodyPr lIns="45719" rIns="45719"/>
          <a:lstStyle/>
          <a:p>
            <a:pPr/>
          </a:p>
        </p:txBody>
      </p:sp>
      <p:sp>
        <p:nvSpPr>
          <p:cNvPr id="237" name="Text 59"/>
          <p:cNvSpPr txBox="1"/>
          <p:nvPr/>
        </p:nvSpPr>
        <p:spPr>
          <a:xfrm>
            <a:off x="7097485" y="4182364"/>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06090F"/>
                </a:solidFill>
                <a:latin typeface="DM Sans"/>
                <a:ea typeface="DM Sans"/>
                <a:cs typeface="DM Sans"/>
                <a:sym typeface="DM Sans"/>
              </a:defRPr>
            </a:lvl1pPr>
          </a:lstStyle>
          <a:p>
            <a:pPr/>
            <a:r>
              <a:t>5</a:t>
            </a:r>
          </a:p>
        </p:txBody>
      </p:sp>
      <p:sp>
        <p:nvSpPr>
          <p:cNvPr id="238" name="Text 60"/>
          <p:cNvSpPr txBox="1"/>
          <p:nvPr/>
        </p:nvSpPr>
        <p:spPr>
          <a:xfrm>
            <a:off x="7646124" y="4137405"/>
            <a:ext cx="192024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latin typeface="DM Sans"/>
                <a:ea typeface="DM Sans"/>
                <a:cs typeface="DM Sans"/>
                <a:sym typeface="DM Sans"/>
              </a:defRPr>
            </a:lvl1pPr>
          </a:lstStyle>
          <a:p>
            <a:pPr/>
            <a:r>
              <a:t>Commodity analysis</a:t>
            </a:r>
          </a:p>
        </p:txBody>
      </p:sp>
      <p:sp>
        <p:nvSpPr>
          <p:cNvPr id="239" name="Text 61"/>
          <p:cNvSpPr txBox="1"/>
          <p:nvPr/>
        </p:nvSpPr>
        <p:spPr>
          <a:xfrm>
            <a:off x="7646124" y="4405049"/>
            <a:ext cx="4206241" cy="141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6000"/>
              </a:lnSpc>
              <a:defRPr sz="900">
                <a:solidFill>
                  <a:srgbClr val="9AA6B4"/>
                </a:solidFill>
                <a:latin typeface="DM Sans"/>
                <a:ea typeface="DM Sans"/>
                <a:cs typeface="DM Sans"/>
                <a:sym typeface="DM Sans"/>
              </a:defRPr>
            </a:lvl1pPr>
          </a:lstStyle>
          <a:p>
            <a:pPr/>
            <a:r>
              <a:t>Pick HS26 copper → cross-port comparison + best-port recommendation.</a:t>
            </a:r>
          </a:p>
        </p:txBody>
      </p:sp>
      <p:sp>
        <p:nvSpPr>
          <p:cNvPr id="240" name="Shape 62"/>
          <p:cNvSpPr/>
          <p:nvPr/>
        </p:nvSpPr>
        <p:spPr>
          <a:xfrm>
            <a:off x="7097485" y="4658867"/>
            <a:ext cx="384049" cy="384049"/>
          </a:xfrm>
          <a:prstGeom prst="ellipse">
            <a:avLst/>
          </a:prstGeom>
          <a:solidFill>
            <a:srgbClr val="06B6D4"/>
          </a:solidFill>
          <a:ln w="12700">
            <a:miter lim="400000"/>
          </a:ln>
        </p:spPr>
        <p:txBody>
          <a:bodyPr lIns="45719" rIns="45719"/>
          <a:lstStyle/>
          <a:p>
            <a:pPr/>
          </a:p>
        </p:txBody>
      </p:sp>
      <p:sp>
        <p:nvSpPr>
          <p:cNvPr id="241" name="Text 63"/>
          <p:cNvSpPr txBox="1"/>
          <p:nvPr/>
        </p:nvSpPr>
        <p:spPr>
          <a:xfrm>
            <a:off x="7097485" y="4749291"/>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06090F"/>
                </a:solidFill>
                <a:latin typeface="DM Sans"/>
                <a:ea typeface="DM Sans"/>
                <a:cs typeface="DM Sans"/>
                <a:sym typeface="DM Sans"/>
              </a:defRPr>
            </a:lvl1pPr>
          </a:lstStyle>
          <a:p>
            <a:pPr/>
            <a:r>
              <a:t>6</a:t>
            </a:r>
          </a:p>
        </p:txBody>
      </p:sp>
      <p:sp>
        <p:nvSpPr>
          <p:cNvPr id="242" name="Text 64"/>
          <p:cNvSpPr txBox="1"/>
          <p:nvPr/>
        </p:nvSpPr>
        <p:spPr>
          <a:xfrm>
            <a:off x="7646124" y="4704333"/>
            <a:ext cx="192024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latin typeface="DM Sans"/>
                <a:ea typeface="DM Sans"/>
                <a:cs typeface="DM Sans"/>
                <a:sym typeface="DM Sans"/>
              </a:defRPr>
            </a:lvl1pPr>
          </a:lstStyle>
          <a:p>
            <a:pPr/>
            <a:r>
              <a:t>The routing decision</a:t>
            </a:r>
          </a:p>
        </p:txBody>
      </p:sp>
      <p:sp>
        <p:nvSpPr>
          <p:cNvPr id="243" name="Text 65"/>
          <p:cNvSpPr txBox="1"/>
          <p:nvPr/>
        </p:nvSpPr>
        <p:spPr>
          <a:xfrm>
            <a:off x="7646124" y="4973065"/>
            <a:ext cx="42062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6000"/>
              </a:lnSpc>
              <a:defRPr sz="900">
                <a:solidFill>
                  <a:srgbClr val="9AA6B4"/>
                </a:solidFill>
                <a:latin typeface="DM Sans"/>
                <a:ea typeface="DM Sans"/>
                <a:cs typeface="DM Sans"/>
                <a:sym typeface="DM Sans"/>
              </a:defRPr>
            </a:lvl1pPr>
          </a:lstStyle>
          <a:p>
            <a:pPr/>
            <a:r>
              <a:t>“Aha”: a port they never considered is best for their commodity.</a:t>
            </a:r>
          </a:p>
        </p:txBody>
      </p:sp>
      <p:sp>
        <p:nvSpPr>
          <p:cNvPr id="244" name="Shape 66"/>
          <p:cNvSpPr/>
          <p:nvPr/>
        </p:nvSpPr>
        <p:spPr>
          <a:xfrm>
            <a:off x="548640" y="5440679"/>
            <a:ext cx="11064241" cy="841249"/>
          </a:xfrm>
          <a:prstGeom prst="roundRect">
            <a:avLst>
              <a:gd name="adj" fmla="val 8696"/>
            </a:avLst>
          </a:prstGeom>
          <a:solidFill>
            <a:srgbClr val="111A2B"/>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pic>
        <p:nvPicPr>
          <p:cNvPr id="245" name="Image 1" descr="Image 1"/>
          <p:cNvPicPr>
            <a:picLocks noChangeAspect="1"/>
          </p:cNvPicPr>
          <p:nvPr/>
        </p:nvPicPr>
        <p:blipFill>
          <a:blip r:embed="rId3">
            <a:extLst/>
          </a:blip>
          <a:stretch>
            <a:fillRect/>
          </a:stretch>
        </p:blipFill>
        <p:spPr>
          <a:xfrm>
            <a:off x="822960" y="5650991"/>
            <a:ext cx="411481" cy="411481"/>
          </a:xfrm>
          <a:prstGeom prst="rect">
            <a:avLst/>
          </a:prstGeom>
          <a:ln w="12700">
            <a:miter lim="400000"/>
          </a:ln>
        </p:spPr>
      </p:pic>
      <p:sp>
        <p:nvSpPr>
          <p:cNvPr id="246" name="Text 67"/>
          <p:cNvSpPr txBox="1"/>
          <p:nvPr/>
        </p:nvSpPr>
        <p:spPr>
          <a:xfrm>
            <a:off x="1371600" y="5695823"/>
            <a:ext cx="10058400" cy="34010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5999"/>
              </a:lnSpc>
              <a:defRPr b="1" sz="1100">
                <a:solidFill>
                  <a:srgbClr val="06B6D4"/>
                </a:solidFill>
                <a:latin typeface="DM Sans"/>
                <a:ea typeface="DM Sans"/>
                <a:cs typeface="DM Sans"/>
                <a:sym typeface="DM Sans"/>
              </a:defRPr>
            </a:pPr>
            <a:r>
              <a:t>Scientific rigor:  </a:t>
            </a:r>
            <a:r>
              <a:rPr b="0">
                <a:solidFill>
                  <a:srgbClr val="E2E8F0"/>
                </a:solidFill>
              </a:rPr>
              <a:t>we found two data-leakage bugs that inflated accuracy (R² looked like 0.91, was honestly 0.57). We caught them via cross-model comparison, fixed them, and report only honest numbers — </a:t>
            </a:r>
            <a:r>
              <a:rPr>
                <a:solidFill>
                  <a:srgbClr val="FFFFFF"/>
                </a:solidFill>
              </a:rPr>
              <a:t>4.03% wMAPE</a:t>
            </a:r>
            <a:r>
              <a:rPr b="0">
                <a:solidFill>
                  <a:srgbClr val="E2E8F0"/>
                </a:solidFill>
              </a:rPr>
              <a:t>, stress-tested across 4 temporal folds including the COVID break.</a:t>
            </a:r>
          </a:p>
        </p:txBody>
      </p:sp>
      <p:sp>
        <p:nvSpPr>
          <p:cNvPr id="247" name="Text 68"/>
          <p:cNvSpPr txBox="1"/>
          <p:nvPr/>
        </p:nvSpPr>
        <p:spPr>
          <a:xfrm>
            <a:off x="502919" y="6461759"/>
            <a:ext cx="27432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64748B"/>
                </a:solidFill>
                <a:latin typeface="DM Sans"/>
                <a:ea typeface="DM Sans"/>
                <a:cs typeface="DM Sans"/>
                <a:sym typeface="DM Sans"/>
              </a:defRPr>
            </a:lvl1pPr>
          </a:lstStyle>
          <a:p>
            <a:pPr/>
            <a:r>
              <a:t>Waze Cargo</a:t>
            </a:r>
          </a:p>
        </p:txBody>
      </p:sp>
      <p:sp>
        <p:nvSpPr>
          <p:cNvPr id="248" name="Text 69"/>
          <p:cNvSpPr txBox="1"/>
          <p:nvPr/>
        </p:nvSpPr>
        <p:spPr>
          <a:xfrm>
            <a:off x="10728655" y="6461759"/>
            <a:ext cx="96012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latin typeface="DM Sans"/>
                <a:ea typeface="DM Sans"/>
                <a:cs typeface="DM Sans"/>
                <a:sym typeface="DM Sans"/>
              </a:defRPr>
            </a:lvl1pPr>
          </a:lstStyle>
          <a:p>
            <a:pPr/>
            <a:r>
              <a:t>07 / 14</a:t>
            </a:r>
          </a:p>
        </p:txBody>
      </p:sp>
      <p:pic>
        <p:nvPicPr>
          <p:cNvPr id="249" name="Picture 76" descr="Picture 76"/>
          <p:cNvPicPr>
            <a:picLocks noChangeAspect="1"/>
          </p:cNvPicPr>
          <p:nvPr/>
        </p:nvPicPr>
        <p:blipFill>
          <a:blip r:embed="rId4">
            <a:extLst/>
          </a:blip>
          <a:stretch>
            <a:fillRect/>
          </a:stretch>
        </p:blipFill>
        <p:spPr>
          <a:xfrm>
            <a:off x="548638" y="1275888"/>
            <a:ext cx="6384254" cy="3980277"/>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6090F"/>
        </a:solidFill>
      </p:bgPr>
    </p:bg>
    <p:spTree>
      <p:nvGrpSpPr>
        <p:cNvPr id="1" name=""/>
        <p:cNvGrpSpPr/>
        <p:nvPr/>
      </p:nvGrpSpPr>
      <p:grpSpPr>
        <a:xfrm>
          <a:off x="0" y="0"/>
          <a:ext cx="0" cy="0"/>
          <a:chOff x="0" y="0"/>
          <a:chExt cx="0" cy="0"/>
        </a:xfrm>
      </p:grpSpPr>
      <p:sp>
        <p:nvSpPr>
          <p:cNvPr id="253" name="Text 0"/>
          <p:cNvSpPr txBox="1"/>
          <p:nvPr/>
        </p:nvSpPr>
        <p:spPr>
          <a:xfrm>
            <a:off x="548640" y="514604"/>
            <a:ext cx="10058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200">
                <a:solidFill>
                  <a:srgbClr val="06B6D4"/>
                </a:solidFill>
                <a:latin typeface="DM Sans"/>
                <a:ea typeface="DM Sans"/>
                <a:cs typeface="DM Sans"/>
                <a:sym typeface="DM Sans"/>
              </a:defRPr>
            </a:lvl1pPr>
          </a:lstStyle>
          <a:p>
            <a:pPr/>
            <a:r>
              <a:t>PROOF — LIVE 2026 ACCURACY</a:t>
            </a:r>
          </a:p>
        </p:txBody>
      </p:sp>
      <p:sp>
        <p:nvSpPr>
          <p:cNvPr id="254" name="Text 1"/>
          <p:cNvSpPr txBox="1"/>
          <p:nvPr/>
        </p:nvSpPr>
        <p:spPr>
          <a:xfrm>
            <a:off x="548639" y="909828"/>
            <a:ext cx="11155682"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FFFFF"/>
                </a:solidFill>
                <a:latin typeface="DM Sans"/>
                <a:ea typeface="DM Sans"/>
                <a:cs typeface="DM Sans"/>
                <a:sym typeface="DM Sans"/>
              </a:defRPr>
            </a:lvl1pPr>
          </a:lstStyle>
          <a:p>
            <a:pPr/>
            <a:r>
              <a:t>The forecast is holding up out-of-sample.</a:t>
            </a:r>
          </a:p>
        </p:txBody>
      </p:sp>
      <p:sp>
        <p:nvSpPr>
          <p:cNvPr id="255" name="Text 2"/>
          <p:cNvSpPr txBox="1"/>
          <p:nvPr/>
        </p:nvSpPr>
        <p:spPr>
          <a:xfrm>
            <a:off x="548639" y="1525523"/>
            <a:ext cx="11064242" cy="41452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000"/>
              </a:lnSpc>
              <a:defRPr sz="1300">
                <a:solidFill>
                  <a:srgbClr val="AEB9C7"/>
                </a:solidFill>
                <a:latin typeface="DM Sans"/>
                <a:ea typeface="DM Sans"/>
                <a:cs typeface="DM Sans"/>
                <a:sym typeface="DM Sans"/>
              </a:defRPr>
            </a:lvl1pPr>
          </a:lstStyle>
          <a:p>
            <a:pPr/>
            <a:r>
              <a:t>We forecast 2026 before the year happened. Five months in, here’s the model graded against actual customs data (Jan–May 2026) — fully out-of-sample.</a:t>
            </a:r>
          </a:p>
        </p:txBody>
      </p:sp>
      <p:sp>
        <p:nvSpPr>
          <p:cNvPr id="256" name="Shape 3"/>
          <p:cNvSpPr/>
          <p:nvPr/>
        </p:nvSpPr>
        <p:spPr>
          <a:xfrm>
            <a:off x="548640" y="2103120"/>
            <a:ext cx="5074921" cy="1874521"/>
          </a:xfrm>
          <a:prstGeom prst="roundRect">
            <a:avLst>
              <a:gd name="adj" fmla="val 4878"/>
            </a:avLst>
          </a:prstGeom>
          <a:solidFill>
            <a:srgbClr val="111A2B"/>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257" name="Text 4"/>
          <p:cNvSpPr txBox="1"/>
          <p:nvPr/>
        </p:nvSpPr>
        <p:spPr>
          <a:xfrm>
            <a:off x="822960" y="2344420"/>
            <a:ext cx="45720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06B6D4"/>
                </a:solidFill>
                <a:latin typeface="DM Sans"/>
                <a:ea typeface="DM Sans"/>
                <a:cs typeface="DM Sans"/>
                <a:sym typeface="DM Sans"/>
              </a:defRPr>
            </a:lvl1pPr>
          </a:lstStyle>
          <a:p>
            <a:pPr/>
            <a:r>
              <a:t>National totals · Jan–May 2026</a:t>
            </a:r>
          </a:p>
        </p:txBody>
      </p:sp>
      <p:sp>
        <p:nvSpPr>
          <p:cNvPr id="258" name="Text 6"/>
          <p:cNvSpPr txBox="1"/>
          <p:nvPr/>
        </p:nvSpPr>
        <p:spPr>
          <a:xfrm>
            <a:off x="1920239" y="2776727"/>
            <a:ext cx="1207009"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64748B"/>
                </a:solidFill>
                <a:latin typeface="DM Sans"/>
                <a:ea typeface="DM Sans"/>
                <a:cs typeface="DM Sans"/>
                <a:sym typeface="DM Sans"/>
              </a:defRPr>
            </a:lvl1pPr>
          </a:lstStyle>
          <a:p>
            <a:pPr/>
            <a:r>
              <a:t>Imports</a:t>
            </a:r>
          </a:p>
        </p:txBody>
      </p:sp>
      <p:sp>
        <p:nvSpPr>
          <p:cNvPr id="259" name="Text 7"/>
          <p:cNvSpPr txBox="1"/>
          <p:nvPr/>
        </p:nvSpPr>
        <p:spPr>
          <a:xfrm>
            <a:off x="3127248" y="2776727"/>
            <a:ext cx="1207009"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64748B"/>
                </a:solidFill>
                <a:latin typeface="DM Sans"/>
                <a:ea typeface="DM Sans"/>
                <a:cs typeface="DM Sans"/>
                <a:sym typeface="DM Sans"/>
              </a:defRPr>
            </a:lvl1pPr>
          </a:lstStyle>
          <a:p>
            <a:pPr/>
            <a:r>
              <a:t>Exports</a:t>
            </a:r>
          </a:p>
        </p:txBody>
      </p:sp>
      <p:sp>
        <p:nvSpPr>
          <p:cNvPr id="260" name="Text 8"/>
          <p:cNvSpPr txBox="1"/>
          <p:nvPr/>
        </p:nvSpPr>
        <p:spPr>
          <a:xfrm>
            <a:off x="4334255" y="2776727"/>
            <a:ext cx="1207009"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64748B"/>
                </a:solidFill>
                <a:latin typeface="DM Sans"/>
                <a:ea typeface="DM Sans"/>
                <a:cs typeface="DM Sans"/>
                <a:sym typeface="DM Sans"/>
              </a:defRPr>
            </a:lvl1pPr>
          </a:lstStyle>
          <a:p>
            <a:pPr/>
            <a:r>
              <a:t>Total</a:t>
            </a:r>
          </a:p>
        </p:txBody>
      </p:sp>
      <p:sp>
        <p:nvSpPr>
          <p:cNvPr id="261" name="Shape 9"/>
          <p:cNvSpPr/>
          <p:nvPr/>
        </p:nvSpPr>
        <p:spPr>
          <a:xfrm>
            <a:off x="822959" y="3008376"/>
            <a:ext cx="4443986" cy="1"/>
          </a:xfrm>
          <a:prstGeom prst="line">
            <a:avLst/>
          </a:prstGeom>
          <a:ln>
            <a:solidFill>
              <a:srgbClr val="172033"/>
            </a:solidFill>
          </a:ln>
        </p:spPr>
        <p:txBody>
          <a:bodyPr lIns="45719" rIns="45719"/>
          <a:lstStyle/>
          <a:p>
            <a:pPr/>
          </a:p>
        </p:txBody>
      </p:sp>
      <p:sp>
        <p:nvSpPr>
          <p:cNvPr id="262" name="Text 10"/>
          <p:cNvSpPr txBox="1"/>
          <p:nvPr/>
        </p:nvSpPr>
        <p:spPr>
          <a:xfrm>
            <a:off x="822960" y="3081274"/>
            <a:ext cx="109728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AEB9C7"/>
                </a:solidFill>
                <a:latin typeface="DM Sans"/>
                <a:ea typeface="DM Sans"/>
                <a:cs typeface="DM Sans"/>
                <a:sym typeface="DM Sans"/>
              </a:defRPr>
            </a:lvl1pPr>
          </a:lstStyle>
          <a:p>
            <a:pPr/>
            <a:r>
              <a:t>Actual</a:t>
            </a:r>
          </a:p>
        </p:txBody>
      </p:sp>
      <p:sp>
        <p:nvSpPr>
          <p:cNvPr id="263" name="Text 11"/>
          <p:cNvSpPr txBox="1"/>
          <p:nvPr/>
        </p:nvSpPr>
        <p:spPr>
          <a:xfrm>
            <a:off x="1920239" y="3081274"/>
            <a:ext cx="120700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E2E8F0"/>
                </a:solidFill>
                <a:latin typeface="DM Sans"/>
                <a:ea typeface="DM Sans"/>
                <a:cs typeface="DM Sans"/>
                <a:sym typeface="DM Sans"/>
              </a:defRPr>
            </a:lvl1pPr>
          </a:lstStyle>
          <a:p>
            <a:pPr/>
            <a:r>
              <a:t>316,634</a:t>
            </a:r>
          </a:p>
        </p:txBody>
      </p:sp>
      <p:sp>
        <p:nvSpPr>
          <p:cNvPr id="264" name="Text 12"/>
          <p:cNvSpPr txBox="1"/>
          <p:nvPr/>
        </p:nvSpPr>
        <p:spPr>
          <a:xfrm>
            <a:off x="3127248" y="3081274"/>
            <a:ext cx="120700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E2E8F0"/>
                </a:solidFill>
                <a:latin typeface="DM Sans"/>
                <a:ea typeface="DM Sans"/>
                <a:cs typeface="DM Sans"/>
                <a:sym typeface="DM Sans"/>
              </a:defRPr>
            </a:lvl1pPr>
          </a:lstStyle>
          <a:p>
            <a:pPr/>
            <a:r>
              <a:t>77,303</a:t>
            </a:r>
          </a:p>
        </p:txBody>
      </p:sp>
      <p:sp>
        <p:nvSpPr>
          <p:cNvPr id="265" name="Text 13"/>
          <p:cNvSpPr txBox="1"/>
          <p:nvPr/>
        </p:nvSpPr>
        <p:spPr>
          <a:xfrm>
            <a:off x="4334255" y="3081274"/>
            <a:ext cx="120700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E2E8F0"/>
                </a:solidFill>
                <a:latin typeface="DM Sans"/>
                <a:ea typeface="DM Sans"/>
                <a:cs typeface="DM Sans"/>
                <a:sym typeface="DM Sans"/>
              </a:defRPr>
            </a:lvl1pPr>
          </a:lstStyle>
          <a:p>
            <a:pPr/>
            <a:r>
              <a:t>393,937</a:t>
            </a:r>
          </a:p>
        </p:txBody>
      </p:sp>
      <p:sp>
        <p:nvSpPr>
          <p:cNvPr id="266" name="Text 14"/>
          <p:cNvSpPr txBox="1"/>
          <p:nvPr/>
        </p:nvSpPr>
        <p:spPr>
          <a:xfrm>
            <a:off x="822960" y="3392169"/>
            <a:ext cx="109728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AEB9C7"/>
                </a:solidFill>
                <a:latin typeface="DM Sans"/>
                <a:ea typeface="DM Sans"/>
                <a:cs typeface="DM Sans"/>
                <a:sym typeface="DM Sans"/>
              </a:defRPr>
            </a:lvl1pPr>
          </a:lstStyle>
          <a:p>
            <a:pPr/>
            <a:r>
              <a:t>Forecast</a:t>
            </a:r>
          </a:p>
        </p:txBody>
      </p:sp>
      <p:sp>
        <p:nvSpPr>
          <p:cNvPr id="267" name="Text 15"/>
          <p:cNvSpPr txBox="1"/>
          <p:nvPr/>
        </p:nvSpPr>
        <p:spPr>
          <a:xfrm>
            <a:off x="1920239" y="3392169"/>
            <a:ext cx="120700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E2E8F0"/>
                </a:solidFill>
                <a:latin typeface="DM Sans"/>
                <a:ea typeface="DM Sans"/>
                <a:cs typeface="DM Sans"/>
                <a:sym typeface="DM Sans"/>
              </a:defRPr>
            </a:lvl1pPr>
          </a:lstStyle>
          <a:p>
            <a:pPr/>
            <a:r>
              <a:t>341,052</a:t>
            </a:r>
          </a:p>
        </p:txBody>
      </p:sp>
      <p:sp>
        <p:nvSpPr>
          <p:cNvPr id="268" name="Text 16"/>
          <p:cNvSpPr txBox="1"/>
          <p:nvPr/>
        </p:nvSpPr>
        <p:spPr>
          <a:xfrm>
            <a:off x="3127248" y="3392169"/>
            <a:ext cx="120700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E2E8F0"/>
                </a:solidFill>
                <a:latin typeface="DM Sans"/>
                <a:ea typeface="DM Sans"/>
                <a:cs typeface="DM Sans"/>
                <a:sym typeface="DM Sans"/>
              </a:defRPr>
            </a:lvl1pPr>
          </a:lstStyle>
          <a:p>
            <a:pPr/>
            <a:r>
              <a:t>80,757</a:t>
            </a:r>
          </a:p>
        </p:txBody>
      </p:sp>
      <p:sp>
        <p:nvSpPr>
          <p:cNvPr id="269" name="Text 17"/>
          <p:cNvSpPr txBox="1"/>
          <p:nvPr/>
        </p:nvSpPr>
        <p:spPr>
          <a:xfrm>
            <a:off x="4334255" y="3392169"/>
            <a:ext cx="120700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E2E8F0"/>
                </a:solidFill>
                <a:latin typeface="DM Sans"/>
                <a:ea typeface="DM Sans"/>
                <a:cs typeface="DM Sans"/>
                <a:sym typeface="DM Sans"/>
              </a:defRPr>
            </a:lvl1pPr>
          </a:lstStyle>
          <a:p>
            <a:pPr/>
            <a:r>
              <a:t>421,809</a:t>
            </a:r>
          </a:p>
        </p:txBody>
      </p:sp>
      <p:sp>
        <p:nvSpPr>
          <p:cNvPr id="270" name="Shape 18"/>
          <p:cNvSpPr/>
          <p:nvPr/>
        </p:nvSpPr>
        <p:spPr>
          <a:xfrm>
            <a:off x="822959" y="3630167"/>
            <a:ext cx="4443986" cy="1"/>
          </a:xfrm>
          <a:prstGeom prst="line">
            <a:avLst/>
          </a:prstGeom>
          <a:ln>
            <a:solidFill>
              <a:srgbClr val="172033"/>
            </a:solidFill>
          </a:ln>
        </p:spPr>
        <p:txBody>
          <a:bodyPr lIns="45719" rIns="45719"/>
          <a:lstStyle/>
          <a:p>
            <a:pPr/>
          </a:p>
        </p:txBody>
      </p:sp>
      <p:sp>
        <p:nvSpPr>
          <p:cNvPr id="271" name="Text 19"/>
          <p:cNvSpPr txBox="1"/>
          <p:nvPr/>
        </p:nvSpPr>
        <p:spPr>
          <a:xfrm>
            <a:off x="822960" y="3703065"/>
            <a:ext cx="109728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59E0B"/>
                </a:solidFill>
                <a:latin typeface="DM Sans"/>
                <a:ea typeface="DM Sans"/>
                <a:cs typeface="DM Sans"/>
                <a:sym typeface="DM Sans"/>
              </a:defRPr>
            </a:lvl1pPr>
          </a:lstStyle>
          <a:p>
            <a:pPr/>
            <a:r>
              <a:t>Error</a:t>
            </a:r>
          </a:p>
        </p:txBody>
      </p:sp>
      <p:sp>
        <p:nvSpPr>
          <p:cNvPr id="272" name="Text 20"/>
          <p:cNvSpPr txBox="1"/>
          <p:nvPr/>
        </p:nvSpPr>
        <p:spPr>
          <a:xfrm>
            <a:off x="1920239" y="3703065"/>
            <a:ext cx="120700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100">
                <a:solidFill>
                  <a:srgbClr val="F59E0B"/>
                </a:solidFill>
                <a:latin typeface="DM Sans"/>
                <a:ea typeface="DM Sans"/>
                <a:cs typeface="DM Sans"/>
                <a:sym typeface="DM Sans"/>
              </a:defRPr>
            </a:lvl1pPr>
          </a:lstStyle>
          <a:p>
            <a:pPr/>
            <a:r>
              <a:t>+7.7%</a:t>
            </a:r>
          </a:p>
        </p:txBody>
      </p:sp>
      <p:sp>
        <p:nvSpPr>
          <p:cNvPr id="273" name="Text 21"/>
          <p:cNvSpPr txBox="1"/>
          <p:nvPr/>
        </p:nvSpPr>
        <p:spPr>
          <a:xfrm>
            <a:off x="3127248" y="3703065"/>
            <a:ext cx="120700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100">
                <a:solidFill>
                  <a:srgbClr val="F59E0B"/>
                </a:solidFill>
                <a:latin typeface="DM Sans"/>
                <a:ea typeface="DM Sans"/>
                <a:cs typeface="DM Sans"/>
                <a:sym typeface="DM Sans"/>
              </a:defRPr>
            </a:lvl1pPr>
          </a:lstStyle>
          <a:p>
            <a:pPr/>
            <a:r>
              <a:t>+4.5%</a:t>
            </a:r>
          </a:p>
        </p:txBody>
      </p:sp>
      <p:sp>
        <p:nvSpPr>
          <p:cNvPr id="274" name="Text 22"/>
          <p:cNvSpPr txBox="1"/>
          <p:nvPr/>
        </p:nvSpPr>
        <p:spPr>
          <a:xfrm>
            <a:off x="4334255" y="3703065"/>
            <a:ext cx="120700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100">
                <a:solidFill>
                  <a:srgbClr val="06B6D4"/>
                </a:solidFill>
                <a:latin typeface="DM Sans"/>
                <a:ea typeface="DM Sans"/>
                <a:cs typeface="DM Sans"/>
                <a:sym typeface="DM Sans"/>
              </a:defRPr>
            </a:lvl1pPr>
          </a:lstStyle>
          <a:p>
            <a:pPr/>
            <a:r>
              <a:t>+7.1%</a:t>
            </a:r>
          </a:p>
        </p:txBody>
      </p:sp>
      <p:sp>
        <p:nvSpPr>
          <p:cNvPr id="275" name="Shape 23"/>
          <p:cNvSpPr/>
          <p:nvPr/>
        </p:nvSpPr>
        <p:spPr>
          <a:xfrm>
            <a:off x="5806440" y="2103120"/>
            <a:ext cx="5806441" cy="1874521"/>
          </a:xfrm>
          <a:prstGeom prst="roundRect">
            <a:avLst>
              <a:gd name="adj" fmla="val 4878"/>
            </a:avLst>
          </a:prstGeom>
          <a:solidFill>
            <a:srgbClr val="111A2B"/>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276" name="Text 24"/>
          <p:cNvSpPr txBox="1"/>
          <p:nvPr/>
        </p:nvSpPr>
        <p:spPr>
          <a:xfrm>
            <a:off x="6080759" y="2344420"/>
            <a:ext cx="45720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06B6D4"/>
                </a:solidFill>
                <a:latin typeface="DM Sans"/>
                <a:ea typeface="DM Sans"/>
                <a:cs typeface="DM Sans"/>
                <a:sym typeface="DM Sans"/>
              </a:defRPr>
            </a:lvl1pPr>
          </a:lstStyle>
          <a:p>
            <a:pPr/>
            <a:r>
              <a:t>Accuracy by port size (wMAPE)</a:t>
            </a:r>
          </a:p>
        </p:txBody>
      </p:sp>
      <p:sp>
        <p:nvSpPr>
          <p:cNvPr id="277" name="Text 25"/>
          <p:cNvSpPr txBox="1"/>
          <p:nvPr/>
        </p:nvSpPr>
        <p:spPr>
          <a:xfrm>
            <a:off x="6080759" y="2758440"/>
            <a:ext cx="173736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E2E8F0"/>
                </a:solidFill>
                <a:latin typeface="DM Sans"/>
                <a:ea typeface="DM Sans"/>
                <a:cs typeface="DM Sans"/>
                <a:sym typeface="DM Sans"/>
              </a:defRPr>
            </a:lvl1pPr>
          </a:lstStyle>
          <a:p>
            <a:pPr/>
            <a:r>
              <a:t>Large ≥500/mo</a:t>
            </a:r>
          </a:p>
        </p:txBody>
      </p:sp>
      <p:sp>
        <p:nvSpPr>
          <p:cNvPr id="278" name="Text 26"/>
          <p:cNvSpPr txBox="1"/>
          <p:nvPr/>
        </p:nvSpPr>
        <p:spPr>
          <a:xfrm>
            <a:off x="7818119" y="2764790"/>
            <a:ext cx="82296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DM Sans"/>
                <a:ea typeface="DM Sans"/>
                <a:cs typeface="DM Sans"/>
                <a:sym typeface="DM Sans"/>
              </a:defRPr>
            </a:lvl1pPr>
          </a:lstStyle>
          <a:p>
            <a:pPr/>
            <a:r>
              <a:t>11 pairs</a:t>
            </a:r>
          </a:p>
        </p:txBody>
      </p:sp>
      <p:sp>
        <p:nvSpPr>
          <p:cNvPr id="279" name="Shape 27"/>
          <p:cNvSpPr/>
          <p:nvPr/>
        </p:nvSpPr>
        <p:spPr>
          <a:xfrm>
            <a:off x="8686800" y="2761488"/>
            <a:ext cx="1828800" cy="146305"/>
          </a:xfrm>
          <a:prstGeom prst="roundRect">
            <a:avLst>
              <a:gd name="adj" fmla="val 18750"/>
            </a:avLst>
          </a:prstGeom>
          <a:solidFill>
            <a:srgbClr val="0A0E16"/>
          </a:solidFill>
          <a:ln w="12700">
            <a:miter lim="400000"/>
          </a:ln>
        </p:spPr>
        <p:txBody>
          <a:bodyPr lIns="45719" rIns="45719"/>
          <a:lstStyle/>
          <a:p>
            <a:pPr/>
          </a:p>
        </p:txBody>
      </p:sp>
      <p:sp>
        <p:nvSpPr>
          <p:cNvPr id="280" name="Shape 28"/>
          <p:cNvSpPr/>
          <p:nvPr/>
        </p:nvSpPr>
        <p:spPr>
          <a:xfrm>
            <a:off x="8686800" y="2761488"/>
            <a:ext cx="505969" cy="146305"/>
          </a:xfrm>
          <a:prstGeom prst="roundRect">
            <a:avLst>
              <a:gd name="adj" fmla="val 18750"/>
            </a:avLst>
          </a:prstGeom>
          <a:solidFill>
            <a:srgbClr val="10B981"/>
          </a:solidFill>
          <a:ln w="12700">
            <a:miter lim="400000"/>
          </a:ln>
        </p:spPr>
        <p:txBody>
          <a:bodyPr lIns="45719" rIns="45719"/>
          <a:lstStyle/>
          <a:p>
            <a:pPr/>
          </a:p>
        </p:txBody>
      </p:sp>
      <p:sp>
        <p:nvSpPr>
          <p:cNvPr id="281" name="Text 29"/>
          <p:cNvSpPr txBox="1"/>
          <p:nvPr/>
        </p:nvSpPr>
        <p:spPr>
          <a:xfrm>
            <a:off x="10588752" y="2758440"/>
            <a:ext cx="59436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0B981"/>
                </a:solidFill>
                <a:latin typeface="DM Sans"/>
                <a:ea typeface="DM Sans"/>
                <a:cs typeface="DM Sans"/>
                <a:sym typeface="DM Sans"/>
              </a:defRPr>
            </a:lvl1pPr>
          </a:lstStyle>
          <a:p>
            <a:pPr/>
            <a:r>
              <a:t>8.3%</a:t>
            </a:r>
          </a:p>
        </p:txBody>
      </p:sp>
      <p:sp>
        <p:nvSpPr>
          <p:cNvPr id="282" name="Text 30"/>
          <p:cNvSpPr txBox="1"/>
          <p:nvPr/>
        </p:nvSpPr>
        <p:spPr>
          <a:xfrm>
            <a:off x="6080759" y="3142488"/>
            <a:ext cx="173736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E2E8F0"/>
                </a:solidFill>
                <a:latin typeface="DM Sans"/>
                <a:ea typeface="DM Sans"/>
                <a:cs typeface="DM Sans"/>
                <a:sym typeface="DM Sans"/>
              </a:defRPr>
            </a:lvl1pPr>
          </a:lstStyle>
          <a:p>
            <a:pPr/>
            <a:r>
              <a:t>Medium 50–500</a:t>
            </a:r>
          </a:p>
        </p:txBody>
      </p:sp>
      <p:sp>
        <p:nvSpPr>
          <p:cNvPr id="283" name="Text 31"/>
          <p:cNvSpPr txBox="1"/>
          <p:nvPr/>
        </p:nvSpPr>
        <p:spPr>
          <a:xfrm>
            <a:off x="7818119" y="3148838"/>
            <a:ext cx="82296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DM Sans"/>
                <a:ea typeface="DM Sans"/>
                <a:cs typeface="DM Sans"/>
                <a:sym typeface="DM Sans"/>
              </a:defRPr>
            </a:lvl1pPr>
          </a:lstStyle>
          <a:p>
            <a:pPr/>
            <a:r>
              <a:t>10 pairs</a:t>
            </a:r>
          </a:p>
        </p:txBody>
      </p:sp>
      <p:sp>
        <p:nvSpPr>
          <p:cNvPr id="284" name="Shape 32"/>
          <p:cNvSpPr/>
          <p:nvPr/>
        </p:nvSpPr>
        <p:spPr>
          <a:xfrm>
            <a:off x="8686800" y="3145535"/>
            <a:ext cx="1828800" cy="146305"/>
          </a:xfrm>
          <a:prstGeom prst="roundRect">
            <a:avLst>
              <a:gd name="adj" fmla="val 18750"/>
            </a:avLst>
          </a:prstGeom>
          <a:solidFill>
            <a:srgbClr val="0A0E16"/>
          </a:solidFill>
          <a:ln w="12700">
            <a:miter lim="400000"/>
          </a:ln>
        </p:spPr>
        <p:txBody>
          <a:bodyPr lIns="45719" rIns="45719"/>
          <a:lstStyle/>
          <a:p>
            <a:pPr/>
          </a:p>
        </p:txBody>
      </p:sp>
      <p:sp>
        <p:nvSpPr>
          <p:cNvPr id="285" name="Shape 33"/>
          <p:cNvSpPr/>
          <p:nvPr/>
        </p:nvSpPr>
        <p:spPr>
          <a:xfrm>
            <a:off x="8686800" y="3145535"/>
            <a:ext cx="1042417" cy="146305"/>
          </a:xfrm>
          <a:prstGeom prst="roundRect">
            <a:avLst>
              <a:gd name="adj" fmla="val 18750"/>
            </a:avLst>
          </a:prstGeom>
          <a:solidFill>
            <a:srgbClr val="F59E0B"/>
          </a:solidFill>
          <a:ln w="12700">
            <a:miter lim="400000"/>
          </a:ln>
        </p:spPr>
        <p:txBody>
          <a:bodyPr lIns="45719" rIns="45719"/>
          <a:lstStyle/>
          <a:p>
            <a:pPr/>
          </a:p>
        </p:txBody>
      </p:sp>
      <p:sp>
        <p:nvSpPr>
          <p:cNvPr id="286" name="Text 34"/>
          <p:cNvSpPr txBox="1"/>
          <p:nvPr/>
        </p:nvSpPr>
        <p:spPr>
          <a:xfrm>
            <a:off x="10588752" y="3142488"/>
            <a:ext cx="59436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F59E0B"/>
                </a:solidFill>
                <a:latin typeface="DM Sans"/>
                <a:ea typeface="DM Sans"/>
                <a:cs typeface="DM Sans"/>
                <a:sym typeface="DM Sans"/>
              </a:defRPr>
            </a:lvl1pPr>
          </a:lstStyle>
          <a:p>
            <a:pPr/>
            <a:r>
              <a:t>17.1%</a:t>
            </a:r>
          </a:p>
        </p:txBody>
      </p:sp>
      <p:sp>
        <p:nvSpPr>
          <p:cNvPr id="287" name="Text 35"/>
          <p:cNvSpPr txBox="1"/>
          <p:nvPr/>
        </p:nvSpPr>
        <p:spPr>
          <a:xfrm>
            <a:off x="6080759" y="3526535"/>
            <a:ext cx="173736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E2E8F0"/>
                </a:solidFill>
                <a:latin typeface="DM Sans"/>
                <a:ea typeface="DM Sans"/>
                <a:cs typeface="DM Sans"/>
                <a:sym typeface="DM Sans"/>
              </a:defRPr>
            </a:lvl1pPr>
          </a:lstStyle>
          <a:p>
            <a:pPr/>
            <a:r>
              <a:t>Small &lt;50/mo</a:t>
            </a:r>
          </a:p>
        </p:txBody>
      </p:sp>
      <p:sp>
        <p:nvSpPr>
          <p:cNvPr id="288" name="Text 36"/>
          <p:cNvSpPr txBox="1"/>
          <p:nvPr/>
        </p:nvSpPr>
        <p:spPr>
          <a:xfrm>
            <a:off x="7818119" y="3532885"/>
            <a:ext cx="82296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DM Sans"/>
                <a:ea typeface="DM Sans"/>
                <a:cs typeface="DM Sans"/>
                <a:sym typeface="DM Sans"/>
              </a:defRPr>
            </a:lvl1pPr>
          </a:lstStyle>
          <a:p>
            <a:pPr/>
            <a:r>
              <a:t>33 pairs</a:t>
            </a:r>
          </a:p>
        </p:txBody>
      </p:sp>
      <p:sp>
        <p:nvSpPr>
          <p:cNvPr id="289" name="Shape 37"/>
          <p:cNvSpPr/>
          <p:nvPr/>
        </p:nvSpPr>
        <p:spPr>
          <a:xfrm>
            <a:off x="8686800" y="3529584"/>
            <a:ext cx="1828800" cy="146305"/>
          </a:xfrm>
          <a:prstGeom prst="roundRect">
            <a:avLst>
              <a:gd name="adj" fmla="val 18750"/>
            </a:avLst>
          </a:prstGeom>
          <a:solidFill>
            <a:srgbClr val="0A0E16"/>
          </a:solidFill>
          <a:ln w="12700">
            <a:miter lim="400000"/>
          </a:ln>
        </p:spPr>
        <p:txBody>
          <a:bodyPr lIns="45719" rIns="45719"/>
          <a:lstStyle/>
          <a:p>
            <a:pPr/>
          </a:p>
        </p:txBody>
      </p:sp>
      <p:sp>
        <p:nvSpPr>
          <p:cNvPr id="290" name="Shape 38"/>
          <p:cNvSpPr/>
          <p:nvPr/>
        </p:nvSpPr>
        <p:spPr>
          <a:xfrm>
            <a:off x="8686800" y="3529584"/>
            <a:ext cx="1536192" cy="146305"/>
          </a:xfrm>
          <a:prstGeom prst="roundRect">
            <a:avLst>
              <a:gd name="adj" fmla="val 18750"/>
            </a:avLst>
          </a:prstGeom>
          <a:solidFill>
            <a:srgbClr val="F97316"/>
          </a:solidFill>
          <a:ln w="12700">
            <a:miter lim="400000"/>
          </a:ln>
        </p:spPr>
        <p:txBody>
          <a:bodyPr lIns="45719" rIns="45719"/>
          <a:lstStyle/>
          <a:p>
            <a:pPr/>
          </a:p>
        </p:txBody>
      </p:sp>
      <p:sp>
        <p:nvSpPr>
          <p:cNvPr id="291" name="Text 39"/>
          <p:cNvSpPr txBox="1"/>
          <p:nvPr/>
        </p:nvSpPr>
        <p:spPr>
          <a:xfrm>
            <a:off x="10588752" y="3526535"/>
            <a:ext cx="59436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F97316"/>
                </a:solidFill>
                <a:latin typeface="DM Sans"/>
                <a:ea typeface="DM Sans"/>
                <a:cs typeface="DM Sans"/>
                <a:sym typeface="DM Sans"/>
              </a:defRPr>
            </a:lvl1pPr>
          </a:lstStyle>
          <a:p>
            <a:pPr/>
            <a:r>
              <a:t>25.2%</a:t>
            </a:r>
          </a:p>
        </p:txBody>
      </p:sp>
      <p:sp>
        <p:nvSpPr>
          <p:cNvPr id="292" name="Text 40"/>
          <p:cNvSpPr txBox="1"/>
          <p:nvPr/>
        </p:nvSpPr>
        <p:spPr>
          <a:xfrm>
            <a:off x="6080759" y="3718559"/>
            <a:ext cx="530352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000">
                <a:solidFill>
                  <a:srgbClr val="64748B"/>
                </a:solidFill>
                <a:latin typeface="DM Sans"/>
                <a:ea typeface="DM Sans"/>
                <a:cs typeface="DM Sans"/>
                <a:sym typeface="DM Sans"/>
              </a:defRPr>
            </a:pPr>
            <a:r>
              <a:t>Overall: </a:t>
            </a:r>
            <a:r>
              <a:rPr b="1">
                <a:solidFill>
                  <a:srgbClr val="06B6D4"/>
                </a:solidFill>
              </a:rPr>
              <a:t>8.5% wMAPE</a:t>
            </a:r>
            <a:r>
              <a:rPr>
                <a:solidFill>
                  <a:srgbClr val="AEB9C7"/>
                </a:solidFill>
              </a:rPr>
              <a:t>  across 54 port-direction pairs.</a:t>
            </a:r>
          </a:p>
        </p:txBody>
      </p:sp>
      <p:sp>
        <p:nvSpPr>
          <p:cNvPr id="293" name="Shape 41"/>
          <p:cNvSpPr/>
          <p:nvPr/>
        </p:nvSpPr>
        <p:spPr>
          <a:xfrm>
            <a:off x="548640" y="4206240"/>
            <a:ext cx="2670049" cy="1691641"/>
          </a:xfrm>
          <a:prstGeom prst="roundRect">
            <a:avLst>
              <a:gd name="adj" fmla="val 5405"/>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294" name="Shape 42"/>
          <p:cNvSpPr/>
          <p:nvPr/>
        </p:nvSpPr>
        <p:spPr>
          <a:xfrm>
            <a:off x="768095" y="4425696"/>
            <a:ext cx="457201" cy="457201"/>
          </a:xfrm>
          <a:prstGeom prst="ellipse">
            <a:avLst/>
          </a:prstGeom>
          <a:solidFill>
            <a:srgbClr val="0E2A38"/>
          </a:solidFill>
          <a:ln w="12700">
            <a:miter lim="400000"/>
          </a:ln>
        </p:spPr>
        <p:txBody>
          <a:bodyPr lIns="45719" rIns="45719"/>
          <a:lstStyle/>
          <a:p>
            <a:pPr/>
          </a:p>
        </p:txBody>
      </p:sp>
      <p:pic>
        <p:nvPicPr>
          <p:cNvPr id="295" name="Image 0" descr="Image 0"/>
          <p:cNvPicPr>
            <a:picLocks noChangeAspect="1"/>
          </p:cNvPicPr>
          <p:nvPr/>
        </p:nvPicPr>
        <p:blipFill>
          <a:blip r:embed="rId3">
            <a:extLst/>
          </a:blip>
          <a:stretch>
            <a:fillRect/>
          </a:stretch>
        </p:blipFill>
        <p:spPr>
          <a:xfrm>
            <a:off x="877824" y="4535423"/>
            <a:ext cx="237745" cy="237745"/>
          </a:xfrm>
          <a:prstGeom prst="rect">
            <a:avLst/>
          </a:prstGeom>
          <a:ln w="12700">
            <a:miter lim="400000"/>
          </a:ln>
        </p:spPr>
      </p:pic>
      <p:sp>
        <p:nvSpPr>
          <p:cNvPr id="296" name="Text 43"/>
          <p:cNvSpPr txBox="1"/>
          <p:nvPr/>
        </p:nvSpPr>
        <p:spPr>
          <a:xfrm>
            <a:off x="1316736" y="4482338"/>
            <a:ext cx="1755648"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0B981"/>
                </a:solidFill>
                <a:latin typeface="DM Sans"/>
                <a:ea typeface="DM Sans"/>
                <a:cs typeface="DM Sans"/>
                <a:sym typeface="DM Sans"/>
              </a:defRPr>
            </a:lvl1pPr>
          </a:lstStyle>
          <a:p>
            <a:pPr/>
            <a:r>
              <a:t>3.4% error</a:t>
            </a:r>
          </a:p>
        </p:txBody>
      </p:sp>
      <p:sp>
        <p:nvSpPr>
          <p:cNvPr id="297" name="Text 44"/>
          <p:cNvSpPr txBox="1"/>
          <p:nvPr/>
        </p:nvSpPr>
        <p:spPr>
          <a:xfrm>
            <a:off x="768096" y="5019801"/>
            <a:ext cx="2249424"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latin typeface="DM Sans"/>
                <a:ea typeface="DM Sans"/>
                <a:cs typeface="DM Sans"/>
                <a:sym typeface="DM Sans"/>
              </a:defRPr>
            </a:lvl1pPr>
          </a:lstStyle>
          <a:p>
            <a:pPr/>
            <a:r>
              <a:t>San Antonio import</a:t>
            </a:r>
          </a:p>
        </p:txBody>
      </p:sp>
      <p:sp>
        <p:nvSpPr>
          <p:cNvPr id="298" name="Text 45"/>
          <p:cNvSpPr txBox="1"/>
          <p:nvPr/>
        </p:nvSpPr>
        <p:spPr>
          <a:xfrm>
            <a:off x="768096" y="5403341"/>
            <a:ext cx="2249424" cy="28498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000"/>
              </a:lnSpc>
              <a:defRPr sz="900">
                <a:solidFill>
                  <a:srgbClr val="AEB9C7"/>
                </a:solidFill>
                <a:latin typeface="DM Sans"/>
                <a:ea typeface="DM Sans"/>
                <a:cs typeface="DM Sans"/>
                <a:sym typeface="DM Sans"/>
              </a:defRPr>
            </a:lvl1pPr>
          </a:lstStyle>
          <a:p>
            <a:pPr/>
            <a:r>
              <a:t>57% of all maritime imports — excellent where it matters most.</a:t>
            </a:r>
          </a:p>
        </p:txBody>
      </p:sp>
      <p:sp>
        <p:nvSpPr>
          <p:cNvPr id="299" name="Shape 46"/>
          <p:cNvSpPr/>
          <p:nvPr/>
        </p:nvSpPr>
        <p:spPr>
          <a:xfrm>
            <a:off x="3355847" y="4206240"/>
            <a:ext cx="2670049" cy="1691641"/>
          </a:xfrm>
          <a:prstGeom prst="roundRect">
            <a:avLst>
              <a:gd name="adj" fmla="val 5405"/>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300" name="Shape 47"/>
          <p:cNvSpPr/>
          <p:nvPr/>
        </p:nvSpPr>
        <p:spPr>
          <a:xfrm>
            <a:off x="3575303" y="4425696"/>
            <a:ext cx="457201" cy="457201"/>
          </a:xfrm>
          <a:prstGeom prst="ellipse">
            <a:avLst/>
          </a:prstGeom>
          <a:solidFill>
            <a:srgbClr val="0E2A38"/>
          </a:solidFill>
          <a:ln w="12700">
            <a:miter lim="400000"/>
          </a:ln>
        </p:spPr>
        <p:txBody>
          <a:bodyPr lIns="45719" rIns="45719"/>
          <a:lstStyle/>
          <a:p>
            <a:pPr/>
          </a:p>
        </p:txBody>
      </p:sp>
      <p:pic>
        <p:nvPicPr>
          <p:cNvPr id="301" name="Image 1" descr="Image 1"/>
          <p:cNvPicPr>
            <a:picLocks noChangeAspect="1"/>
          </p:cNvPicPr>
          <p:nvPr/>
        </p:nvPicPr>
        <p:blipFill>
          <a:blip r:embed="rId4">
            <a:extLst/>
          </a:blip>
          <a:stretch>
            <a:fillRect/>
          </a:stretch>
        </p:blipFill>
        <p:spPr>
          <a:xfrm>
            <a:off x="3685032" y="4535423"/>
            <a:ext cx="237745" cy="237745"/>
          </a:xfrm>
          <a:prstGeom prst="rect">
            <a:avLst/>
          </a:prstGeom>
          <a:ln w="12700">
            <a:miter lim="400000"/>
          </a:ln>
        </p:spPr>
      </p:pic>
      <p:sp>
        <p:nvSpPr>
          <p:cNvPr id="302" name="Text 48"/>
          <p:cNvSpPr txBox="1"/>
          <p:nvPr/>
        </p:nvSpPr>
        <p:spPr>
          <a:xfrm>
            <a:off x="4123944" y="4482338"/>
            <a:ext cx="1755648"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0B981"/>
                </a:solidFill>
                <a:latin typeface="DM Sans"/>
                <a:ea typeface="DM Sans"/>
                <a:cs typeface="DM Sans"/>
                <a:sym typeface="DM Sans"/>
              </a:defRPr>
            </a:lvl1pPr>
          </a:lstStyle>
          <a:p>
            <a:pPr/>
            <a:r>
              <a:t>1.2% error</a:t>
            </a:r>
          </a:p>
        </p:txBody>
      </p:sp>
      <p:sp>
        <p:nvSpPr>
          <p:cNvPr id="303" name="Text 49"/>
          <p:cNvSpPr txBox="1"/>
          <p:nvPr/>
        </p:nvSpPr>
        <p:spPr>
          <a:xfrm>
            <a:off x="3575303" y="5019801"/>
            <a:ext cx="2249425"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latin typeface="DM Sans"/>
                <a:ea typeface="DM Sans"/>
                <a:cs typeface="DM Sans"/>
                <a:sym typeface="DM Sans"/>
              </a:defRPr>
            </a:lvl1pPr>
          </a:lstStyle>
          <a:p>
            <a:pPr/>
            <a:r>
              <a:t>San Antonio export</a:t>
            </a:r>
          </a:p>
        </p:txBody>
      </p:sp>
      <p:sp>
        <p:nvSpPr>
          <p:cNvPr id="304" name="Text 50"/>
          <p:cNvSpPr txBox="1"/>
          <p:nvPr/>
        </p:nvSpPr>
        <p:spPr>
          <a:xfrm>
            <a:off x="3575303" y="5475985"/>
            <a:ext cx="2249425"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000"/>
              </a:lnSpc>
              <a:defRPr sz="900">
                <a:solidFill>
                  <a:srgbClr val="AEB9C7"/>
                </a:solidFill>
                <a:latin typeface="DM Sans"/>
                <a:ea typeface="DM Sans"/>
                <a:cs typeface="DM Sans"/>
                <a:sym typeface="DM Sans"/>
              </a:defRPr>
            </a:lvl1pPr>
          </a:lstStyle>
          <a:p>
            <a:pPr/>
            <a:r>
              <a:t>Near-perfect on the highest-value flow.</a:t>
            </a:r>
          </a:p>
        </p:txBody>
      </p:sp>
      <p:sp>
        <p:nvSpPr>
          <p:cNvPr id="305" name="Shape 51"/>
          <p:cNvSpPr/>
          <p:nvPr/>
        </p:nvSpPr>
        <p:spPr>
          <a:xfrm>
            <a:off x="6163055" y="4206240"/>
            <a:ext cx="2670050" cy="1691641"/>
          </a:xfrm>
          <a:prstGeom prst="roundRect">
            <a:avLst>
              <a:gd name="adj" fmla="val 5405"/>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306" name="Shape 52"/>
          <p:cNvSpPr/>
          <p:nvPr/>
        </p:nvSpPr>
        <p:spPr>
          <a:xfrm>
            <a:off x="6382511" y="4425696"/>
            <a:ext cx="457201" cy="457201"/>
          </a:xfrm>
          <a:prstGeom prst="ellipse">
            <a:avLst/>
          </a:prstGeom>
          <a:solidFill>
            <a:srgbClr val="0E2A38"/>
          </a:solidFill>
          <a:ln w="12700">
            <a:miter lim="400000"/>
          </a:ln>
        </p:spPr>
        <p:txBody>
          <a:bodyPr lIns="45719" rIns="45719"/>
          <a:lstStyle/>
          <a:p>
            <a:pPr/>
          </a:p>
        </p:txBody>
      </p:sp>
      <p:pic>
        <p:nvPicPr>
          <p:cNvPr id="307" name="Image 2" descr="Image 2"/>
          <p:cNvPicPr>
            <a:picLocks noChangeAspect="1"/>
          </p:cNvPicPr>
          <p:nvPr/>
        </p:nvPicPr>
        <p:blipFill>
          <a:blip r:embed="rId5">
            <a:extLst/>
          </a:blip>
          <a:stretch>
            <a:fillRect/>
          </a:stretch>
        </p:blipFill>
        <p:spPr>
          <a:xfrm>
            <a:off x="6492240" y="4535423"/>
            <a:ext cx="237745" cy="237745"/>
          </a:xfrm>
          <a:prstGeom prst="rect">
            <a:avLst/>
          </a:prstGeom>
          <a:ln w="12700">
            <a:miter lim="400000"/>
          </a:ln>
        </p:spPr>
      </p:pic>
      <p:sp>
        <p:nvSpPr>
          <p:cNvPr id="308" name="Text 53"/>
          <p:cNvSpPr txBox="1"/>
          <p:nvPr/>
        </p:nvSpPr>
        <p:spPr>
          <a:xfrm>
            <a:off x="6931152" y="4482338"/>
            <a:ext cx="1755648"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59E0B"/>
                </a:solidFill>
                <a:latin typeface="DM Sans"/>
                <a:ea typeface="DM Sans"/>
                <a:cs typeface="DM Sans"/>
                <a:sym typeface="DM Sans"/>
              </a:defRPr>
            </a:lvl1pPr>
          </a:lstStyle>
          <a:p>
            <a:pPr/>
            <a:r>
              <a:t>+26.1% miss</a:t>
            </a:r>
          </a:p>
        </p:txBody>
      </p:sp>
      <p:sp>
        <p:nvSpPr>
          <p:cNvPr id="309" name="Text 54"/>
          <p:cNvSpPr txBox="1"/>
          <p:nvPr/>
        </p:nvSpPr>
        <p:spPr>
          <a:xfrm>
            <a:off x="6382511" y="5019801"/>
            <a:ext cx="2249425"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latin typeface="DM Sans"/>
                <a:ea typeface="DM Sans"/>
                <a:cs typeface="DM Sans"/>
                <a:sym typeface="DM Sans"/>
              </a:defRPr>
            </a:lvl1pPr>
          </a:lstStyle>
          <a:p>
            <a:pPr/>
            <a:r>
              <a:t>Valparaíso import</a:t>
            </a:r>
          </a:p>
        </p:txBody>
      </p:sp>
      <p:sp>
        <p:nvSpPr>
          <p:cNvPr id="310" name="Text 55"/>
          <p:cNvSpPr txBox="1"/>
          <p:nvPr/>
        </p:nvSpPr>
        <p:spPr>
          <a:xfrm>
            <a:off x="6382511" y="5403341"/>
            <a:ext cx="2249425" cy="28498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000"/>
              </a:lnSpc>
              <a:defRPr sz="900">
                <a:solidFill>
                  <a:srgbClr val="AEB9C7"/>
                </a:solidFill>
                <a:latin typeface="DM Sans"/>
                <a:ea typeface="DM Sans"/>
                <a:cs typeface="DM Sans"/>
                <a:sym typeface="DM Sans"/>
              </a:defRPr>
            </a:lvl1pPr>
          </a:lstStyle>
          <a:p>
            <a:pPr/>
            <a:r>
              <a:t>Biggest miss, driven by a +91% May spike — a known fix target.</a:t>
            </a:r>
          </a:p>
        </p:txBody>
      </p:sp>
      <p:sp>
        <p:nvSpPr>
          <p:cNvPr id="311" name="Shape 56"/>
          <p:cNvSpPr/>
          <p:nvPr/>
        </p:nvSpPr>
        <p:spPr>
          <a:xfrm>
            <a:off x="8970264" y="4206240"/>
            <a:ext cx="2670049" cy="1691641"/>
          </a:xfrm>
          <a:prstGeom prst="roundRect">
            <a:avLst>
              <a:gd name="adj" fmla="val 5405"/>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312" name="Shape 57"/>
          <p:cNvSpPr/>
          <p:nvPr/>
        </p:nvSpPr>
        <p:spPr>
          <a:xfrm>
            <a:off x="9189719" y="4425696"/>
            <a:ext cx="457201" cy="457201"/>
          </a:xfrm>
          <a:prstGeom prst="ellipse">
            <a:avLst/>
          </a:prstGeom>
          <a:solidFill>
            <a:srgbClr val="0E2A38"/>
          </a:solidFill>
          <a:ln w="12700">
            <a:miter lim="400000"/>
          </a:ln>
        </p:spPr>
        <p:txBody>
          <a:bodyPr lIns="45719" rIns="45719"/>
          <a:lstStyle/>
          <a:p>
            <a:pPr/>
          </a:p>
        </p:txBody>
      </p:sp>
      <p:pic>
        <p:nvPicPr>
          <p:cNvPr id="313" name="Image 3" descr="Image 3"/>
          <p:cNvPicPr>
            <a:picLocks noChangeAspect="1"/>
          </p:cNvPicPr>
          <p:nvPr/>
        </p:nvPicPr>
        <p:blipFill>
          <a:blip r:embed="rId6">
            <a:extLst/>
          </a:blip>
          <a:stretch>
            <a:fillRect/>
          </a:stretch>
        </p:blipFill>
        <p:spPr>
          <a:xfrm>
            <a:off x="9299447" y="4535423"/>
            <a:ext cx="237745" cy="237745"/>
          </a:xfrm>
          <a:prstGeom prst="rect">
            <a:avLst/>
          </a:prstGeom>
          <a:ln w="12700">
            <a:miter lim="400000"/>
          </a:ln>
        </p:spPr>
      </p:pic>
      <p:sp>
        <p:nvSpPr>
          <p:cNvPr id="314" name="Text 58"/>
          <p:cNvSpPr txBox="1"/>
          <p:nvPr/>
        </p:nvSpPr>
        <p:spPr>
          <a:xfrm>
            <a:off x="9738359" y="4480645"/>
            <a:ext cx="1755649" cy="21928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06B6D4"/>
                </a:solidFill>
                <a:latin typeface="DM Sans"/>
                <a:ea typeface="DM Sans"/>
                <a:cs typeface="DM Sans"/>
                <a:sym typeface="DM Sans"/>
              </a:defRPr>
            </a:lvl1pPr>
          </a:lstStyle>
          <a:p>
            <a:pPr/>
            <a:r>
              <a:t>4.03% → 8.5%</a:t>
            </a:r>
          </a:p>
        </p:txBody>
      </p:sp>
      <p:sp>
        <p:nvSpPr>
          <p:cNvPr id="315" name="Text 59"/>
          <p:cNvSpPr txBox="1"/>
          <p:nvPr/>
        </p:nvSpPr>
        <p:spPr>
          <a:xfrm>
            <a:off x="9189719" y="5019801"/>
            <a:ext cx="2249425"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latin typeface="DM Sans"/>
                <a:ea typeface="DM Sans"/>
                <a:cs typeface="DM Sans"/>
                <a:sym typeface="DM Sans"/>
              </a:defRPr>
            </a:lvl1pPr>
          </a:lstStyle>
          <a:p>
            <a:pPr/>
            <a:r>
              <a:t>Honest degradation</a:t>
            </a:r>
          </a:p>
        </p:txBody>
      </p:sp>
      <p:sp>
        <p:nvSpPr>
          <p:cNvPr id="316" name="Text 60"/>
          <p:cNvSpPr txBox="1"/>
          <p:nvPr/>
        </p:nvSpPr>
        <p:spPr>
          <a:xfrm>
            <a:off x="9189719" y="5403341"/>
            <a:ext cx="2249425" cy="28498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000"/>
              </a:lnSpc>
              <a:defRPr sz="900">
                <a:solidFill>
                  <a:srgbClr val="AEB9C7"/>
                </a:solidFill>
                <a:latin typeface="DM Sans"/>
                <a:ea typeface="DM Sans"/>
                <a:cs typeface="DM Sans"/>
                <a:sym typeface="DM Sans"/>
              </a:defRPr>
            </a:lvl1pPr>
          </a:lstStyle>
          <a:p>
            <a:pPr/>
            <a:r>
              <a:t>2025 holdout vs live 2026: expected drift for a fully out-of-sample recursive forecast.</a:t>
            </a:r>
          </a:p>
        </p:txBody>
      </p:sp>
      <p:sp>
        <p:nvSpPr>
          <p:cNvPr id="317" name="Text 61"/>
          <p:cNvSpPr txBox="1"/>
          <p:nvPr/>
        </p:nvSpPr>
        <p:spPr>
          <a:xfrm>
            <a:off x="502919" y="6461759"/>
            <a:ext cx="27432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64748B"/>
                </a:solidFill>
                <a:latin typeface="DM Sans"/>
                <a:ea typeface="DM Sans"/>
                <a:cs typeface="DM Sans"/>
                <a:sym typeface="DM Sans"/>
              </a:defRPr>
            </a:lvl1pPr>
          </a:lstStyle>
          <a:p>
            <a:pPr/>
            <a:r>
              <a:t>Waze Cargo</a:t>
            </a:r>
          </a:p>
        </p:txBody>
      </p:sp>
      <p:sp>
        <p:nvSpPr>
          <p:cNvPr id="318" name="Text 62"/>
          <p:cNvSpPr txBox="1"/>
          <p:nvPr/>
        </p:nvSpPr>
        <p:spPr>
          <a:xfrm>
            <a:off x="3108960" y="6468109"/>
            <a:ext cx="59436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900">
                <a:solidFill>
                  <a:srgbClr val="64748B"/>
                </a:solidFill>
                <a:latin typeface="DM Sans"/>
                <a:ea typeface="DM Sans"/>
                <a:cs typeface="DM Sans"/>
                <a:sym typeface="DM Sans"/>
              </a:defRPr>
            </a:lvl1pPr>
          </a:lstStyle>
          <a:p>
            <a:pPr/>
            <a:r>
              <a:t>Large ports = 98% of volume at 8.3% wMAPE — most accurate where it matters.</a:t>
            </a:r>
          </a:p>
        </p:txBody>
      </p:sp>
      <p:sp>
        <p:nvSpPr>
          <p:cNvPr id="319" name="Text 63"/>
          <p:cNvSpPr txBox="1"/>
          <p:nvPr/>
        </p:nvSpPr>
        <p:spPr>
          <a:xfrm>
            <a:off x="10728655" y="6461759"/>
            <a:ext cx="96012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latin typeface="DM Sans"/>
                <a:ea typeface="DM Sans"/>
                <a:cs typeface="DM Sans"/>
                <a:sym typeface="DM Sans"/>
              </a:defRPr>
            </a:lvl1pPr>
          </a:lstStyle>
          <a:p>
            <a:pPr/>
            <a:r>
              <a:t>08 / 14</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6090F"/>
        </a:solidFill>
      </p:bgPr>
    </p:bg>
    <p:spTree>
      <p:nvGrpSpPr>
        <p:cNvPr id="1" name=""/>
        <p:cNvGrpSpPr/>
        <p:nvPr/>
      </p:nvGrpSpPr>
      <p:grpSpPr>
        <a:xfrm>
          <a:off x="0" y="0"/>
          <a:ext cx="0" cy="0"/>
          <a:chOff x="0" y="0"/>
          <a:chExt cx="0" cy="0"/>
        </a:xfrm>
      </p:grpSpPr>
      <p:sp>
        <p:nvSpPr>
          <p:cNvPr id="323" name="Text 0"/>
          <p:cNvSpPr txBox="1"/>
          <p:nvPr/>
        </p:nvSpPr>
        <p:spPr>
          <a:xfrm>
            <a:off x="548640" y="514604"/>
            <a:ext cx="10058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200">
                <a:solidFill>
                  <a:srgbClr val="06B6D4"/>
                </a:solidFill>
                <a:latin typeface="DM Sans"/>
                <a:ea typeface="DM Sans"/>
                <a:cs typeface="DM Sans"/>
                <a:sym typeface="DM Sans"/>
              </a:defRPr>
            </a:lvl1pPr>
          </a:lstStyle>
          <a:p>
            <a:pPr/>
            <a:r>
              <a:t>MARKET OPPORTUNITY</a:t>
            </a:r>
          </a:p>
        </p:txBody>
      </p:sp>
      <p:sp>
        <p:nvSpPr>
          <p:cNvPr id="324" name="Text 1"/>
          <p:cNvSpPr txBox="1"/>
          <p:nvPr/>
        </p:nvSpPr>
        <p:spPr>
          <a:xfrm>
            <a:off x="548639" y="909828"/>
            <a:ext cx="11155682"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FFFFF"/>
                </a:solidFill>
                <a:latin typeface="DM Sans"/>
                <a:ea typeface="DM Sans"/>
                <a:cs typeface="DM Sans"/>
                <a:sym typeface="DM Sans"/>
              </a:defRPr>
            </a:lvl1pPr>
          </a:lstStyle>
          <a:p>
            <a:pPr/>
            <a:r>
              <a:t>A growing market with a moat competitors can’t cross.</a:t>
            </a:r>
          </a:p>
        </p:txBody>
      </p:sp>
      <p:sp>
        <p:nvSpPr>
          <p:cNvPr id="325" name="Shape 2"/>
          <p:cNvSpPr/>
          <p:nvPr/>
        </p:nvSpPr>
        <p:spPr>
          <a:xfrm>
            <a:off x="548640" y="1572767"/>
            <a:ext cx="2670049" cy="1051561"/>
          </a:xfrm>
          <a:prstGeom prst="roundRect">
            <a:avLst>
              <a:gd name="adj" fmla="val 8696"/>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326" name="Text 3"/>
          <p:cNvSpPr txBox="1"/>
          <p:nvPr/>
        </p:nvSpPr>
        <p:spPr>
          <a:xfrm>
            <a:off x="777239" y="1767331"/>
            <a:ext cx="2212850"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700">
                <a:solidFill>
                  <a:srgbClr val="06B6D4"/>
                </a:solidFill>
                <a:latin typeface="DM Sans"/>
                <a:ea typeface="DM Sans"/>
                <a:cs typeface="DM Sans"/>
                <a:sym typeface="DM Sans"/>
              </a:defRPr>
            </a:lvl1pPr>
          </a:lstStyle>
          <a:p>
            <a:pPr/>
            <a:r>
              <a:t>$1.8B</a:t>
            </a:r>
          </a:p>
        </p:txBody>
      </p:sp>
      <p:sp>
        <p:nvSpPr>
          <p:cNvPr id="327" name="Text 4"/>
          <p:cNvSpPr txBox="1"/>
          <p:nvPr/>
        </p:nvSpPr>
        <p:spPr>
          <a:xfrm>
            <a:off x="777239" y="2304033"/>
            <a:ext cx="221285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AEB9C7"/>
                </a:solidFill>
                <a:latin typeface="DM Sans"/>
                <a:ea typeface="DM Sans"/>
                <a:cs typeface="DM Sans"/>
                <a:sym typeface="DM Sans"/>
              </a:defRPr>
            </a:lvl1pPr>
          </a:lstStyle>
          <a:p>
            <a:pPr/>
            <a:r>
              <a:t>market today</a:t>
            </a:r>
          </a:p>
        </p:txBody>
      </p:sp>
      <p:sp>
        <p:nvSpPr>
          <p:cNvPr id="328" name="Shape 5"/>
          <p:cNvSpPr/>
          <p:nvPr/>
        </p:nvSpPr>
        <p:spPr>
          <a:xfrm>
            <a:off x="3355847" y="1572767"/>
            <a:ext cx="2670049" cy="1051561"/>
          </a:xfrm>
          <a:prstGeom prst="roundRect">
            <a:avLst>
              <a:gd name="adj" fmla="val 8696"/>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329" name="Text 6"/>
          <p:cNvSpPr txBox="1"/>
          <p:nvPr/>
        </p:nvSpPr>
        <p:spPr>
          <a:xfrm>
            <a:off x="3584447" y="1767331"/>
            <a:ext cx="2212849"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700">
                <a:solidFill>
                  <a:srgbClr val="10B981"/>
                </a:solidFill>
                <a:latin typeface="DM Sans"/>
                <a:ea typeface="DM Sans"/>
                <a:cs typeface="DM Sans"/>
                <a:sym typeface="DM Sans"/>
              </a:defRPr>
            </a:lvl1pPr>
          </a:lstStyle>
          <a:p>
            <a:pPr/>
            <a:r>
              <a:t>$5.6B</a:t>
            </a:r>
          </a:p>
        </p:txBody>
      </p:sp>
      <p:sp>
        <p:nvSpPr>
          <p:cNvPr id="330" name="Text 7"/>
          <p:cNvSpPr txBox="1"/>
          <p:nvPr/>
        </p:nvSpPr>
        <p:spPr>
          <a:xfrm>
            <a:off x="3584447" y="2304033"/>
            <a:ext cx="221284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AEB9C7"/>
                </a:solidFill>
                <a:latin typeface="DM Sans"/>
                <a:ea typeface="DM Sans"/>
                <a:cs typeface="DM Sans"/>
                <a:sym typeface="DM Sans"/>
              </a:defRPr>
            </a:lvl1pPr>
          </a:lstStyle>
          <a:p>
            <a:pPr/>
            <a:r>
              <a:t>by 2034</a:t>
            </a:r>
          </a:p>
        </p:txBody>
      </p:sp>
      <p:sp>
        <p:nvSpPr>
          <p:cNvPr id="331" name="Shape 8"/>
          <p:cNvSpPr/>
          <p:nvPr/>
        </p:nvSpPr>
        <p:spPr>
          <a:xfrm>
            <a:off x="6163055" y="1572767"/>
            <a:ext cx="2670050" cy="1051561"/>
          </a:xfrm>
          <a:prstGeom prst="roundRect">
            <a:avLst>
              <a:gd name="adj" fmla="val 8696"/>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332" name="Text 9"/>
          <p:cNvSpPr txBox="1"/>
          <p:nvPr/>
        </p:nvSpPr>
        <p:spPr>
          <a:xfrm>
            <a:off x="6391655" y="1767331"/>
            <a:ext cx="2212850"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700">
                <a:solidFill>
                  <a:srgbClr val="F59E0B"/>
                </a:solidFill>
                <a:latin typeface="DM Sans"/>
                <a:ea typeface="DM Sans"/>
                <a:cs typeface="DM Sans"/>
                <a:sym typeface="DM Sans"/>
              </a:defRPr>
            </a:lvl1pPr>
          </a:lstStyle>
          <a:p>
            <a:pPr/>
            <a:r>
              <a:t>~12%</a:t>
            </a:r>
          </a:p>
        </p:txBody>
      </p:sp>
      <p:sp>
        <p:nvSpPr>
          <p:cNvPr id="333" name="Text 10"/>
          <p:cNvSpPr txBox="1"/>
          <p:nvPr/>
        </p:nvSpPr>
        <p:spPr>
          <a:xfrm>
            <a:off x="6391655" y="2304033"/>
            <a:ext cx="221285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AEB9C7"/>
                </a:solidFill>
                <a:latin typeface="DM Sans"/>
                <a:ea typeface="DM Sans"/>
                <a:cs typeface="DM Sans"/>
                <a:sym typeface="DM Sans"/>
              </a:defRPr>
            </a:lvl1pPr>
          </a:lstStyle>
          <a:p>
            <a:pPr/>
            <a:r>
              <a:t>CAGR</a:t>
            </a:r>
          </a:p>
        </p:txBody>
      </p:sp>
      <p:sp>
        <p:nvSpPr>
          <p:cNvPr id="334" name="Shape 11"/>
          <p:cNvSpPr/>
          <p:nvPr/>
        </p:nvSpPr>
        <p:spPr>
          <a:xfrm>
            <a:off x="8970264" y="1572767"/>
            <a:ext cx="2670049" cy="1051561"/>
          </a:xfrm>
          <a:prstGeom prst="roundRect">
            <a:avLst>
              <a:gd name="adj" fmla="val 8696"/>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335" name="Text 12"/>
          <p:cNvSpPr txBox="1"/>
          <p:nvPr/>
        </p:nvSpPr>
        <p:spPr>
          <a:xfrm>
            <a:off x="9198864" y="1767331"/>
            <a:ext cx="2212849"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700">
                <a:solidFill>
                  <a:srgbClr val="F97316"/>
                </a:solidFill>
                <a:latin typeface="DM Sans"/>
                <a:ea typeface="DM Sans"/>
                <a:cs typeface="DM Sans"/>
                <a:sym typeface="DM Sans"/>
              </a:defRPr>
            </a:lvl1pPr>
          </a:lstStyle>
          <a:p>
            <a:pPr/>
            <a:r>
              <a:t>69%</a:t>
            </a:r>
          </a:p>
        </p:txBody>
      </p:sp>
      <p:sp>
        <p:nvSpPr>
          <p:cNvPr id="336" name="Text 13"/>
          <p:cNvSpPr txBox="1"/>
          <p:nvPr/>
        </p:nvSpPr>
        <p:spPr>
          <a:xfrm>
            <a:off x="9198864" y="2304033"/>
            <a:ext cx="221284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AEB9C7"/>
                </a:solidFill>
                <a:latin typeface="DM Sans"/>
                <a:ea typeface="DM Sans"/>
                <a:cs typeface="DM Sans"/>
                <a:sym typeface="DM Sans"/>
              </a:defRPr>
            </a:lvl1pPr>
          </a:lstStyle>
          <a:p>
            <a:pPr/>
            <a:r>
              <a:t>of ports untapped</a:t>
            </a:r>
          </a:p>
        </p:txBody>
      </p:sp>
      <p:sp>
        <p:nvSpPr>
          <p:cNvPr id="337" name="Shape 14"/>
          <p:cNvSpPr/>
          <p:nvPr/>
        </p:nvSpPr>
        <p:spPr>
          <a:xfrm>
            <a:off x="548640" y="2834639"/>
            <a:ext cx="2286001" cy="475488"/>
          </a:xfrm>
          <a:prstGeom prst="rect">
            <a:avLst/>
          </a:prstGeom>
          <a:solidFill>
            <a:srgbClr val="0A0E16"/>
          </a:solidFill>
          <a:ln w="12700">
            <a:miter lim="400000"/>
          </a:ln>
        </p:spPr>
        <p:txBody>
          <a:bodyPr lIns="45719" rIns="45719"/>
          <a:lstStyle/>
          <a:p>
            <a:pPr/>
          </a:p>
        </p:txBody>
      </p:sp>
      <p:sp>
        <p:nvSpPr>
          <p:cNvPr id="338" name="Shape 16"/>
          <p:cNvSpPr/>
          <p:nvPr/>
        </p:nvSpPr>
        <p:spPr>
          <a:xfrm>
            <a:off x="2834639" y="2834639"/>
            <a:ext cx="1691641" cy="475488"/>
          </a:xfrm>
          <a:prstGeom prst="rect">
            <a:avLst/>
          </a:prstGeom>
          <a:solidFill>
            <a:srgbClr val="0A0E16"/>
          </a:solidFill>
          <a:ln w="12700">
            <a:miter lim="400000"/>
          </a:ln>
        </p:spPr>
        <p:txBody>
          <a:bodyPr lIns="45719" rIns="45719"/>
          <a:lstStyle/>
          <a:p>
            <a:pPr/>
          </a:p>
        </p:txBody>
      </p:sp>
      <p:sp>
        <p:nvSpPr>
          <p:cNvPr id="339" name="Text 17"/>
          <p:cNvSpPr txBox="1"/>
          <p:nvPr/>
        </p:nvSpPr>
        <p:spPr>
          <a:xfrm>
            <a:off x="2889504" y="2939668"/>
            <a:ext cx="1581913" cy="2654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90000"/>
              </a:lnSpc>
              <a:defRPr b="1" sz="900">
                <a:solidFill>
                  <a:srgbClr val="64748B"/>
                </a:solidFill>
                <a:latin typeface="DM Sans"/>
                <a:ea typeface="DM Sans"/>
                <a:cs typeface="DM Sans"/>
                <a:sym typeface="DM Sans"/>
              </a:defRPr>
            </a:pPr>
            <a:r>
              <a:t>Predict</a:t>
            </a:r>
          </a:p>
          <a:p>
            <a:pPr algn="ctr">
              <a:lnSpc>
                <a:spcPct val="90000"/>
              </a:lnSpc>
              <a:defRPr b="1" sz="900">
                <a:solidFill>
                  <a:srgbClr val="64748B"/>
                </a:solidFill>
                <a:latin typeface="DM Sans"/>
                <a:ea typeface="DM Sans"/>
                <a:cs typeface="DM Sans"/>
                <a:sym typeface="DM Sans"/>
              </a:defRPr>
            </a:pPr>
            <a:r>
              <a:t>congestion</a:t>
            </a:r>
          </a:p>
        </p:txBody>
      </p:sp>
      <p:sp>
        <p:nvSpPr>
          <p:cNvPr id="340" name="Shape 18"/>
          <p:cNvSpPr/>
          <p:nvPr/>
        </p:nvSpPr>
        <p:spPr>
          <a:xfrm>
            <a:off x="4526279" y="2834639"/>
            <a:ext cx="1554481" cy="475488"/>
          </a:xfrm>
          <a:prstGeom prst="rect">
            <a:avLst/>
          </a:prstGeom>
          <a:solidFill>
            <a:srgbClr val="0A0E16"/>
          </a:solidFill>
          <a:ln w="12700">
            <a:miter lim="400000"/>
          </a:ln>
        </p:spPr>
        <p:txBody>
          <a:bodyPr lIns="45719" rIns="45719"/>
          <a:lstStyle/>
          <a:p>
            <a:pPr/>
          </a:p>
        </p:txBody>
      </p:sp>
      <p:sp>
        <p:nvSpPr>
          <p:cNvPr id="341" name="Text 19"/>
          <p:cNvSpPr txBox="1"/>
          <p:nvPr/>
        </p:nvSpPr>
        <p:spPr>
          <a:xfrm>
            <a:off x="4581144" y="2939668"/>
            <a:ext cx="1444753" cy="2654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90000"/>
              </a:lnSpc>
              <a:defRPr b="1" sz="900">
                <a:solidFill>
                  <a:srgbClr val="64748B"/>
                </a:solidFill>
                <a:latin typeface="DM Sans"/>
                <a:ea typeface="DM Sans"/>
                <a:cs typeface="DM Sans"/>
                <a:sym typeface="DM Sans"/>
              </a:defRPr>
            </a:pPr>
            <a:r>
              <a:t>Commodity</a:t>
            </a:r>
          </a:p>
          <a:p>
            <a:pPr algn="ctr">
              <a:lnSpc>
                <a:spcPct val="90000"/>
              </a:lnSpc>
              <a:defRPr b="1" sz="900">
                <a:solidFill>
                  <a:srgbClr val="64748B"/>
                </a:solidFill>
                <a:latin typeface="DM Sans"/>
                <a:ea typeface="DM Sans"/>
                <a:cs typeface="DM Sans"/>
                <a:sym typeface="DM Sans"/>
              </a:defRPr>
            </a:pPr>
            <a:r>
              <a:t>data</a:t>
            </a:r>
          </a:p>
        </p:txBody>
      </p:sp>
      <p:sp>
        <p:nvSpPr>
          <p:cNvPr id="342" name="Shape 20"/>
          <p:cNvSpPr/>
          <p:nvPr/>
        </p:nvSpPr>
        <p:spPr>
          <a:xfrm>
            <a:off x="6080759" y="2834639"/>
            <a:ext cx="1417321" cy="475488"/>
          </a:xfrm>
          <a:prstGeom prst="rect">
            <a:avLst/>
          </a:prstGeom>
          <a:solidFill>
            <a:srgbClr val="0A0E16"/>
          </a:solidFill>
          <a:ln w="12700">
            <a:miter lim="400000"/>
          </a:ln>
        </p:spPr>
        <p:txBody>
          <a:bodyPr lIns="45719" rIns="45719"/>
          <a:lstStyle/>
          <a:p>
            <a:pPr/>
          </a:p>
        </p:txBody>
      </p:sp>
      <p:sp>
        <p:nvSpPr>
          <p:cNvPr id="343" name="Text 21"/>
          <p:cNvSpPr txBox="1"/>
          <p:nvPr/>
        </p:nvSpPr>
        <p:spPr>
          <a:xfrm>
            <a:off x="6135623" y="2939668"/>
            <a:ext cx="1307593" cy="2654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90000"/>
              </a:lnSpc>
              <a:defRPr b="1" sz="900">
                <a:solidFill>
                  <a:srgbClr val="64748B"/>
                </a:solidFill>
                <a:latin typeface="DM Sans"/>
                <a:ea typeface="DM Sans"/>
                <a:cs typeface="DM Sans"/>
                <a:sym typeface="DM Sans"/>
              </a:defRPr>
            </a:pPr>
            <a:r>
              <a:t>Weather</a:t>
            </a:r>
          </a:p>
          <a:p>
            <a:pPr algn="ctr">
              <a:lnSpc>
                <a:spcPct val="90000"/>
              </a:lnSpc>
              <a:defRPr b="1" sz="900">
                <a:solidFill>
                  <a:srgbClr val="64748B"/>
                </a:solidFill>
                <a:latin typeface="DM Sans"/>
                <a:ea typeface="DM Sans"/>
                <a:cs typeface="DM Sans"/>
                <a:sym typeface="DM Sans"/>
              </a:defRPr>
            </a:pPr>
            <a:r>
              <a:t>risk</a:t>
            </a:r>
          </a:p>
        </p:txBody>
      </p:sp>
      <p:sp>
        <p:nvSpPr>
          <p:cNvPr id="344" name="Shape 22"/>
          <p:cNvSpPr/>
          <p:nvPr/>
        </p:nvSpPr>
        <p:spPr>
          <a:xfrm>
            <a:off x="7498080" y="2834639"/>
            <a:ext cx="1828801" cy="475488"/>
          </a:xfrm>
          <a:prstGeom prst="rect">
            <a:avLst/>
          </a:prstGeom>
          <a:solidFill>
            <a:srgbClr val="0A0E16"/>
          </a:solidFill>
          <a:ln w="12700">
            <a:miter lim="400000"/>
          </a:ln>
        </p:spPr>
        <p:txBody>
          <a:bodyPr lIns="45719" rIns="45719"/>
          <a:lstStyle/>
          <a:p>
            <a:pPr/>
          </a:p>
        </p:txBody>
      </p:sp>
      <p:sp>
        <p:nvSpPr>
          <p:cNvPr id="345" name="Text 23"/>
          <p:cNvSpPr txBox="1"/>
          <p:nvPr/>
        </p:nvSpPr>
        <p:spPr>
          <a:xfrm>
            <a:off x="7552943" y="2939668"/>
            <a:ext cx="1719073" cy="2654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90000"/>
              </a:lnSpc>
              <a:defRPr b="1" sz="900">
                <a:solidFill>
                  <a:srgbClr val="64748B"/>
                </a:solidFill>
                <a:latin typeface="DM Sans"/>
                <a:ea typeface="DM Sans"/>
                <a:cs typeface="DM Sans"/>
                <a:sym typeface="DM Sans"/>
              </a:defRPr>
            </a:pPr>
            <a:r>
              <a:t>Chile customs</a:t>
            </a:r>
          </a:p>
          <a:p>
            <a:pPr algn="ctr">
              <a:lnSpc>
                <a:spcPct val="90000"/>
              </a:lnSpc>
              <a:defRPr b="1" sz="900">
                <a:solidFill>
                  <a:srgbClr val="64748B"/>
                </a:solidFill>
                <a:latin typeface="DM Sans"/>
                <a:ea typeface="DM Sans"/>
                <a:cs typeface="DM Sans"/>
                <a:sym typeface="DM Sans"/>
              </a:defRPr>
            </a:pPr>
            <a:r>
              <a:t>20yr</a:t>
            </a:r>
          </a:p>
        </p:txBody>
      </p:sp>
      <p:sp>
        <p:nvSpPr>
          <p:cNvPr id="346" name="Shape 24"/>
          <p:cNvSpPr/>
          <p:nvPr/>
        </p:nvSpPr>
        <p:spPr>
          <a:xfrm>
            <a:off x="9326880" y="2834639"/>
            <a:ext cx="2286001" cy="475488"/>
          </a:xfrm>
          <a:prstGeom prst="rect">
            <a:avLst/>
          </a:prstGeom>
          <a:solidFill>
            <a:srgbClr val="0A0E16"/>
          </a:solidFill>
          <a:ln w="12700">
            <a:miter lim="400000"/>
          </a:ln>
        </p:spPr>
        <p:txBody>
          <a:bodyPr lIns="45719" rIns="45719"/>
          <a:lstStyle/>
          <a:p>
            <a:pPr/>
          </a:p>
        </p:txBody>
      </p:sp>
      <p:sp>
        <p:nvSpPr>
          <p:cNvPr id="347" name="Text 25"/>
          <p:cNvSpPr txBox="1"/>
          <p:nvPr/>
        </p:nvSpPr>
        <p:spPr>
          <a:xfrm>
            <a:off x="9381743" y="3002533"/>
            <a:ext cx="2176273"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90000"/>
              </a:lnSpc>
              <a:defRPr b="1" sz="900">
                <a:solidFill>
                  <a:srgbClr val="64748B"/>
                </a:solidFill>
                <a:latin typeface="DM Sans"/>
                <a:ea typeface="DM Sans"/>
                <a:cs typeface="DM Sans"/>
                <a:sym typeface="DM Sans"/>
              </a:defRPr>
            </a:lvl1pPr>
          </a:lstStyle>
          <a:p>
            <a:pPr/>
            <a:r>
              <a:t>Price</a:t>
            </a:r>
          </a:p>
        </p:txBody>
      </p:sp>
      <p:sp>
        <p:nvSpPr>
          <p:cNvPr id="348" name="Shape 26"/>
          <p:cNvSpPr/>
          <p:nvPr/>
        </p:nvSpPr>
        <p:spPr>
          <a:xfrm>
            <a:off x="548640" y="3310128"/>
            <a:ext cx="2286001" cy="420625"/>
          </a:xfrm>
          <a:prstGeom prst="rect">
            <a:avLst/>
          </a:prstGeom>
          <a:solidFill>
            <a:srgbClr val="0C1220"/>
          </a:solidFill>
          <a:ln w="6350">
            <a:solidFill>
              <a:srgbClr val="172033"/>
            </a:solidFill>
          </a:ln>
        </p:spPr>
        <p:txBody>
          <a:bodyPr lIns="45719" rIns="45719"/>
          <a:lstStyle/>
          <a:p>
            <a:pPr/>
          </a:p>
        </p:txBody>
      </p:sp>
      <p:sp>
        <p:nvSpPr>
          <p:cNvPr id="349" name="Text 27"/>
          <p:cNvSpPr txBox="1"/>
          <p:nvPr/>
        </p:nvSpPr>
        <p:spPr>
          <a:xfrm>
            <a:off x="685800" y="3437890"/>
            <a:ext cx="205740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latin typeface="DM Sans"/>
                <a:ea typeface="DM Sans"/>
                <a:cs typeface="DM Sans"/>
                <a:sym typeface="DM Sans"/>
              </a:defRPr>
            </a:lvl1pPr>
          </a:lstStyle>
          <a:p>
            <a:pPr/>
            <a:r>
              <a:t>MarineTraffic</a:t>
            </a:r>
          </a:p>
        </p:txBody>
      </p:sp>
      <p:sp>
        <p:nvSpPr>
          <p:cNvPr id="350" name="Shape 28"/>
          <p:cNvSpPr/>
          <p:nvPr/>
        </p:nvSpPr>
        <p:spPr>
          <a:xfrm>
            <a:off x="2834639" y="3310128"/>
            <a:ext cx="1691641" cy="420625"/>
          </a:xfrm>
          <a:prstGeom prst="rect">
            <a:avLst/>
          </a:prstGeom>
          <a:solidFill>
            <a:srgbClr val="0C1220"/>
          </a:solidFill>
          <a:ln w="6350">
            <a:solidFill>
              <a:srgbClr val="172033"/>
            </a:solidFill>
          </a:ln>
        </p:spPr>
        <p:txBody>
          <a:bodyPr lIns="45719" rIns="45719"/>
          <a:lstStyle/>
          <a:p>
            <a:pPr/>
          </a:p>
        </p:txBody>
      </p:sp>
      <p:pic>
        <p:nvPicPr>
          <p:cNvPr id="351" name="Image 0" descr="Image 0"/>
          <p:cNvPicPr>
            <a:picLocks noChangeAspect="1"/>
          </p:cNvPicPr>
          <p:nvPr/>
        </p:nvPicPr>
        <p:blipFill>
          <a:blip r:embed="rId3">
            <a:extLst/>
          </a:blip>
          <a:stretch>
            <a:fillRect/>
          </a:stretch>
        </p:blipFill>
        <p:spPr>
          <a:xfrm>
            <a:off x="3570732" y="3410711"/>
            <a:ext cx="219457" cy="219457"/>
          </a:xfrm>
          <a:prstGeom prst="rect">
            <a:avLst/>
          </a:prstGeom>
          <a:ln w="12700">
            <a:miter lim="400000"/>
          </a:ln>
        </p:spPr>
      </p:pic>
      <p:sp>
        <p:nvSpPr>
          <p:cNvPr id="352" name="Shape 29"/>
          <p:cNvSpPr/>
          <p:nvPr/>
        </p:nvSpPr>
        <p:spPr>
          <a:xfrm>
            <a:off x="4526279" y="3310128"/>
            <a:ext cx="1554481" cy="420625"/>
          </a:xfrm>
          <a:prstGeom prst="rect">
            <a:avLst/>
          </a:prstGeom>
          <a:solidFill>
            <a:srgbClr val="0C1220"/>
          </a:solidFill>
          <a:ln w="6350">
            <a:solidFill>
              <a:srgbClr val="172033"/>
            </a:solidFill>
          </a:ln>
        </p:spPr>
        <p:txBody>
          <a:bodyPr lIns="45719" rIns="45719"/>
          <a:lstStyle/>
          <a:p>
            <a:pPr/>
          </a:p>
        </p:txBody>
      </p:sp>
      <p:pic>
        <p:nvPicPr>
          <p:cNvPr id="353" name="Image 1" descr="Image 1"/>
          <p:cNvPicPr>
            <a:picLocks noChangeAspect="1"/>
          </p:cNvPicPr>
          <p:nvPr/>
        </p:nvPicPr>
        <p:blipFill>
          <a:blip r:embed="rId3">
            <a:extLst/>
          </a:blip>
          <a:stretch>
            <a:fillRect/>
          </a:stretch>
        </p:blipFill>
        <p:spPr>
          <a:xfrm>
            <a:off x="5193791" y="3410711"/>
            <a:ext cx="219457" cy="219457"/>
          </a:xfrm>
          <a:prstGeom prst="rect">
            <a:avLst/>
          </a:prstGeom>
          <a:ln w="12700">
            <a:miter lim="400000"/>
          </a:ln>
        </p:spPr>
      </p:pic>
      <p:sp>
        <p:nvSpPr>
          <p:cNvPr id="354" name="Shape 30"/>
          <p:cNvSpPr/>
          <p:nvPr/>
        </p:nvSpPr>
        <p:spPr>
          <a:xfrm>
            <a:off x="6080759" y="3310128"/>
            <a:ext cx="1417321" cy="420625"/>
          </a:xfrm>
          <a:prstGeom prst="rect">
            <a:avLst/>
          </a:prstGeom>
          <a:solidFill>
            <a:srgbClr val="0C1220"/>
          </a:solidFill>
          <a:ln w="6350">
            <a:solidFill>
              <a:srgbClr val="172033"/>
            </a:solidFill>
          </a:ln>
        </p:spPr>
        <p:txBody>
          <a:bodyPr lIns="45719" rIns="45719"/>
          <a:lstStyle/>
          <a:p>
            <a:pPr/>
          </a:p>
        </p:txBody>
      </p:sp>
      <p:pic>
        <p:nvPicPr>
          <p:cNvPr id="355" name="Image 2" descr="Image 2"/>
          <p:cNvPicPr>
            <a:picLocks noChangeAspect="1"/>
          </p:cNvPicPr>
          <p:nvPr/>
        </p:nvPicPr>
        <p:blipFill>
          <a:blip r:embed="rId3">
            <a:extLst/>
          </a:blip>
          <a:stretch>
            <a:fillRect/>
          </a:stretch>
        </p:blipFill>
        <p:spPr>
          <a:xfrm>
            <a:off x="6679692" y="3410711"/>
            <a:ext cx="219457" cy="219457"/>
          </a:xfrm>
          <a:prstGeom prst="rect">
            <a:avLst/>
          </a:prstGeom>
          <a:ln w="12700">
            <a:miter lim="400000"/>
          </a:ln>
        </p:spPr>
      </p:pic>
      <p:sp>
        <p:nvSpPr>
          <p:cNvPr id="356" name="Shape 31"/>
          <p:cNvSpPr/>
          <p:nvPr/>
        </p:nvSpPr>
        <p:spPr>
          <a:xfrm>
            <a:off x="7498080" y="3310128"/>
            <a:ext cx="1828801" cy="420625"/>
          </a:xfrm>
          <a:prstGeom prst="rect">
            <a:avLst/>
          </a:prstGeom>
          <a:solidFill>
            <a:srgbClr val="0C1220"/>
          </a:solidFill>
          <a:ln w="6350">
            <a:solidFill>
              <a:srgbClr val="172033"/>
            </a:solidFill>
          </a:ln>
        </p:spPr>
        <p:txBody>
          <a:bodyPr lIns="45719" rIns="45719"/>
          <a:lstStyle/>
          <a:p>
            <a:pPr/>
          </a:p>
        </p:txBody>
      </p:sp>
      <p:pic>
        <p:nvPicPr>
          <p:cNvPr id="357" name="Image 3" descr="Image 3"/>
          <p:cNvPicPr>
            <a:picLocks noChangeAspect="1"/>
          </p:cNvPicPr>
          <p:nvPr/>
        </p:nvPicPr>
        <p:blipFill>
          <a:blip r:embed="rId3">
            <a:extLst/>
          </a:blip>
          <a:stretch>
            <a:fillRect/>
          </a:stretch>
        </p:blipFill>
        <p:spPr>
          <a:xfrm>
            <a:off x="8302752" y="3410711"/>
            <a:ext cx="219457" cy="219457"/>
          </a:xfrm>
          <a:prstGeom prst="rect">
            <a:avLst/>
          </a:prstGeom>
          <a:ln w="12700">
            <a:miter lim="400000"/>
          </a:ln>
        </p:spPr>
      </p:pic>
      <p:sp>
        <p:nvSpPr>
          <p:cNvPr id="358" name="Shape 32"/>
          <p:cNvSpPr/>
          <p:nvPr/>
        </p:nvSpPr>
        <p:spPr>
          <a:xfrm>
            <a:off x="9326880" y="3310128"/>
            <a:ext cx="2286001" cy="420625"/>
          </a:xfrm>
          <a:prstGeom prst="rect">
            <a:avLst/>
          </a:prstGeom>
          <a:solidFill>
            <a:srgbClr val="0C1220"/>
          </a:solidFill>
          <a:ln w="6350">
            <a:solidFill>
              <a:srgbClr val="172033"/>
            </a:solidFill>
          </a:ln>
        </p:spPr>
        <p:txBody>
          <a:bodyPr lIns="45719" rIns="45719"/>
          <a:lstStyle/>
          <a:p>
            <a:pPr/>
          </a:p>
        </p:txBody>
      </p:sp>
      <p:sp>
        <p:nvSpPr>
          <p:cNvPr id="359" name="Text 33"/>
          <p:cNvSpPr txBox="1"/>
          <p:nvPr/>
        </p:nvSpPr>
        <p:spPr>
          <a:xfrm>
            <a:off x="9326880" y="3444240"/>
            <a:ext cx="22860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AEB9C7"/>
                </a:solidFill>
                <a:latin typeface="DM Sans"/>
                <a:ea typeface="DM Sans"/>
                <a:cs typeface="DM Sans"/>
                <a:sym typeface="DM Sans"/>
              </a:defRPr>
            </a:lvl1pPr>
          </a:lstStyle>
          <a:p>
            <a:pPr/>
            <a:r>
              <a:t>€100–150</a:t>
            </a:r>
          </a:p>
        </p:txBody>
      </p:sp>
      <p:sp>
        <p:nvSpPr>
          <p:cNvPr id="360" name="Shape 34"/>
          <p:cNvSpPr/>
          <p:nvPr/>
        </p:nvSpPr>
        <p:spPr>
          <a:xfrm>
            <a:off x="548640" y="3730752"/>
            <a:ext cx="2286001" cy="420625"/>
          </a:xfrm>
          <a:prstGeom prst="rect">
            <a:avLst/>
          </a:prstGeom>
          <a:solidFill>
            <a:srgbClr val="111A2B"/>
          </a:solidFill>
          <a:ln w="6350">
            <a:solidFill>
              <a:srgbClr val="172033"/>
            </a:solidFill>
          </a:ln>
        </p:spPr>
        <p:txBody>
          <a:bodyPr lIns="45719" rIns="45719"/>
          <a:lstStyle/>
          <a:p>
            <a:pPr/>
          </a:p>
        </p:txBody>
      </p:sp>
      <p:sp>
        <p:nvSpPr>
          <p:cNvPr id="361" name="Text 35"/>
          <p:cNvSpPr txBox="1"/>
          <p:nvPr/>
        </p:nvSpPr>
        <p:spPr>
          <a:xfrm>
            <a:off x="685800" y="3858514"/>
            <a:ext cx="205740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latin typeface="DM Sans"/>
                <a:ea typeface="DM Sans"/>
                <a:cs typeface="DM Sans"/>
                <a:sym typeface="DM Sans"/>
              </a:defRPr>
            </a:lvl1pPr>
          </a:lstStyle>
          <a:p>
            <a:pPr/>
            <a:r>
              <a:t>VesselFinder</a:t>
            </a:r>
          </a:p>
        </p:txBody>
      </p:sp>
      <p:sp>
        <p:nvSpPr>
          <p:cNvPr id="362" name="Shape 36"/>
          <p:cNvSpPr/>
          <p:nvPr/>
        </p:nvSpPr>
        <p:spPr>
          <a:xfrm>
            <a:off x="2834639" y="3730752"/>
            <a:ext cx="1691641" cy="420625"/>
          </a:xfrm>
          <a:prstGeom prst="rect">
            <a:avLst/>
          </a:prstGeom>
          <a:solidFill>
            <a:srgbClr val="111A2B"/>
          </a:solidFill>
          <a:ln w="6350">
            <a:solidFill>
              <a:srgbClr val="172033"/>
            </a:solidFill>
          </a:ln>
        </p:spPr>
        <p:txBody>
          <a:bodyPr lIns="45719" rIns="45719"/>
          <a:lstStyle/>
          <a:p>
            <a:pPr/>
          </a:p>
        </p:txBody>
      </p:sp>
      <p:pic>
        <p:nvPicPr>
          <p:cNvPr id="363" name="Image 4" descr="Image 4"/>
          <p:cNvPicPr>
            <a:picLocks noChangeAspect="1"/>
          </p:cNvPicPr>
          <p:nvPr/>
        </p:nvPicPr>
        <p:blipFill>
          <a:blip r:embed="rId3">
            <a:extLst/>
          </a:blip>
          <a:stretch>
            <a:fillRect/>
          </a:stretch>
        </p:blipFill>
        <p:spPr>
          <a:xfrm>
            <a:off x="3570732" y="3831335"/>
            <a:ext cx="219457" cy="219457"/>
          </a:xfrm>
          <a:prstGeom prst="rect">
            <a:avLst/>
          </a:prstGeom>
          <a:ln w="12700">
            <a:miter lim="400000"/>
          </a:ln>
        </p:spPr>
      </p:pic>
      <p:sp>
        <p:nvSpPr>
          <p:cNvPr id="364" name="Shape 37"/>
          <p:cNvSpPr/>
          <p:nvPr/>
        </p:nvSpPr>
        <p:spPr>
          <a:xfrm>
            <a:off x="4526279" y="3730752"/>
            <a:ext cx="1554481" cy="420625"/>
          </a:xfrm>
          <a:prstGeom prst="rect">
            <a:avLst/>
          </a:prstGeom>
          <a:solidFill>
            <a:srgbClr val="111A2B"/>
          </a:solidFill>
          <a:ln w="6350">
            <a:solidFill>
              <a:srgbClr val="172033"/>
            </a:solidFill>
          </a:ln>
        </p:spPr>
        <p:txBody>
          <a:bodyPr lIns="45719" rIns="45719"/>
          <a:lstStyle/>
          <a:p>
            <a:pPr/>
          </a:p>
        </p:txBody>
      </p:sp>
      <p:pic>
        <p:nvPicPr>
          <p:cNvPr id="365" name="Image 5" descr="Image 5"/>
          <p:cNvPicPr>
            <a:picLocks noChangeAspect="1"/>
          </p:cNvPicPr>
          <p:nvPr/>
        </p:nvPicPr>
        <p:blipFill>
          <a:blip r:embed="rId3">
            <a:extLst/>
          </a:blip>
          <a:stretch>
            <a:fillRect/>
          </a:stretch>
        </p:blipFill>
        <p:spPr>
          <a:xfrm>
            <a:off x="5193791" y="3831335"/>
            <a:ext cx="219457" cy="219457"/>
          </a:xfrm>
          <a:prstGeom prst="rect">
            <a:avLst/>
          </a:prstGeom>
          <a:ln w="12700">
            <a:miter lim="400000"/>
          </a:ln>
        </p:spPr>
      </p:pic>
      <p:sp>
        <p:nvSpPr>
          <p:cNvPr id="366" name="Shape 38"/>
          <p:cNvSpPr/>
          <p:nvPr/>
        </p:nvSpPr>
        <p:spPr>
          <a:xfrm>
            <a:off x="6080759" y="3730752"/>
            <a:ext cx="1417321" cy="420625"/>
          </a:xfrm>
          <a:prstGeom prst="rect">
            <a:avLst/>
          </a:prstGeom>
          <a:solidFill>
            <a:srgbClr val="111A2B"/>
          </a:solidFill>
          <a:ln w="6350">
            <a:solidFill>
              <a:srgbClr val="172033"/>
            </a:solidFill>
          </a:ln>
        </p:spPr>
        <p:txBody>
          <a:bodyPr lIns="45719" rIns="45719"/>
          <a:lstStyle/>
          <a:p>
            <a:pPr/>
          </a:p>
        </p:txBody>
      </p:sp>
      <p:pic>
        <p:nvPicPr>
          <p:cNvPr id="367" name="Image 6" descr="Image 6"/>
          <p:cNvPicPr>
            <a:picLocks noChangeAspect="1"/>
          </p:cNvPicPr>
          <p:nvPr/>
        </p:nvPicPr>
        <p:blipFill>
          <a:blip r:embed="rId3">
            <a:extLst/>
          </a:blip>
          <a:stretch>
            <a:fillRect/>
          </a:stretch>
        </p:blipFill>
        <p:spPr>
          <a:xfrm>
            <a:off x="6679692" y="3831335"/>
            <a:ext cx="219457" cy="219457"/>
          </a:xfrm>
          <a:prstGeom prst="rect">
            <a:avLst/>
          </a:prstGeom>
          <a:ln w="12700">
            <a:miter lim="400000"/>
          </a:ln>
        </p:spPr>
      </p:pic>
      <p:sp>
        <p:nvSpPr>
          <p:cNvPr id="368" name="Shape 39"/>
          <p:cNvSpPr/>
          <p:nvPr/>
        </p:nvSpPr>
        <p:spPr>
          <a:xfrm>
            <a:off x="7498080" y="3730752"/>
            <a:ext cx="1828801" cy="420625"/>
          </a:xfrm>
          <a:prstGeom prst="rect">
            <a:avLst/>
          </a:prstGeom>
          <a:solidFill>
            <a:srgbClr val="111A2B"/>
          </a:solidFill>
          <a:ln w="6350">
            <a:solidFill>
              <a:srgbClr val="172033"/>
            </a:solidFill>
          </a:ln>
        </p:spPr>
        <p:txBody>
          <a:bodyPr lIns="45719" rIns="45719"/>
          <a:lstStyle/>
          <a:p>
            <a:pPr/>
          </a:p>
        </p:txBody>
      </p:sp>
      <p:pic>
        <p:nvPicPr>
          <p:cNvPr id="369" name="Image 7" descr="Image 7"/>
          <p:cNvPicPr>
            <a:picLocks noChangeAspect="1"/>
          </p:cNvPicPr>
          <p:nvPr/>
        </p:nvPicPr>
        <p:blipFill>
          <a:blip r:embed="rId3">
            <a:extLst/>
          </a:blip>
          <a:stretch>
            <a:fillRect/>
          </a:stretch>
        </p:blipFill>
        <p:spPr>
          <a:xfrm>
            <a:off x="8302752" y="3831335"/>
            <a:ext cx="219457" cy="219457"/>
          </a:xfrm>
          <a:prstGeom prst="rect">
            <a:avLst/>
          </a:prstGeom>
          <a:ln w="12700">
            <a:miter lim="400000"/>
          </a:ln>
        </p:spPr>
      </p:pic>
      <p:sp>
        <p:nvSpPr>
          <p:cNvPr id="370" name="Shape 40"/>
          <p:cNvSpPr/>
          <p:nvPr/>
        </p:nvSpPr>
        <p:spPr>
          <a:xfrm>
            <a:off x="9326880" y="3730752"/>
            <a:ext cx="2286001" cy="420625"/>
          </a:xfrm>
          <a:prstGeom prst="rect">
            <a:avLst/>
          </a:prstGeom>
          <a:solidFill>
            <a:srgbClr val="111A2B"/>
          </a:solidFill>
          <a:ln w="6350">
            <a:solidFill>
              <a:srgbClr val="172033"/>
            </a:solidFill>
          </a:ln>
        </p:spPr>
        <p:txBody>
          <a:bodyPr lIns="45719" rIns="45719"/>
          <a:lstStyle/>
          <a:p>
            <a:pPr/>
          </a:p>
        </p:txBody>
      </p:sp>
      <p:sp>
        <p:nvSpPr>
          <p:cNvPr id="371" name="Text 41"/>
          <p:cNvSpPr txBox="1"/>
          <p:nvPr/>
        </p:nvSpPr>
        <p:spPr>
          <a:xfrm>
            <a:off x="9326880" y="3864864"/>
            <a:ext cx="22860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AEB9C7"/>
                </a:solidFill>
                <a:latin typeface="DM Sans"/>
                <a:ea typeface="DM Sans"/>
                <a:cs typeface="DM Sans"/>
                <a:sym typeface="DM Sans"/>
              </a:defRPr>
            </a:lvl1pPr>
          </a:lstStyle>
          <a:p>
            <a:pPr/>
            <a:r>
              <a:t>€40–120</a:t>
            </a:r>
          </a:p>
        </p:txBody>
      </p:sp>
      <p:sp>
        <p:nvSpPr>
          <p:cNvPr id="372" name="Shape 42"/>
          <p:cNvSpPr/>
          <p:nvPr/>
        </p:nvSpPr>
        <p:spPr>
          <a:xfrm>
            <a:off x="548640" y="4151376"/>
            <a:ext cx="2286001" cy="420625"/>
          </a:xfrm>
          <a:prstGeom prst="rect">
            <a:avLst/>
          </a:prstGeom>
          <a:solidFill>
            <a:srgbClr val="0C1220"/>
          </a:solidFill>
          <a:ln w="6350">
            <a:solidFill>
              <a:srgbClr val="172033"/>
            </a:solidFill>
          </a:ln>
        </p:spPr>
        <p:txBody>
          <a:bodyPr lIns="45719" rIns="45719"/>
          <a:lstStyle/>
          <a:p>
            <a:pPr/>
          </a:p>
        </p:txBody>
      </p:sp>
      <p:sp>
        <p:nvSpPr>
          <p:cNvPr id="373" name="Text 43"/>
          <p:cNvSpPr txBox="1"/>
          <p:nvPr/>
        </p:nvSpPr>
        <p:spPr>
          <a:xfrm>
            <a:off x="685800" y="4279138"/>
            <a:ext cx="205740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latin typeface="DM Sans"/>
                <a:ea typeface="DM Sans"/>
                <a:cs typeface="DM Sans"/>
                <a:sym typeface="DM Sans"/>
              </a:defRPr>
            </a:lvl1pPr>
          </a:lstStyle>
          <a:p>
            <a:pPr/>
            <a:r>
              <a:t>Kpler</a:t>
            </a:r>
          </a:p>
        </p:txBody>
      </p:sp>
      <p:sp>
        <p:nvSpPr>
          <p:cNvPr id="374" name="Shape 44"/>
          <p:cNvSpPr/>
          <p:nvPr/>
        </p:nvSpPr>
        <p:spPr>
          <a:xfrm>
            <a:off x="2834639" y="4151376"/>
            <a:ext cx="1691641" cy="420625"/>
          </a:xfrm>
          <a:prstGeom prst="rect">
            <a:avLst/>
          </a:prstGeom>
          <a:solidFill>
            <a:srgbClr val="0C1220"/>
          </a:solidFill>
          <a:ln w="6350">
            <a:solidFill>
              <a:srgbClr val="172033"/>
            </a:solidFill>
          </a:ln>
        </p:spPr>
        <p:txBody>
          <a:bodyPr lIns="45719" rIns="45719"/>
          <a:lstStyle/>
          <a:p>
            <a:pPr/>
          </a:p>
        </p:txBody>
      </p:sp>
      <p:pic>
        <p:nvPicPr>
          <p:cNvPr id="375" name="Image 8" descr="Image 8"/>
          <p:cNvPicPr>
            <a:picLocks noChangeAspect="1"/>
          </p:cNvPicPr>
          <p:nvPr/>
        </p:nvPicPr>
        <p:blipFill>
          <a:blip r:embed="rId4">
            <a:extLst/>
          </a:blip>
          <a:stretch>
            <a:fillRect/>
          </a:stretch>
        </p:blipFill>
        <p:spPr>
          <a:xfrm>
            <a:off x="3570732" y="4251959"/>
            <a:ext cx="219457" cy="219457"/>
          </a:xfrm>
          <a:prstGeom prst="rect">
            <a:avLst/>
          </a:prstGeom>
          <a:ln w="12700">
            <a:miter lim="400000"/>
          </a:ln>
        </p:spPr>
      </p:pic>
      <p:sp>
        <p:nvSpPr>
          <p:cNvPr id="376" name="Shape 45"/>
          <p:cNvSpPr/>
          <p:nvPr/>
        </p:nvSpPr>
        <p:spPr>
          <a:xfrm>
            <a:off x="4526279" y="4151376"/>
            <a:ext cx="1554481" cy="420625"/>
          </a:xfrm>
          <a:prstGeom prst="rect">
            <a:avLst/>
          </a:prstGeom>
          <a:solidFill>
            <a:srgbClr val="0C1220"/>
          </a:solidFill>
          <a:ln w="6350">
            <a:solidFill>
              <a:srgbClr val="172033"/>
            </a:solidFill>
          </a:ln>
        </p:spPr>
        <p:txBody>
          <a:bodyPr lIns="45719" rIns="45719"/>
          <a:lstStyle/>
          <a:p>
            <a:pPr/>
          </a:p>
        </p:txBody>
      </p:sp>
      <p:pic>
        <p:nvPicPr>
          <p:cNvPr id="377" name="Image 9" descr="Image 9"/>
          <p:cNvPicPr>
            <a:picLocks noChangeAspect="1"/>
          </p:cNvPicPr>
          <p:nvPr/>
        </p:nvPicPr>
        <p:blipFill>
          <a:blip r:embed="rId5">
            <a:extLst/>
          </a:blip>
          <a:stretch>
            <a:fillRect/>
          </a:stretch>
        </p:blipFill>
        <p:spPr>
          <a:xfrm>
            <a:off x="5193791" y="4251959"/>
            <a:ext cx="219457" cy="219457"/>
          </a:xfrm>
          <a:prstGeom prst="rect">
            <a:avLst/>
          </a:prstGeom>
          <a:ln w="12700">
            <a:miter lim="400000"/>
          </a:ln>
        </p:spPr>
      </p:pic>
      <p:sp>
        <p:nvSpPr>
          <p:cNvPr id="378" name="Shape 46"/>
          <p:cNvSpPr/>
          <p:nvPr/>
        </p:nvSpPr>
        <p:spPr>
          <a:xfrm>
            <a:off x="6080759" y="4151376"/>
            <a:ext cx="1417321" cy="420625"/>
          </a:xfrm>
          <a:prstGeom prst="rect">
            <a:avLst/>
          </a:prstGeom>
          <a:solidFill>
            <a:srgbClr val="0C1220"/>
          </a:solidFill>
          <a:ln w="6350">
            <a:solidFill>
              <a:srgbClr val="172033"/>
            </a:solidFill>
          </a:ln>
        </p:spPr>
        <p:txBody>
          <a:bodyPr lIns="45719" rIns="45719"/>
          <a:lstStyle/>
          <a:p>
            <a:pPr/>
          </a:p>
        </p:txBody>
      </p:sp>
      <p:pic>
        <p:nvPicPr>
          <p:cNvPr id="379" name="Image 10" descr="Image 10"/>
          <p:cNvPicPr>
            <a:picLocks noChangeAspect="1"/>
          </p:cNvPicPr>
          <p:nvPr/>
        </p:nvPicPr>
        <p:blipFill>
          <a:blip r:embed="rId3">
            <a:extLst/>
          </a:blip>
          <a:stretch>
            <a:fillRect/>
          </a:stretch>
        </p:blipFill>
        <p:spPr>
          <a:xfrm>
            <a:off x="6679692" y="4251959"/>
            <a:ext cx="219457" cy="219457"/>
          </a:xfrm>
          <a:prstGeom prst="rect">
            <a:avLst/>
          </a:prstGeom>
          <a:ln w="12700">
            <a:miter lim="400000"/>
          </a:ln>
        </p:spPr>
      </p:pic>
      <p:sp>
        <p:nvSpPr>
          <p:cNvPr id="380" name="Shape 47"/>
          <p:cNvSpPr/>
          <p:nvPr/>
        </p:nvSpPr>
        <p:spPr>
          <a:xfrm>
            <a:off x="7498080" y="4151376"/>
            <a:ext cx="1828801" cy="420625"/>
          </a:xfrm>
          <a:prstGeom prst="rect">
            <a:avLst/>
          </a:prstGeom>
          <a:solidFill>
            <a:srgbClr val="0C1220"/>
          </a:solidFill>
          <a:ln w="6350">
            <a:solidFill>
              <a:srgbClr val="172033"/>
            </a:solidFill>
          </a:ln>
        </p:spPr>
        <p:txBody>
          <a:bodyPr lIns="45719" rIns="45719"/>
          <a:lstStyle/>
          <a:p>
            <a:pPr/>
          </a:p>
        </p:txBody>
      </p:sp>
      <p:pic>
        <p:nvPicPr>
          <p:cNvPr id="381" name="Image 11" descr="Image 11"/>
          <p:cNvPicPr>
            <a:picLocks noChangeAspect="1"/>
          </p:cNvPicPr>
          <p:nvPr/>
        </p:nvPicPr>
        <p:blipFill>
          <a:blip r:embed="rId3">
            <a:extLst/>
          </a:blip>
          <a:stretch>
            <a:fillRect/>
          </a:stretch>
        </p:blipFill>
        <p:spPr>
          <a:xfrm>
            <a:off x="8302752" y="4251959"/>
            <a:ext cx="219457" cy="219457"/>
          </a:xfrm>
          <a:prstGeom prst="rect">
            <a:avLst/>
          </a:prstGeom>
          <a:ln w="12700">
            <a:miter lim="400000"/>
          </a:ln>
        </p:spPr>
      </p:pic>
      <p:sp>
        <p:nvSpPr>
          <p:cNvPr id="382" name="Shape 48"/>
          <p:cNvSpPr/>
          <p:nvPr/>
        </p:nvSpPr>
        <p:spPr>
          <a:xfrm>
            <a:off x="9326880" y="4151376"/>
            <a:ext cx="2286001" cy="420625"/>
          </a:xfrm>
          <a:prstGeom prst="rect">
            <a:avLst/>
          </a:prstGeom>
          <a:solidFill>
            <a:srgbClr val="0C1220"/>
          </a:solidFill>
          <a:ln w="6350">
            <a:solidFill>
              <a:srgbClr val="172033"/>
            </a:solidFill>
          </a:ln>
        </p:spPr>
        <p:txBody>
          <a:bodyPr lIns="45719" rIns="45719"/>
          <a:lstStyle/>
          <a:p>
            <a:pPr/>
          </a:p>
        </p:txBody>
      </p:sp>
      <p:sp>
        <p:nvSpPr>
          <p:cNvPr id="383" name="Text 49"/>
          <p:cNvSpPr txBox="1"/>
          <p:nvPr/>
        </p:nvSpPr>
        <p:spPr>
          <a:xfrm>
            <a:off x="9326880" y="4285488"/>
            <a:ext cx="22860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AEB9C7"/>
                </a:solidFill>
                <a:latin typeface="DM Sans"/>
                <a:ea typeface="DM Sans"/>
                <a:cs typeface="DM Sans"/>
                <a:sym typeface="DM Sans"/>
              </a:defRPr>
            </a:lvl1pPr>
          </a:lstStyle>
          <a:p>
            <a:pPr/>
            <a:r>
              <a:t>€500+</a:t>
            </a:r>
          </a:p>
        </p:txBody>
      </p:sp>
      <p:sp>
        <p:nvSpPr>
          <p:cNvPr id="384" name="Shape 50"/>
          <p:cNvSpPr/>
          <p:nvPr/>
        </p:nvSpPr>
        <p:spPr>
          <a:xfrm>
            <a:off x="548640" y="4572000"/>
            <a:ext cx="2286001" cy="420624"/>
          </a:xfrm>
          <a:prstGeom prst="rect">
            <a:avLst/>
          </a:prstGeom>
          <a:solidFill>
            <a:srgbClr val="111A2B"/>
          </a:solidFill>
          <a:ln w="6350">
            <a:solidFill>
              <a:srgbClr val="172033"/>
            </a:solidFill>
          </a:ln>
        </p:spPr>
        <p:txBody>
          <a:bodyPr lIns="45719" rIns="45719"/>
          <a:lstStyle/>
          <a:p>
            <a:pPr/>
          </a:p>
        </p:txBody>
      </p:sp>
      <p:sp>
        <p:nvSpPr>
          <p:cNvPr id="385" name="Text 51"/>
          <p:cNvSpPr txBox="1"/>
          <p:nvPr/>
        </p:nvSpPr>
        <p:spPr>
          <a:xfrm>
            <a:off x="685800" y="4699761"/>
            <a:ext cx="205740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latin typeface="DM Sans"/>
                <a:ea typeface="DM Sans"/>
                <a:cs typeface="DM Sans"/>
                <a:sym typeface="DM Sans"/>
              </a:defRPr>
            </a:lvl1pPr>
          </a:lstStyle>
          <a:p>
            <a:pPr/>
            <a:r>
              <a:t>Vizion</a:t>
            </a:r>
          </a:p>
        </p:txBody>
      </p:sp>
      <p:sp>
        <p:nvSpPr>
          <p:cNvPr id="386" name="Shape 52"/>
          <p:cNvSpPr/>
          <p:nvPr/>
        </p:nvSpPr>
        <p:spPr>
          <a:xfrm>
            <a:off x="2834639" y="4572000"/>
            <a:ext cx="1691641" cy="420624"/>
          </a:xfrm>
          <a:prstGeom prst="rect">
            <a:avLst/>
          </a:prstGeom>
          <a:solidFill>
            <a:srgbClr val="111A2B"/>
          </a:solidFill>
          <a:ln w="6350">
            <a:solidFill>
              <a:srgbClr val="172033"/>
            </a:solidFill>
          </a:ln>
        </p:spPr>
        <p:txBody>
          <a:bodyPr lIns="45719" rIns="45719"/>
          <a:lstStyle/>
          <a:p>
            <a:pPr/>
          </a:p>
        </p:txBody>
      </p:sp>
      <p:pic>
        <p:nvPicPr>
          <p:cNvPr id="387" name="Image 12" descr="Image 12"/>
          <p:cNvPicPr>
            <a:picLocks noChangeAspect="1"/>
          </p:cNvPicPr>
          <p:nvPr/>
        </p:nvPicPr>
        <p:blipFill>
          <a:blip r:embed="rId3">
            <a:extLst/>
          </a:blip>
          <a:stretch>
            <a:fillRect/>
          </a:stretch>
        </p:blipFill>
        <p:spPr>
          <a:xfrm>
            <a:off x="3570732" y="4672584"/>
            <a:ext cx="219457" cy="219457"/>
          </a:xfrm>
          <a:prstGeom prst="rect">
            <a:avLst/>
          </a:prstGeom>
          <a:ln w="12700">
            <a:miter lim="400000"/>
          </a:ln>
        </p:spPr>
      </p:pic>
      <p:sp>
        <p:nvSpPr>
          <p:cNvPr id="388" name="Shape 53"/>
          <p:cNvSpPr/>
          <p:nvPr/>
        </p:nvSpPr>
        <p:spPr>
          <a:xfrm>
            <a:off x="4526279" y="4572000"/>
            <a:ext cx="1554481" cy="420624"/>
          </a:xfrm>
          <a:prstGeom prst="rect">
            <a:avLst/>
          </a:prstGeom>
          <a:solidFill>
            <a:srgbClr val="111A2B"/>
          </a:solidFill>
          <a:ln w="6350">
            <a:solidFill>
              <a:srgbClr val="172033"/>
            </a:solidFill>
          </a:ln>
        </p:spPr>
        <p:txBody>
          <a:bodyPr lIns="45719" rIns="45719"/>
          <a:lstStyle/>
          <a:p>
            <a:pPr/>
          </a:p>
        </p:txBody>
      </p:sp>
      <p:pic>
        <p:nvPicPr>
          <p:cNvPr id="389" name="Image 13" descr="Image 13"/>
          <p:cNvPicPr>
            <a:picLocks noChangeAspect="1"/>
          </p:cNvPicPr>
          <p:nvPr/>
        </p:nvPicPr>
        <p:blipFill>
          <a:blip r:embed="rId3">
            <a:extLst/>
          </a:blip>
          <a:stretch>
            <a:fillRect/>
          </a:stretch>
        </p:blipFill>
        <p:spPr>
          <a:xfrm>
            <a:off x="5193791" y="4672584"/>
            <a:ext cx="219457" cy="219457"/>
          </a:xfrm>
          <a:prstGeom prst="rect">
            <a:avLst/>
          </a:prstGeom>
          <a:ln w="12700">
            <a:miter lim="400000"/>
          </a:ln>
        </p:spPr>
      </p:pic>
      <p:sp>
        <p:nvSpPr>
          <p:cNvPr id="390" name="Shape 54"/>
          <p:cNvSpPr/>
          <p:nvPr/>
        </p:nvSpPr>
        <p:spPr>
          <a:xfrm>
            <a:off x="6080759" y="4572000"/>
            <a:ext cx="1417321" cy="420624"/>
          </a:xfrm>
          <a:prstGeom prst="rect">
            <a:avLst/>
          </a:prstGeom>
          <a:solidFill>
            <a:srgbClr val="111A2B"/>
          </a:solidFill>
          <a:ln w="6350">
            <a:solidFill>
              <a:srgbClr val="172033"/>
            </a:solidFill>
          </a:ln>
        </p:spPr>
        <p:txBody>
          <a:bodyPr lIns="45719" rIns="45719"/>
          <a:lstStyle/>
          <a:p>
            <a:pPr/>
          </a:p>
        </p:txBody>
      </p:sp>
      <p:pic>
        <p:nvPicPr>
          <p:cNvPr id="391" name="Image 14" descr="Image 14"/>
          <p:cNvPicPr>
            <a:picLocks noChangeAspect="1"/>
          </p:cNvPicPr>
          <p:nvPr/>
        </p:nvPicPr>
        <p:blipFill>
          <a:blip r:embed="rId3">
            <a:extLst/>
          </a:blip>
          <a:stretch>
            <a:fillRect/>
          </a:stretch>
        </p:blipFill>
        <p:spPr>
          <a:xfrm>
            <a:off x="6679692" y="4672584"/>
            <a:ext cx="219457" cy="219457"/>
          </a:xfrm>
          <a:prstGeom prst="rect">
            <a:avLst/>
          </a:prstGeom>
          <a:ln w="12700">
            <a:miter lim="400000"/>
          </a:ln>
        </p:spPr>
      </p:pic>
      <p:sp>
        <p:nvSpPr>
          <p:cNvPr id="392" name="Shape 55"/>
          <p:cNvSpPr/>
          <p:nvPr/>
        </p:nvSpPr>
        <p:spPr>
          <a:xfrm>
            <a:off x="7498080" y="4572000"/>
            <a:ext cx="1828801" cy="420624"/>
          </a:xfrm>
          <a:prstGeom prst="rect">
            <a:avLst/>
          </a:prstGeom>
          <a:solidFill>
            <a:srgbClr val="111A2B"/>
          </a:solidFill>
          <a:ln w="6350">
            <a:solidFill>
              <a:srgbClr val="172033"/>
            </a:solidFill>
          </a:ln>
        </p:spPr>
        <p:txBody>
          <a:bodyPr lIns="45719" rIns="45719"/>
          <a:lstStyle/>
          <a:p>
            <a:pPr/>
          </a:p>
        </p:txBody>
      </p:sp>
      <p:pic>
        <p:nvPicPr>
          <p:cNvPr id="393" name="Image 15" descr="Image 15"/>
          <p:cNvPicPr>
            <a:picLocks noChangeAspect="1"/>
          </p:cNvPicPr>
          <p:nvPr/>
        </p:nvPicPr>
        <p:blipFill>
          <a:blip r:embed="rId3">
            <a:extLst/>
          </a:blip>
          <a:stretch>
            <a:fillRect/>
          </a:stretch>
        </p:blipFill>
        <p:spPr>
          <a:xfrm>
            <a:off x="8302752" y="4672584"/>
            <a:ext cx="219457" cy="219457"/>
          </a:xfrm>
          <a:prstGeom prst="rect">
            <a:avLst/>
          </a:prstGeom>
          <a:ln w="12700">
            <a:miter lim="400000"/>
          </a:ln>
        </p:spPr>
      </p:pic>
      <p:sp>
        <p:nvSpPr>
          <p:cNvPr id="394" name="Shape 56"/>
          <p:cNvSpPr/>
          <p:nvPr/>
        </p:nvSpPr>
        <p:spPr>
          <a:xfrm>
            <a:off x="9326880" y="4572000"/>
            <a:ext cx="2286001" cy="420624"/>
          </a:xfrm>
          <a:prstGeom prst="rect">
            <a:avLst/>
          </a:prstGeom>
          <a:solidFill>
            <a:srgbClr val="111A2B"/>
          </a:solidFill>
          <a:ln w="6350">
            <a:solidFill>
              <a:srgbClr val="172033"/>
            </a:solidFill>
          </a:ln>
        </p:spPr>
        <p:txBody>
          <a:bodyPr lIns="45719" rIns="45719"/>
          <a:lstStyle/>
          <a:p>
            <a:pPr/>
          </a:p>
        </p:txBody>
      </p:sp>
      <p:sp>
        <p:nvSpPr>
          <p:cNvPr id="395" name="Text 57"/>
          <p:cNvSpPr txBox="1"/>
          <p:nvPr/>
        </p:nvSpPr>
        <p:spPr>
          <a:xfrm>
            <a:off x="9326880" y="4706111"/>
            <a:ext cx="22860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AEB9C7"/>
                </a:solidFill>
                <a:latin typeface="DM Sans"/>
                <a:ea typeface="DM Sans"/>
                <a:cs typeface="DM Sans"/>
                <a:sym typeface="DM Sans"/>
              </a:defRPr>
            </a:lvl1pPr>
          </a:lstStyle>
          <a:p>
            <a:pPr/>
            <a:r>
              <a:t>Custom</a:t>
            </a:r>
          </a:p>
        </p:txBody>
      </p:sp>
      <p:sp>
        <p:nvSpPr>
          <p:cNvPr id="396" name="Shape 58"/>
          <p:cNvSpPr/>
          <p:nvPr/>
        </p:nvSpPr>
        <p:spPr>
          <a:xfrm>
            <a:off x="548640" y="4992623"/>
            <a:ext cx="2286001" cy="420625"/>
          </a:xfrm>
          <a:prstGeom prst="rect">
            <a:avLst/>
          </a:prstGeom>
          <a:solidFill>
            <a:srgbClr val="0C1220"/>
          </a:solidFill>
          <a:ln w="6350">
            <a:solidFill>
              <a:srgbClr val="172033"/>
            </a:solidFill>
          </a:ln>
        </p:spPr>
        <p:txBody>
          <a:bodyPr lIns="45719" rIns="45719"/>
          <a:lstStyle/>
          <a:p>
            <a:pPr/>
          </a:p>
        </p:txBody>
      </p:sp>
      <p:sp>
        <p:nvSpPr>
          <p:cNvPr id="397" name="Text 59"/>
          <p:cNvSpPr txBox="1"/>
          <p:nvPr/>
        </p:nvSpPr>
        <p:spPr>
          <a:xfrm>
            <a:off x="685800" y="5120385"/>
            <a:ext cx="205740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latin typeface="DM Sans"/>
                <a:ea typeface="DM Sans"/>
                <a:cs typeface="DM Sans"/>
                <a:sym typeface="DM Sans"/>
              </a:defRPr>
            </a:lvl1pPr>
          </a:lstStyle>
          <a:p>
            <a:pPr/>
            <a:r>
              <a:t>Sinay</a:t>
            </a:r>
          </a:p>
        </p:txBody>
      </p:sp>
      <p:sp>
        <p:nvSpPr>
          <p:cNvPr id="398" name="Shape 60"/>
          <p:cNvSpPr/>
          <p:nvPr/>
        </p:nvSpPr>
        <p:spPr>
          <a:xfrm>
            <a:off x="2834639" y="4992623"/>
            <a:ext cx="1691641" cy="420625"/>
          </a:xfrm>
          <a:prstGeom prst="rect">
            <a:avLst/>
          </a:prstGeom>
          <a:solidFill>
            <a:srgbClr val="0C1220"/>
          </a:solidFill>
          <a:ln w="6350">
            <a:solidFill>
              <a:srgbClr val="172033"/>
            </a:solidFill>
          </a:ln>
        </p:spPr>
        <p:txBody>
          <a:bodyPr lIns="45719" rIns="45719"/>
          <a:lstStyle/>
          <a:p>
            <a:pPr/>
          </a:p>
        </p:txBody>
      </p:sp>
      <p:pic>
        <p:nvPicPr>
          <p:cNvPr id="399" name="Image 16" descr="Image 16"/>
          <p:cNvPicPr>
            <a:picLocks noChangeAspect="1"/>
          </p:cNvPicPr>
          <p:nvPr/>
        </p:nvPicPr>
        <p:blipFill>
          <a:blip r:embed="rId4">
            <a:extLst/>
          </a:blip>
          <a:stretch>
            <a:fillRect/>
          </a:stretch>
        </p:blipFill>
        <p:spPr>
          <a:xfrm>
            <a:off x="3570732" y="5093208"/>
            <a:ext cx="219457" cy="219457"/>
          </a:xfrm>
          <a:prstGeom prst="rect">
            <a:avLst/>
          </a:prstGeom>
          <a:ln w="12700">
            <a:miter lim="400000"/>
          </a:ln>
        </p:spPr>
      </p:pic>
      <p:sp>
        <p:nvSpPr>
          <p:cNvPr id="400" name="Shape 61"/>
          <p:cNvSpPr/>
          <p:nvPr/>
        </p:nvSpPr>
        <p:spPr>
          <a:xfrm>
            <a:off x="4526279" y="4992623"/>
            <a:ext cx="1554481" cy="420625"/>
          </a:xfrm>
          <a:prstGeom prst="rect">
            <a:avLst/>
          </a:prstGeom>
          <a:solidFill>
            <a:srgbClr val="0C1220"/>
          </a:solidFill>
          <a:ln w="6350">
            <a:solidFill>
              <a:srgbClr val="172033"/>
            </a:solidFill>
          </a:ln>
        </p:spPr>
        <p:txBody>
          <a:bodyPr lIns="45719" rIns="45719"/>
          <a:lstStyle/>
          <a:p>
            <a:pPr/>
          </a:p>
        </p:txBody>
      </p:sp>
      <p:pic>
        <p:nvPicPr>
          <p:cNvPr id="401" name="Image 17" descr="Image 17"/>
          <p:cNvPicPr>
            <a:picLocks noChangeAspect="1"/>
          </p:cNvPicPr>
          <p:nvPr/>
        </p:nvPicPr>
        <p:blipFill>
          <a:blip r:embed="rId3">
            <a:extLst/>
          </a:blip>
          <a:stretch>
            <a:fillRect/>
          </a:stretch>
        </p:blipFill>
        <p:spPr>
          <a:xfrm>
            <a:off x="5193791" y="5093208"/>
            <a:ext cx="219457" cy="219457"/>
          </a:xfrm>
          <a:prstGeom prst="rect">
            <a:avLst/>
          </a:prstGeom>
          <a:ln w="12700">
            <a:miter lim="400000"/>
          </a:ln>
        </p:spPr>
      </p:pic>
      <p:sp>
        <p:nvSpPr>
          <p:cNvPr id="402" name="Shape 62"/>
          <p:cNvSpPr/>
          <p:nvPr/>
        </p:nvSpPr>
        <p:spPr>
          <a:xfrm>
            <a:off x="6080759" y="4992623"/>
            <a:ext cx="1417321" cy="420625"/>
          </a:xfrm>
          <a:prstGeom prst="rect">
            <a:avLst/>
          </a:prstGeom>
          <a:solidFill>
            <a:srgbClr val="0C1220"/>
          </a:solidFill>
          <a:ln w="6350">
            <a:solidFill>
              <a:srgbClr val="172033"/>
            </a:solidFill>
          </a:ln>
        </p:spPr>
        <p:txBody>
          <a:bodyPr lIns="45719" rIns="45719"/>
          <a:lstStyle/>
          <a:p>
            <a:pPr/>
          </a:p>
        </p:txBody>
      </p:sp>
      <p:pic>
        <p:nvPicPr>
          <p:cNvPr id="403" name="Image 18" descr="Image 18"/>
          <p:cNvPicPr>
            <a:picLocks noChangeAspect="1"/>
          </p:cNvPicPr>
          <p:nvPr/>
        </p:nvPicPr>
        <p:blipFill>
          <a:blip r:embed="rId5">
            <a:extLst/>
          </a:blip>
          <a:stretch>
            <a:fillRect/>
          </a:stretch>
        </p:blipFill>
        <p:spPr>
          <a:xfrm>
            <a:off x="6679692" y="5093208"/>
            <a:ext cx="219457" cy="219457"/>
          </a:xfrm>
          <a:prstGeom prst="rect">
            <a:avLst/>
          </a:prstGeom>
          <a:ln w="12700">
            <a:miter lim="400000"/>
          </a:ln>
        </p:spPr>
      </p:pic>
      <p:sp>
        <p:nvSpPr>
          <p:cNvPr id="404" name="Shape 63"/>
          <p:cNvSpPr/>
          <p:nvPr/>
        </p:nvSpPr>
        <p:spPr>
          <a:xfrm>
            <a:off x="7498080" y="4992623"/>
            <a:ext cx="1828801" cy="420625"/>
          </a:xfrm>
          <a:prstGeom prst="rect">
            <a:avLst/>
          </a:prstGeom>
          <a:solidFill>
            <a:srgbClr val="0C1220"/>
          </a:solidFill>
          <a:ln w="6350">
            <a:solidFill>
              <a:srgbClr val="172033"/>
            </a:solidFill>
          </a:ln>
        </p:spPr>
        <p:txBody>
          <a:bodyPr lIns="45719" rIns="45719"/>
          <a:lstStyle/>
          <a:p>
            <a:pPr/>
          </a:p>
        </p:txBody>
      </p:sp>
      <p:pic>
        <p:nvPicPr>
          <p:cNvPr id="405" name="Image 19" descr="Image 19"/>
          <p:cNvPicPr>
            <a:picLocks noChangeAspect="1"/>
          </p:cNvPicPr>
          <p:nvPr/>
        </p:nvPicPr>
        <p:blipFill>
          <a:blip r:embed="rId3">
            <a:extLst/>
          </a:blip>
          <a:stretch>
            <a:fillRect/>
          </a:stretch>
        </p:blipFill>
        <p:spPr>
          <a:xfrm>
            <a:off x="8302752" y="5093208"/>
            <a:ext cx="219457" cy="219457"/>
          </a:xfrm>
          <a:prstGeom prst="rect">
            <a:avLst/>
          </a:prstGeom>
          <a:ln w="12700">
            <a:miter lim="400000"/>
          </a:ln>
        </p:spPr>
      </p:pic>
      <p:sp>
        <p:nvSpPr>
          <p:cNvPr id="406" name="Shape 64"/>
          <p:cNvSpPr/>
          <p:nvPr/>
        </p:nvSpPr>
        <p:spPr>
          <a:xfrm>
            <a:off x="9326880" y="4992623"/>
            <a:ext cx="2286001" cy="420625"/>
          </a:xfrm>
          <a:prstGeom prst="rect">
            <a:avLst/>
          </a:prstGeom>
          <a:solidFill>
            <a:srgbClr val="0C1220"/>
          </a:solidFill>
          <a:ln w="6350">
            <a:solidFill>
              <a:srgbClr val="172033"/>
            </a:solidFill>
          </a:ln>
        </p:spPr>
        <p:txBody>
          <a:bodyPr lIns="45719" rIns="45719"/>
          <a:lstStyle/>
          <a:p>
            <a:pPr/>
          </a:p>
        </p:txBody>
      </p:sp>
      <p:sp>
        <p:nvSpPr>
          <p:cNvPr id="407" name="Text 65"/>
          <p:cNvSpPr txBox="1"/>
          <p:nvPr/>
        </p:nvSpPr>
        <p:spPr>
          <a:xfrm>
            <a:off x="9326880" y="5126735"/>
            <a:ext cx="22860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AEB9C7"/>
                </a:solidFill>
                <a:latin typeface="DM Sans"/>
                <a:ea typeface="DM Sans"/>
                <a:cs typeface="DM Sans"/>
                <a:sym typeface="DM Sans"/>
              </a:defRPr>
            </a:lvl1pPr>
          </a:lstStyle>
          <a:p>
            <a:pPr/>
            <a:r>
              <a:t>Custom</a:t>
            </a:r>
          </a:p>
        </p:txBody>
      </p:sp>
      <p:sp>
        <p:nvSpPr>
          <p:cNvPr id="408" name="Shape 66"/>
          <p:cNvSpPr/>
          <p:nvPr/>
        </p:nvSpPr>
        <p:spPr>
          <a:xfrm>
            <a:off x="548640" y="5413247"/>
            <a:ext cx="2286001" cy="420625"/>
          </a:xfrm>
          <a:prstGeom prst="rect">
            <a:avLst/>
          </a:prstGeom>
          <a:solidFill>
            <a:srgbClr val="0E2A38"/>
          </a:solidFill>
          <a:ln w="6350">
            <a:solidFill>
              <a:srgbClr val="172033"/>
            </a:solidFill>
          </a:ln>
        </p:spPr>
        <p:txBody>
          <a:bodyPr lIns="45719" rIns="45719"/>
          <a:lstStyle/>
          <a:p>
            <a:pPr/>
          </a:p>
        </p:txBody>
      </p:sp>
      <p:sp>
        <p:nvSpPr>
          <p:cNvPr id="409" name="Text 67"/>
          <p:cNvSpPr txBox="1"/>
          <p:nvPr/>
        </p:nvSpPr>
        <p:spPr>
          <a:xfrm>
            <a:off x="685800" y="5541009"/>
            <a:ext cx="205740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06B6D4"/>
                </a:solidFill>
                <a:latin typeface="DM Sans"/>
                <a:ea typeface="DM Sans"/>
                <a:cs typeface="DM Sans"/>
                <a:sym typeface="DM Sans"/>
              </a:defRPr>
            </a:lvl1pPr>
          </a:lstStyle>
          <a:p>
            <a:pPr/>
            <a:r>
              <a:t>Waze Cargo</a:t>
            </a:r>
          </a:p>
        </p:txBody>
      </p:sp>
      <p:sp>
        <p:nvSpPr>
          <p:cNvPr id="410" name="Shape 68"/>
          <p:cNvSpPr/>
          <p:nvPr/>
        </p:nvSpPr>
        <p:spPr>
          <a:xfrm>
            <a:off x="2834639" y="5413247"/>
            <a:ext cx="1691641" cy="420625"/>
          </a:xfrm>
          <a:prstGeom prst="rect">
            <a:avLst/>
          </a:prstGeom>
          <a:solidFill>
            <a:srgbClr val="0E2A38"/>
          </a:solidFill>
          <a:ln w="6350">
            <a:solidFill>
              <a:srgbClr val="172033"/>
            </a:solidFill>
          </a:ln>
        </p:spPr>
        <p:txBody>
          <a:bodyPr lIns="45719" rIns="45719"/>
          <a:lstStyle/>
          <a:p>
            <a:pPr/>
          </a:p>
        </p:txBody>
      </p:sp>
      <p:pic>
        <p:nvPicPr>
          <p:cNvPr id="411" name="Image 20" descr="Image 20"/>
          <p:cNvPicPr>
            <a:picLocks noChangeAspect="1"/>
          </p:cNvPicPr>
          <p:nvPr/>
        </p:nvPicPr>
        <p:blipFill>
          <a:blip r:embed="rId6">
            <a:extLst/>
          </a:blip>
          <a:stretch>
            <a:fillRect/>
          </a:stretch>
        </p:blipFill>
        <p:spPr>
          <a:xfrm>
            <a:off x="3570732" y="5513832"/>
            <a:ext cx="219457" cy="219457"/>
          </a:xfrm>
          <a:prstGeom prst="rect">
            <a:avLst/>
          </a:prstGeom>
          <a:ln w="12700">
            <a:miter lim="400000"/>
          </a:ln>
        </p:spPr>
      </p:pic>
      <p:sp>
        <p:nvSpPr>
          <p:cNvPr id="412" name="Shape 69"/>
          <p:cNvSpPr/>
          <p:nvPr/>
        </p:nvSpPr>
        <p:spPr>
          <a:xfrm>
            <a:off x="4526279" y="5413247"/>
            <a:ext cx="1554481" cy="420625"/>
          </a:xfrm>
          <a:prstGeom prst="rect">
            <a:avLst/>
          </a:prstGeom>
          <a:solidFill>
            <a:srgbClr val="0E2A38"/>
          </a:solidFill>
          <a:ln w="6350">
            <a:solidFill>
              <a:srgbClr val="172033"/>
            </a:solidFill>
          </a:ln>
        </p:spPr>
        <p:txBody>
          <a:bodyPr lIns="45719" rIns="45719"/>
          <a:lstStyle/>
          <a:p>
            <a:pPr/>
          </a:p>
        </p:txBody>
      </p:sp>
      <p:pic>
        <p:nvPicPr>
          <p:cNvPr id="413" name="Image 21" descr="Image 21"/>
          <p:cNvPicPr>
            <a:picLocks noChangeAspect="1"/>
          </p:cNvPicPr>
          <p:nvPr/>
        </p:nvPicPr>
        <p:blipFill>
          <a:blip r:embed="rId6">
            <a:extLst/>
          </a:blip>
          <a:stretch>
            <a:fillRect/>
          </a:stretch>
        </p:blipFill>
        <p:spPr>
          <a:xfrm>
            <a:off x="5193791" y="5513832"/>
            <a:ext cx="219457" cy="219457"/>
          </a:xfrm>
          <a:prstGeom prst="rect">
            <a:avLst/>
          </a:prstGeom>
          <a:ln w="12700">
            <a:miter lim="400000"/>
          </a:ln>
        </p:spPr>
      </p:pic>
      <p:sp>
        <p:nvSpPr>
          <p:cNvPr id="414" name="Shape 70"/>
          <p:cNvSpPr/>
          <p:nvPr/>
        </p:nvSpPr>
        <p:spPr>
          <a:xfrm>
            <a:off x="6080759" y="5413247"/>
            <a:ext cx="1417321" cy="420625"/>
          </a:xfrm>
          <a:prstGeom prst="rect">
            <a:avLst/>
          </a:prstGeom>
          <a:solidFill>
            <a:srgbClr val="0E2A38"/>
          </a:solidFill>
          <a:ln w="6350">
            <a:solidFill>
              <a:srgbClr val="172033"/>
            </a:solidFill>
          </a:ln>
        </p:spPr>
        <p:txBody>
          <a:bodyPr lIns="45719" rIns="45719"/>
          <a:lstStyle/>
          <a:p>
            <a:pPr/>
          </a:p>
        </p:txBody>
      </p:sp>
      <p:pic>
        <p:nvPicPr>
          <p:cNvPr id="415" name="Image 22" descr="Image 22"/>
          <p:cNvPicPr>
            <a:picLocks noChangeAspect="1"/>
          </p:cNvPicPr>
          <p:nvPr/>
        </p:nvPicPr>
        <p:blipFill>
          <a:blip r:embed="rId6">
            <a:extLst/>
          </a:blip>
          <a:stretch>
            <a:fillRect/>
          </a:stretch>
        </p:blipFill>
        <p:spPr>
          <a:xfrm>
            <a:off x="6679692" y="5513832"/>
            <a:ext cx="219457" cy="219457"/>
          </a:xfrm>
          <a:prstGeom prst="rect">
            <a:avLst/>
          </a:prstGeom>
          <a:ln w="12700">
            <a:miter lim="400000"/>
          </a:ln>
        </p:spPr>
      </p:pic>
      <p:sp>
        <p:nvSpPr>
          <p:cNvPr id="416" name="Shape 71"/>
          <p:cNvSpPr/>
          <p:nvPr/>
        </p:nvSpPr>
        <p:spPr>
          <a:xfrm>
            <a:off x="7498080" y="5413247"/>
            <a:ext cx="1828801" cy="420625"/>
          </a:xfrm>
          <a:prstGeom prst="rect">
            <a:avLst/>
          </a:prstGeom>
          <a:solidFill>
            <a:srgbClr val="0E2A38"/>
          </a:solidFill>
          <a:ln w="6350">
            <a:solidFill>
              <a:srgbClr val="172033"/>
            </a:solidFill>
          </a:ln>
        </p:spPr>
        <p:txBody>
          <a:bodyPr lIns="45719" rIns="45719"/>
          <a:lstStyle/>
          <a:p>
            <a:pPr/>
          </a:p>
        </p:txBody>
      </p:sp>
      <p:pic>
        <p:nvPicPr>
          <p:cNvPr id="417" name="Image 23" descr="Image 23"/>
          <p:cNvPicPr>
            <a:picLocks noChangeAspect="1"/>
          </p:cNvPicPr>
          <p:nvPr/>
        </p:nvPicPr>
        <p:blipFill>
          <a:blip r:embed="rId6">
            <a:extLst/>
          </a:blip>
          <a:stretch>
            <a:fillRect/>
          </a:stretch>
        </p:blipFill>
        <p:spPr>
          <a:xfrm>
            <a:off x="8302752" y="5513832"/>
            <a:ext cx="219457" cy="219457"/>
          </a:xfrm>
          <a:prstGeom prst="rect">
            <a:avLst/>
          </a:prstGeom>
          <a:ln w="12700">
            <a:miter lim="400000"/>
          </a:ln>
        </p:spPr>
      </p:pic>
      <p:sp>
        <p:nvSpPr>
          <p:cNvPr id="418" name="Shape 72"/>
          <p:cNvSpPr/>
          <p:nvPr/>
        </p:nvSpPr>
        <p:spPr>
          <a:xfrm>
            <a:off x="9326880" y="5413247"/>
            <a:ext cx="2286001" cy="420625"/>
          </a:xfrm>
          <a:prstGeom prst="rect">
            <a:avLst/>
          </a:prstGeom>
          <a:solidFill>
            <a:srgbClr val="0E2A38"/>
          </a:solidFill>
          <a:ln w="6350">
            <a:solidFill>
              <a:srgbClr val="172033"/>
            </a:solidFill>
          </a:ln>
        </p:spPr>
        <p:txBody>
          <a:bodyPr lIns="45719" rIns="45719"/>
          <a:lstStyle/>
          <a:p>
            <a:pPr/>
          </a:p>
        </p:txBody>
      </p:sp>
      <p:sp>
        <p:nvSpPr>
          <p:cNvPr id="419" name="Text 73"/>
          <p:cNvSpPr txBox="1"/>
          <p:nvPr/>
        </p:nvSpPr>
        <p:spPr>
          <a:xfrm>
            <a:off x="9326880" y="5547359"/>
            <a:ext cx="22860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06B6D4"/>
                </a:solidFill>
                <a:latin typeface="DM Sans"/>
                <a:ea typeface="DM Sans"/>
                <a:cs typeface="DM Sans"/>
                <a:sym typeface="DM Sans"/>
              </a:defRPr>
            </a:lvl1pPr>
          </a:lstStyle>
          <a:p>
            <a:pPr/>
            <a:r>
              <a:t>€0–350</a:t>
            </a:r>
          </a:p>
        </p:txBody>
      </p:sp>
      <p:sp>
        <p:nvSpPr>
          <p:cNvPr id="420" name="Text 74"/>
          <p:cNvSpPr txBox="1"/>
          <p:nvPr/>
        </p:nvSpPr>
        <p:spPr>
          <a:xfrm>
            <a:off x="548639" y="6012942"/>
            <a:ext cx="11064242" cy="33680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000"/>
              </a:lnSpc>
              <a:defRPr b="1" sz="1100">
                <a:solidFill>
                  <a:srgbClr val="06B6D4"/>
                </a:solidFill>
                <a:latin typeface="DM Sans"/>
                <a:ea typeface="DM Sans"/>
                <a:cs typeface="DM Sans"/>
                <a:sym typeface="DM Sans"/>
              </a:defRPr>
            </a:pPr>
            <a:r>
              <a:t>Our moat:  </a:t>
            </a:r>
            <a:r>
              <a:rPr b="0">
                <a:solidFill>
                  <a:srgbClr val="E2E8F0"/>
                </a:solidFill>
              </a:rPr>
              <a:t>20 years of Chilean customs data at HS2×port granularity — unreplicable from AIS alone — plus insider domain expertise. Competitors won’t build Chile-specific models for a niche they don’t prioritize. We’re already there.</a:t>
            </a:r>
          </a:p>
        </p:txBody>
      </p:sp>
      <p:sp>
        <p:nvSpPr>
          <p:cNvPr id="421" name="Text 75"/>
          <p:cNvSpPr txBox="1"/>
          <p:nvPr/>
        </p:nvSpPr>
        <p:spPr>
          <a:xfrm>
            <a:off x="502919" y="6461759"/>
            <a:ext cx="27432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64748B"/>
                </a:solidFill>
                <a:latin typeface="DM Sans"/>
                <a:ea typeface="DM Sans"/>
                <a:cs typeface="DM Sans"/>
                <a:sym typeface="DM Sans"/>
              </a:defRPr>
            </a:lvl1pPr>
          </a:lstStyle>
          <a:p>
            <a:pPr/>
            <a:r>
              <a:t>Waze Cargo</a:t>
            </a:r>
          </a:p>
        </p:txBody>
      </p:sp>
      <p:sp>
        <p:nvSpPr>
          <p:cNvPr id="422" name="Text 76"/>
          <p:cNvSpPr txBox="1"/>
          <p:nvPr/>
        </p:nvSpPr>
        <p:spPr>
          <a:xfrm>
            <a:off x="10728655" y="6461759"/>
            <a:ext cx="96012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latin typeface="DM Sans"/>
                <a:ea typeface="DM Sans"/>
                <a:cs typeface="DM Sans"/>
                <a:sym typeface="DM Sans"/>
              </a:defRPr>
            </a:lvl1pPr>
          </a:lstStyle>
          <a:p>
            <a:pPr/>
            <a:r>
              <a:t>09 / 14</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6090F"/>
        </a:solidFill>
      </p:bgPr>
    </p:bg>
    <p:spTree>
      <p:nvGrpSpPr>
        <p:cNvPr id="1" name=""/>
        <p:cNvGrpSpPr/>
        <p:nvPr/>
      </p:nvGrpSpPr>
      <p:grpSpPr>
        <a:xfrm>
          <a:off x="0" y="0"/>
          <a:ext cx="0" cy="0"/>
          <a:chOff x="0" y="0"/>
          <a:chExt cx="0" cy="0"/>
        </a:xfrm>
      </p:grpSpPr>
      <p:sp>
        <p:nvSpPr>
          <p:cNvPr id="426" name="Text 0"/>
          <p:cNvSpPr txBox="1"/>
          <p:nvPr/>
        </p:nvSpPr>
        <p:spPr>
          <a:xfrm>
            <a:off x="548640" y="514604"/>
            <a:ext cx="10058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200">
                <a:solidFill>
                  <a:srgbClr val="06B6D4"/>
                </a:solidFill>
                <a:latin typeface="DM Sans"/>
                <a:ea typeface="DM Sans"/>
                <a:cs typeface="DM Sans"/>
                <a:sym typeface="DM Sans"/>
              </a:defRPr>
            </a:lvl1pPr>
          </a:lstStyle>
          <a:p>
            <a:pPr/>
            <a:r>
              <a:t>KEY METRICS</a:t>
            </a:r>
          </a:p>
        </p:txBody>
      </p:sp>
      <p:sp>
        <p:nvSpPr>
          <p:cNvPr id="427" name="Text 1"/>
          <p:cNvSpPr txBox="1"/>
          <p:nvPr/>
        </p:nvSpPr>
        <p:spPr>
          <a:xfrm>
            <a:off x="548639" y="909828"/>
            <a:ext cx="11155682"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FFFFF"/>
                </a:solidFill>
                <a:latin typeface="DM Sans"/>
                <a:ea typeface="DM Sans"/>
                <a:cs typeface="DM Sans"/>
                <a:sym typeface="DM Sans"/>
              </a:defRPr>
            </a:lvl1pPr>
          </a:lstStyle>
          <a:p>
            <a:pPr/>
            <a:r>
              <a:t>Success, defined — and how we get there.</a:t>
            </a:r>
          </a:p>
        </p:txBody>
      </p:sp>
      <p:sp>
        <p:nvSpPr>
          <p:cNvPr id="428" name="Shape 2"/>
          <p:cNvSpPr/>
          <p:nvPr/>
        </p:nvSpPr>
        <p:spPr>
          <a:xfrm>
            <a:off x="548640" y="1554480"/>
            <a:ext cx="11064241" cy="914401"/>
          </a:xfrm>
          <a:prstGeom prst="roundRect">
            <a:avLst>
              <a:gd name="adj" fmla="val 10000"/>
            </a:avLst>
          </a:prstGeom>
          <a:solidFill>
            <a:srgbClr val="111A2B"/>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pic>
        <p:nvPicPr>
          <p:cNvPr id="429" name="Image 0" descr="Image 0"/>
          <p:cNvPicPr>
            <a:picLocks noChangeAspect="1"/>
          </p:cNvPicPr>
          <p:nvPr/>
        </p:nvPicPr>
        <p:blipFill>
          <a:blip r:embed="rId3">
            <a:extLst/>
          </a:blip>
          <a:stretch>
            <a:fillRect/>
          </a:stretch>
        </p:blipFill>
        <p:spPr>
          <a:xfrm>
            <a:off x="868680" y="1783079"/>
            <a:ext cx="457201" cy="457201"/>
          </a:xfrm>
          <a:prstGeom prst="rect">
            <a:avLst/>
          </a:prstGeom>
          <a:ln w="12700">
            <a:miter lim="400000"/>
          </a:ln>
        </p:spPr>
      </p:pic>
      <p:sp>
        <p:nvSpPr>
          <p:cNvPr id="430" name="Text 3"/>
          <p:cNvSpPr txBox="1"/>
          <p:nvPr/>
        </p:nvSpPr>
        <p:spPr>
          <a:xfrm>
            <a:off x="1417320" y="1809495"/>
            <a:ext cx="9966960" cy="4226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8000"/>
              </a:lnSpc>
              <a:defRPr b="1" sz="1300">
                <a:solidFill>
                  <a:srgbClr val="06B6D4"/>
                </a:solidFill>
                <a:latin typeface="DM Sans"/>
                <a:ea typeface="DM Sans"/>
                <a:cs typeface="DM Sans"/>
                <a:sym typeface="DM Sans"/>
              </a:defRPr>
            </a:pPr>
            <a:r>
              <a:t>North Star — Weekly Active Port Checks (WAPC):  </a:t>
            </a:r>
            <a:r>
              <a:rPr b="0">
                <a:solidFill>
                  <a:srgbClr val="E2E8F0"/>
                </a:solidFill>
              </a:rPr>
              <a:t>unique users checking ≥1 port forecast or weather alert per week. Captures engagement and the habit that drives conversion.</a:t>
            </a:r>
          </a:p>
        </p:txBody>
      </p:sp>
      <p:sp>
        <p:nvSpPr>
          <p:cNvPr id="431" name="Shape 4"/>
          <p:cNvSpPr/>
          <p:nvPr/>
        </p:nvSpPr>
        <p:spPr>
          <a:xfrm>
            <a:off x="548640" y="2697479"/>
            <a:ext cx="2670049" cy="1097281"/>
          </a:xfrm>
          <a:prstGeom prst="roundRect">
            <a:avLst>
              <a:gd name="adj" fmla="val 8333"/>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432" name="Text 5"/>
          <p:cNvSpPr txBox="1"/>
          <p:nvPr/>
        </p:nvSpPr>
        <p:spPr>
          <a:xfrm>
            <a:off x="749808" y="2876295"/>
            <a:ext cx="2304289"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300">
                <a:solidFill>
                  <a:srgbClr val="06B6D4"/>
                </a:solidFill>
                <a:latin typeface="DM Sans"/>
                <a:ea typeface="DM Sans"/>
                <a:cs typeface="DM Sans"/>
                <a:sym typeface="DM Sans"/>
              </a:defRPr>
            </a:lvl1pPr>
          </a:lstStyle>
          <a:p>
            <a:pPr/>
            <a:r>
              <a:t>40%</a:t>
            </a:r>
          </a:p>
        </p:txBody>
      </p:sp>
      <p:sp>
        <p:nvSpPr>
          <p:cNvPr id="433" name="Text 6"/>
          <p:cNvSpPr txBox="1"/>
          <p:nvPr/>
        </p:nvSpPr>
        <p:spPr>
          <a:xfrm>
            <a:off x="749808" y="3367531"/>
            <a:ext cx="2304289"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FFFFFF"/>
                </a:solidFill>
                <a:latin typeface="DM Sans"/>
                <a:ea typeface="DM Sans"/>
                <a:cs typeface="DM Sans"/>
                <a:sym typeface="DM Sans"/>
              </a:defRPr>
            </a:lvl1pPr>
          </a:lstStyle>
          <a:p>
            <a:pPr/>
            <a:r>
              <a:t>Activation</a:t>
            </a:r>
          </a:p>
        </p:txBody>
      </p:sp>
      <p:sp>
        <p:nvSpPr>
          <p:cNvPr id="434" name="Text 7"/>
          <p:cNvSpPr txBox="1"/>
          <p:nvPr/>
        </p:nvSpPr>
        <p:spPr>
          <a:xfrm>
            <a:off x="749808" y="3596894"/>
            <a:ext cx="230428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DM Sans"/>
                <a:ea typeface="DM Sans"/>
                <a:cs typeface="DM Sans"/>
                <a:sym typeface="DM Sans"/>
              </a:defRPr>
            </a:lvl1pPr>
          </a:lstStyle>
          <a:p>
            <a:pPr/>
            <a:r>
              <a:t>port forecast in &lt;3 min</a:t>
            </a:r>
          </a:p>
        </p:txBody>
      </p:sp>
      <p:sp>
        <p:nvSpPr>
          <p:cNvPr id="435" name="Shape 8"/>
          <p:cNvSpPr/>
          <p:nvPr/>
        </p:nvSpPr>
        <p:spPr>
          <a:xfrm>
            <a:off x="3355847" y="2697479"/>
            <a:ext cx="2670049" cy="1097281"/>
          </a:xfrm>
          <a:prstGeom prst="roundRect">
            <a:avLst>
              <a:gd name="adj" fmla="val 8333"/>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436" name="Text 9"/>
          <p:cNvSpPr txBox="1"/>
          <p:nvPr/>
        </p:nvSpPr>
        <p:spPr>
          <a:xfrm>
            <a:off x="3557015" y="2876295"/>
            <a:ext cx="2304289"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300">
                <a:solidFill>
                  <a:srgbClr val="06B6D4"/>
                </a:solidFill>
                <a:latin typeface="DM Sans"/>
                <a:ea typeface="DM Sans"/>
                <a:cs typeface="DM Sans"/>
                <a:sym typeface="DM Sans"/>
              </a:defRPr>
            </a:lvl1pPr>
          </a:lstStyle>
          <a:p>
            <a:pPr/>
            <a:r>
              <a:t>8–12%</a:t>
            </a:r>
          </a:p>
        </p:txBody>
      </p:sp>
      <p:sp>
        <p:nvSpPr>
          <p:cNvPr id="437" name="Text 10"/>
          <p:cNvSpPr txBox="1"/>
          <p:nvPr/>
        </p:nvSpPr>
        <p:spPr>
          <a:xfrm>
            <a:off x="3557015" y="3359730"/>
            <a:ext cx="2304289" cy="19340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FFFFFF"/>
                </a:solidFill>
                <a:latin typeface="DM Sans"/>
                <a:ea typeface="DM Sans"/>
                <a:cs typeface="DM Sans"/>
                <a:sym typeface="DM Sans"/>
              </a:defRPr>
            </a:lvl1pPr>
          </a:lstStyle>
          <a:p>
            <a:pPr/>
            <a:r>
              <a:t>Free→Pro</a:t>
            </a:r>
          </a:p>
        </p:txBody>
      </p:sp>
      <p:sp>
        <p:nvSpPr>
          <p:cNvPr id="438" name="Text 11"/>
          <p:cNvSpPr txBox="1"/>
          <p:nvPr/>
        </p:nvSpPr>
        <p:spPr>
          <a:xfrm>
            <a:off x="3557015" y="3596894"/>
            <a:ext cx="230428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DM Sans"/>
                <a:ea typeface="DM Sans"/>
                <a:cs typeface="DM Sans"/>
                <a:sym typeface="DM Sans"/>
              </a:defRPr>
            </a:lvl1pPr>
          </a:lstStyle>
          <a:p>
            <a:pPr/>
            <a:r>
              <a:t>conversion</a:t>
            </a:r>
          </a:p>
        </p:txBody>
      </p:sp>
      <p:sp>
        <p:nvSpPr>
          <p:cNvPr id="439" name="Shape 12"/>
          <p:cNvSpPr/>
          <p:nvPr/>
        </p:nvSpPr>
        <p:spPr>
          <a:xfrm>
            <a:off x="6163055" y="2697479"/>
            <a:ext cx="2670050" cy="1097281"/>
          </a:xfrm>
          <a:prstGeom prst="roundRect">
            <a:avLst>
              <a:gd name="adj" fmla="val 8333"/>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440" name="Text 13"/>
          <p:cNvSpPr txBox="1"/>
          <p:nvPr/>
        </p:nvSpPr>
        <p:spPr>
          <a:xfrm>
            <a:off x="6364223" y="2876295"/>
            <a:ext cx="2304289"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300">
                <a:solidFill>
                  <a:srgbClr val="06B6D4"/>
                </a:solidFill>
                <a:latin typeface="DM Sans"/>
                <a:ea typeface="DM Sans"/>
                <a:cs typeface="DM Sans"/>
                <a:sym typeface="DM Sans"/>
              </a:defRPr>
            </a:lvl1pPr>
          </a:lstStyle>
          <a:p>
            <a:pPr/>
            <a:r>
              <a:t>&lt;5%</a:t>
            </a:r>
          </a:p>
        </p:txBody>
      </p:sp>
      <p:sp>
        <p:nvSpPr>
          <p:cNvPr id="441" name="Text 14"/>
          <p:cNvSpPr txBox="1"/>
          <p:nvPr/>
        </p:nvSpPr>
        <p:spPr>
          <a:xfrm>
            <a:off x="6364223" y="3367531"/>
            <a:ext cx="2304289"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FFFFFF"/>
                </a:solidFill>
                <a:latin typeface="DM Sans"/>
                <a:ea typeface="DM Sans"/>
                <a:cs typeface="DM Sans"/>
                <a:sym typeface="DM Sans"/>
              </a:defRPr>
            </a:lvl1pPr>
          </a:lstStyle>
          <a:p>
            <a:pPr/>
            <a:r>
              <a:t>Monthly churn</a:t>
            </a:r>
          </a:p>
        </p:txBody>
      </p:sp>
      <p:sp>
        <p:nvSpPr>
          <p:cNvPr id="442" name="Text 15"/>
          <p:cNvSpPr txBox="1"/>
          <p:nvPr/>
        </p:nvSpPr>
        <p:spPr>
          <a:xfrm>
            <a:off x="6364223" y="3596894"/>
            <a:ext cx="230428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DM Sans"/>
                <a:ea typeface="DM Sans"/>
                <a:cs typeface="DM Sans"/>
                <a:sym typeface="DM Sans"/>
              </a:defRPr>
            </a:lvl1pPr>
          </a:lstStyle>
          <a:p>
            <a:pPr/>
            <a:r>
              <a:t>sticky product</a:t>
            </a:r>
          </a:p>
        </p:txBody>
      </p:sp>
      <p:sp>
        <p:nvSpPr>
          <p:cNvPr id="443" name="Shape 16"/>
          <p:cNvSpPr/>
          <p:nvPr/>
        </p:nvSpPr>
        <p:spPr>
          <a:xfrm>
            <a:off x="8970264" y="2697479"/>
            <a:ext cx="2670049" cy="1097281"/>
          </a:xfrm>
          <a:prstGeom prst="roundRect">
            <a:avLst>
              <a:gd name="adj" fmla="val 8333"/>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444" name="Text 17"/>
          <p:cNvSpPr txBox="1"/>
          <p:nvPr/>
        </p:nvSpPr>
        <p:spPr>
          <a:xfrm>
            <a:off x="9171431" y="2876295"/>
            <a:ext cx="2304289"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300">
                <a:solidFill>
                  <a:srgbClr val="06B6D4"/>
                </a:solidFill>
                <a:latin typeface="DM Sans"/>
                <a:ea typeface="DM Sans"/>
                <a:cs typeface="DM Sans"/>
                <a:sym typeface="DM Sans"/>
              </a:defRPr>
            </a:lvl1pPr>
          </a:lstStyle>
          <a:p>
            <a:pPr/>
            <a:r>
              <a:t>60%</a:t>
            </a:r>
          </a:p>
        </p:txBody>
      </p:sp>
      <p:sp>
        <p:nvSpPr>
          <p:cNvPr id="445" name="Text 18"/>
          <p:cNvSpPr txBox="1"/>
          <p:nvPr/>
        </p:nvSpPr>
        <p:spPr>
          <a:xfrm>
            <a:off x="9171431" y="3367531"/>
            <a:ext cx="2304289"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FFFFFF"/>
                </a:solidFill>
                <a:latin typeface="DM Sans"/>
                <a:ea typeface="DM Sans"/>
                <a:cs typeface="DM Sans"/>
                <a:sym typeface="DM Sans"/>
              </a:defRPr>
            </a:lvl1pPr>
          </a:lstStyle>
          <a:p>
            <a:pPr/>
            <a:r>
              <a:t>Day-30 retention</a:t>
            </a:r>
          </a:p>
        </p:txBody>
      </p:sp>
      <p:sp>
        <p:nvSpPr>
          <p:cNvPr id="446" name="Text 19"/>
          <p:cNvSpPr txBox="1"/>
          <p:nvPr/>
        </p:nvSpPr>
        <p:spPr>
          <a:xfrm>
            <a:off x="9171431" y="3596894"/>
            <a:ext cx="230428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DM Sans"/>
                <a:ea typeface="DM Sans"/>
                <a:cs typeface="DM Sans"/>
                <a:sym typeface="DM Sans"/>
              </a:defRPr>
            </a:lvl1pPr>
          </a:lstStyle>
          <a:p>
            <a:pPr/>
            <a:r>
              <a:t>habit formed</a:t>
            </a:r>
          </a:p>
        </p:txBody>
      </p:sp>
      <p:sp>
        <p:nvSpPr>
          <p:cNvPr id="447" name="Shape 20"/>
          <p:cNvSpPr/>
          <p:nvPr/>
        </p:nvSpPr>
        <p:spPr>
          <a:xfrm>
            <a:off x="548640" y="3931920"/>
            <a:ext cx="2670049" cy="1097281"/>
          </a:xfrm>
          <a:prstGeom prst="roundRect">
            <a:avLst>
              <a:gd name="adj" fmla="val 8333"/>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448" name="Text 21"/>
          <p:cNvSpPr txBox="1"/>
          <p:nvPr/>
        </p:nvSpPr>
        <p:spPr>
          <a:xfrm>
            <a:off x="749808" y="4110735"/>
            <a:ext cx="2304289"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300">
                <a:solidFill>
                  <a:srgbClr val="06B6D4"/>
                </a:solidFill>
                <a:latin typeface="DM Sans"/>
                <a:ea typeface="DM Sans"/>
                <a:cs typeface="DM Sans"/>
                <a:sym typeface="DM Sans"/>
              </a:defRPr>
            </a:lvl1pPr>
          </a:lstStyle>
          <a:p>
            <a:pPr/>
            <a:r>
              <a:t>€2,400+</a:t>
            </a:r>
          </a:p>
        </p:txBody>
      </p:sp>
      <p:sp>
        <p:nvSpPr>
          <p:cNvPr id="449" name="Text 22"/>
          <p:cNvSpPr txBox="1"/>
          <p:nvPr/>
        </p:nvSpPr>
        <p:spPr>
          <a:xfrm>
            <a:off x="749808" y="4601971"/>
            <a:ext cx="2304289"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FFFFFF"/>
                </a:solidFill>
                <a:latin typeface="DM Sans"/>
                <a:ea typeface="DM Sans"/>
                <a:cs typeface="DM Sans"/>
                <a:sym typeface="DM Sans"/>
              </a:defRPr>
            </a:lvl1pPr>
          </a:lstStyle>
          <a:p>
            <a:pPr/>
            <a:r>
              <a:t>LTV</a:t>
            </a:r>
          </a:p>
        </p:txBody>
      </p:sp>
      <p:sp>
        <p:nvSpPr>
          <p:cNvPr id="450" name="Text 23"/>
          <p:cNvSpPr txBox="1"/>
          <p:nvPr/>
        </p:nvSpPr>
        <p:spPr>
          <a:xfrm>
            <a:off x="749808" y="4831334"/>
            <a:ext cx="230428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DM Sans"/>
                <a:ea typeface="DM Sans"/>
                <a:cs typeface="DM Sans"/>
                <a:sym typeface="DM Sans"/>
              </a:defRPr>
            </a:lvl1pPr>
          </a:lstStyle>
          <a:p>
            <a:pPr/>
            <a:r>
              <a:t>per customer</a:t>
            </a:r>
          </a:p>
        </p:txBody>
      </p:sp>
      <p:sp>
        <p:nvSpPr>
          <p:cNvPr id="451" name="Shape 24"/>
          <p:cNvSpPr/>
          <p:nvPr/>
        </p:nvSpPr>
        <p:spPr>
          <a:xfrm>
            <a:off x="3355847" y="3931920"/>
            <a:ext cx="2670049" cy="1097281"/>
          </a:xfrm>
          <a:prstGeom prst="roundRect">
            <a:avLst>
              <a:gd name="adj" fmla="val 8333"/>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452" name="Text 25"/>
          <p:cNvSpPr txBox="1"/>
          <p:nvPr/>
        </p:nvSpPr>
        <p:spPr>
          <a:xfrm>
            <a:off x="3557015" y="4110735"/>
            <a:ext cx="2304289"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300">
                <a:solidFill>
                  <a:srgbClr val="06B6D4"/>
                </a:solidFill>
                <a:latin typeface="DM Sans"/>
                <a:ea typeface="DM Sans"/>
                <a:cs typeface="DM Sans"/>
                <a:sym typeface="DM Sans"/>
              </a:defRPr>
            </a:lvl1pPr>
          </a:lstStyle>
          <a:p>
            <a:pPr/>
            <a:r>
              <a:t>3:1+</a:t>
            </a:r>
          </a:p>
        </p:txBody>
      </p:sp>
      <p:sp>
        <p:nvSpPr>
          <p:cNvPr id="453" name="Text 26"/>
          <p:cNvSpPr txBox="1"/>
          <p:nvPr/>
        </p:nvSpPr>
        <p:spPr>
          <a:xfrm>
            <a:off x="3557015" y="4601971"/>
            <a:ext cx="2304289"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FFFFFF"/>
                </a:solidFill>
                <a:latin typeface="DM Sans"/>
                <a:ea typeface="DM Sans"/>
                <a:cs typeface="DM Sans"/>
                <a:sym typeface="DM Sans"/>
              </a:defRPr>
            </a:lvl1pPr>
          </a:lstStyle>
          <a:p>
            <a:pPr/>
            <a:r>
              <a:t>LTV:CAC</a:t>
            </a:r>
          </a:p>
        </p:txBody>
      </p:sp>
      <p:sp>
        <p:nvSpPr>
          <p:cNvPr id="454" name="Text 27"/>
          <p:cNvSpPr txBox="1"/>
          <p:nvPr/>
        </p:nvSpPr>
        <p:spPr>
          <a:xfrm>
            <a:off x="3557015" y="4831334"/>
            <a:ext cx="230428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DM Sans"/>
                <a:ea typeface="DM Sans"/>
                <a:cs typeface="DM Sans"/>
                <a:sym typeface="DM Sans"/>
              </a:defRPr>
            </a:lvl1pPr>
          </a:lstStyle>
          <a:p>
            <a:pPr/>
            <a:r>
              <a:t>ratio</a:t>
            </a:r>
          </a:p>
        </p:txBody>
      </p:sp>
      <p:sp>
        <p:nvSpPr>
          <p:cNvPr id="455" name="Shape 28"/>
          <p:cNvSpPr/>
          <p:nvPr/>
        </p:nvSpPr>
        <p:spPr>
          <a:xfrm>
            <a:off x="6163055" y="3931920"/>
            <a:ext cx="2670050" cy="1097281"/>
          </a:xfrm>
          <a:prstGeom prst="roundRect">
            <a:avLst>
              <a:gd name="adj" fmla="val 8333"/>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456" name="Text 29"/>
          <p:cNvSpPr txBox="1"/>
          <p:nvPr/>
        </p:nvSpPr>
        <p:spPr>
          <a:xfrm>
            <a:off x="6364223" y="4110735"/>
            <a:ext cx="2304289"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300">
                <a:solidFill>
                  <a:srgbClr val="06B6D4"/>
                </a:solidFill>
                <a:latin typeface="DM Sans"/>
                <a:ea typeface="DM Sans"/>
                <a:cs typeface="DM Sans"/>
                <a:sym typeface="DM Sans"/>
              </a:defRPr>
            </a:lvl1pPr>
          </a:lstStyle>
          <a:p>
            <a:pPr/>
            <a:r>
              <a:t>15%</a:t>
            </a:r>
          </a:p>
        </p:txBody>
      </p:sp>
      <p:sp>
        <p:nvSpPr>
          <p:cNvPr id="457" name="Text 30"/>
          <p:cNvSpPr txBox="1"/>
          <p:nvPr/>
        </p:nvSpPr>
        <p:spPr>
          <a:xfrm>
            <a:off x="6364223" y="4601971"/>
            <a:ext cx="2304289"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FFFFFF"/>
                </a:solidFill>
                <a:latin typeface="DM Sans"/>
                <a:ea typeface="DM Sans"/>
                <a:cs typeface="DM Sans"/>
                <a:sym typeface="DM Sans"/>
              </a:defRPr>
            </a:lvl1pPr>
          </a:lstStyle>
          <a:p>
            <a:pPr/>
            <a:r>
              <a:t>Referral rate</a:t>
            </a:r>
          </a:p>
        </p:txBody>
      </p:sp>
      <p:sp>
        <p:nvSpPr>
          <p:cNvPr id="458" name="Text 31"/>
          <p:cNvSpPr txBox="1"/>
          <p:nvPr/>
        </p:nvSpPr>
        <p:spPr>
          <a:xfrm>
            <a:off x="6364223" y="4831334"/>
            <a:ext cx="230428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DM Sans"/>
                <a:ea typeface="DM Sans"/>
                <a:cs typeface="DM Sans"/>
                <a:sym typeface="DM Sans"/>
              </a:defRPr>
            </a:lvl1pPr>
          </a:lstStyle>
          <a:p>
            <a:pPr/>
            <a:r>
              <a:t>K-factor &gt; 0.3</a:t>
            </a:r>
          </a:p>
        </p:txBody>
      </p:sp>
      <p:sp>
        <p:nvSpPr>
          <p:cNvPr id="459" name="Shape 32"/>
          <p:cNvSpPr/>
          <p:nvPr/>
        </p:nvSpPr>
        <p:spPr>
          <a:xfrm>
            <a:off x="8970264" y="3931920"/>
            <a:ext cx="2670049" cy="1097281"/>
          </a:xfrm>
          <a:prstGeom prst="roundRect">
            <a:avLst>
              <a:gd name="adj" fmla="val 8333"/>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460" name="Text 33"/>
          <p:cNvSpPr txBox="1"/>
          <p:nvPr/>
        </p:nvSpPr>
        <p:spPr>
          <a:xfrm>
            <a:off x="9171431" y="4110735"/>
            <a:ext cx="2304289"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300">
                <a:solidFill>
                  <a:srgbClr val="06B6D4"/>
                </a:solidFill>
                <a:latin typeface="DM Sans"/>
                <a:ea typeface="DM Sans"/>
                <a:cs typeface="DM Sans"/>
                <a:sym typeface="DM Sans"/>
              </a:defRPr>
            </a:lvl1pPr>
          </a:lstStyle>
          <a:p>
            <a:pPr/>
            <a:r>
              <a:t>4.03%</a:t>
            </a:r>
          </a:p>
        </p:txBody>
      </p:sp>
      <p:sp>
        <p:nvSpPr>
          <p:cNvPr id="461" name="Text 34"/>
          <p:cNvSpPr txBox="1"/>
          <p:nvPr/>
        </p:nvSpPr>
        <p:spPr>
          <a:xfrm>
            <a:off x="9171431" y="4601971"/>
            <a:ext cx="2304289"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FFFFFF"/>
                </a:solidFill>
                <a:latin typeface="DM Sans"/>
                <a:ea typeface="DM Sans"/>
                <a:cs typeface="DM Sans"/>
                <a:sym typeface="DM Sans"/>
              </a:defRPr>
            </a:lvl1pPr>
          </a:lstStyle>
          <a:p>
            <a:pPr/>
            <a:r>
              <a:t>wMAPE</a:t>
            </a:r>
          </a:p>
        </p:txBody>
      </p:sp>
      <p:sp>
        <p:nvSpPr>
          <p:cNvPr id="462" name="Text 35"/>
          <p:cNvSpPr txBox="1"/>
          <p:nvPr/>
        </p:nvSpPr>
        <p:spPr>
          <a:xfrm>
            <a:off x="9171431" y="4831334"/>
            <a:ext cx="230428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DM Sans"/>
                <a:ea typeface="DM Sans"/>
                <a:cs typeface="DM Sans"/>
                <a:sym typeface="DM Sans"/>
              </a:defRPr>
            </a:lvl1pPr>
          </a:lstStyle>
          <a:p>
            <a:pPr/>
            <a:r>
              <a:t>alert at 8%</a:t>
            </a:r>
          </a:p>
        </p:txBody>
      </p:sp>
      <p:sp>
        <p:nvSpPr>
          <p:cNvPr id="463" name="Shape 36"/>
          <p:cNvSpPr/>
          <p:nvPr/>
        </p:nvSpPr>
        <p:spPr>
          <a:xfrm>
            <a:off x="548640" y="5257800"/>
            <a:ext cx="11064241" cy="960120"/>
          </a:xfrm>
          <a:prstGeom prst="roundRect">
            <a:avLst>
              <a:gd name="adj" fmla="val 9524"/>
            </a:avLst>
          </a:prstGeom>
          <a:solidFill>
            <a:srgbClr val="111A2B"/>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pic>
        <p:nvPicPr>
          <p:cNvPr id="464" name="Image 1" descr="Image 1"/>
          <p:cNvPicPr>
            <a:picLocks noChangeAspect="1"/>
          </p:cNvPicPr>
          <p:nvPr/>
        </p:nvPicPr>
        <p:blipFill>
          <a:blip r:embed="rId4">
            <a:extLst/>
          </a:blip>
          <a:stretch>
            <a:fillRect/>
          </a:stretch>
        </p:blipFill>
        <p:spPr>
          <a:xfrm>
            <a:off x="868680" y="5504688"/>
            <a:ext cx="411481" cy="411481"/>
          </a:xfrm>
          <a:prstGeom prst="rect">
            <a:avLst/>
          </a:prstGeom>
          <a:ln w="12700">
            <a:miter lim="400000"/>
          </a:ln>
        </p:spPr>
      </p:pic>
      <p:sp>
        <p:nvSpPr>
          <p:cNvPr id="465" name="Text 37"/>
          <p:cNvSpPr txBox="1"/>
          <p:nvPr/>
        </p:nvSpPr>
        <p:spPr>
          <a:xfrm>
            <a:off x="1417320" y="5552948"/>
            <a:ext cx="9966960" cy="36982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8000"/>
              </a:lnSpc>
              <a:defRPr b="1" sz="1200">
                <a:solidFill>
                  <a:srgbClr val="06B6D4"/>
                </a:solidFill>
                <a:latin typeface="DM Sans"/>
                <a:ea typeface="DM Sans"/>
                <a:cs typeface="DM Sans"/>
                <a:sym typeface="DM Sans"/>
              </a:defRPr>
            </a:pPr>
            <a:r>
              <a:t>How we get there:  </a:t>
            </a:r>
            <a:r>
              <a:rPr b="0">
                <a:solidFill>
                  <a:srgbClr val="E2E8F0"/>
                </a:solidFill>
              </a:rPr>
              <a:t>Y1 target is 10 Pro users (€40K ARR). Acquisition via the public free dashboard (already built), cold outreach using customs intelligence, and trade-association partnerships. One avoided delay per quarter more than pays for the subscription.</a:t>
            </a:r>
          </a:p>
        </p:txBody>
      </p:sp>
      <p:sp>
        <p:nvSpPr>
          <p:cNvPr id="466" name="Text 38"/>
          <p:cNvSpPr txBox="1"/>
          <p:nvPr/>
        </p:nvSpPr>
        <p:spPr>
          <a:xfrm>
            <a:off x="502919" y="6461759"/>
            <a:ext cx="27432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64748B"/>
                </a:solidFill>
                <a:latin typeface="DM Sans"/>
                <a:ea typeface="DM Sans"/>
                <a:cs typeface="DM Sans"/>
                <a:sym typeface="DM Sans"/>
              </a:defRPr>
            </a:lvl1pPr>
          </a:lstStyle>
          <a:p>
            <a:pPr/>
            <a:r>
              <a:t>Waze Cargo</a:t>
            </a:r>
          </a:p>
        </p:txBody>
      </p:sp>
      <p:sp>
        <p:nvSpPr>
          <p:cNvPr id="467" name="Text 39"/>
          <p:cNvSpPr txBox="1"/>
          <p:nvPr/>
        </p:nvSpPr>
        <p:spPr>
          <a:xfrm>
            <a:off x="10728655" y="6461759"/>
            <a:ext cx="96012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latin typeface="DM Sans"/>
                <a:ea typeface="DM Sans"/>
                <a:cs typeface="DM Sans"/>
                <a:sym typeface="DM Sans"/>
              </a:defRPr>
            </a:lvl1pPr>
          </a:lstStyle>
          <a:p>
            <a:pPr/>
            <a:r>
              <a:t>10 / 14</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6090F"/>
        </a:solidFill>
      </p:bgPr>
    </p:bg>
    <p:spTree>
      <p:nvGrpSpPr>
        <p:cNvPr id="1" name=""/>
        <p:cNvGrpSpPr/>
        <p:nvPr/>
      </p:nvGrpSpPr>
      <p:grpSpPr>
        <a:xfrm>
          <a:off x="0" y="0"/>
          <a:ext cx="0" cy="0"/>
          <a:chOff x="0" y="0"/>
          <a:chExt cx="0" cy="0"/>
        </a:xfrm>
      </p:grpSpPr>
      <p:sp>
        <p:nvSpPr>
          <p:cNvPr id="471" name="Text 0"/>
          <p:cNvSpPr txBox="1"/>
          <p:nvPr/>
        </p:nvSpPr>
        <p:spPr>
          <a:xfrm>
            <a:off x="548640" y="514604"/>
            <a:ext cx="10058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200">
                <a:solidFill>
                  <a:srgbClr val="06B6D4"/>
                </a:solidFill>
                <a:latin typeface="DM Sans"/>
                <a:ea typeface="DM Sans"/>
                <a:cs typeface="DM Sans"/>
                <a:sym typeface="DM Sans"/>
              </a:defRPr>
            </a:lvl1pPr>
          </a:lstStyle>
          <a:p>
            <a:pPr/>
            <a:r>
              <a:t>3–5 YEAR FINANCIAL PROJECTIONS</a:t>
            </a:r>
          </a:p>
        </p:txBody>
      </p:sp>
      <p:sp>
        <p:nvSpPr>
          <p:cNvPr id="472" name="Text 1"/>
          <p:cNvSpPr txBox="1"/>
          <p:nvPr/>
        </p:nvSpPr>
        <p:spPr>
          <a:xfrm>
            <a:off x="548639" y="909828"/>
            <a:ext cx="11155682"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FFFFF"/>
                </a:solidFill>
                <a:latin typeface="DM Sans"/>
                <a:ea typeface="DM Sans"/>
                <a:cs typeface="DM Sans"/>
                <a:sym typeface="DM Sans"/>
              </a:defRPr>
            </a:lvl1pPr>
          </a:lstStyle>
          <a:p>
            <a:pPr/>
            <a:r>
              <a:t>From €40K to €1.2M ARR.</a:t>
            </a:r>
          </a:p>
        </p:txBody>
      </p:sp>
      <p:sp>
        <p:nvSpPr>
          <p:cNvPr id="473" name="Shape 2"/>
          <p:cNvSpPr/>
          <p:nvPr/>
        </p:nvSpPr>
        <p:spPr>
          <a:xfrm>
            <a:off x="7543800" y="1572767"/>
            <a:ext cx="4069080" cy="621793"/>
          </a:xfrm>
          <a:prstGeom prst="roundRect">
            <a:avLst>
              <a:gd name="adj" fmla="val 14706"/>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474" name="Text 3"/>
          <p:cNvSpPr txBox="1"/>
          <p:nvPr/>
        </p:nvSpPr>
        <p:spPr>
          <a:xfrm>
            <a:off x="7726680" y="1801113"/>
            <a:ext cx="9144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06B6D4"/>
                </a:solidFill>
                <a:latin typeface="DM Sans"/>
                <a:ea typeface="DM Sans"/>
                <a:cs typeface="DM Sans"/>
                <a:sym typeface="DM Sans"/>
              </a:defRPr>
            </a:lvl1pPr>
          </a:lstStyle>
          <a:p>
            <a:pPr/>
            <a:r>
              <a:t>Year 1</a:t>
            </a:r>
          </a:p>
        </p:txBody>
      </p:sp>
      <p:sp>
        <p:nvSpPr>
          <p:cNvPr id="475" name="Text 4"/>
          <p:cNvSpPr txBox="1"/>
          <p:nvPr/>
        </p:nvSpPr>
        <p:spPr>
          <a:xfrm>
            <a:off x="8503919" y="1775713"/>
            <a:ext cx="86868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FFFFF"/>
                </a:solidFill>
                <a:latin typeface="DM Sans"/>
                <a:ea typeface="DM Sans"/>
                <a:cs typeface="DM Sans"/>
                <a:sym typeface="DM Sans"/>
              </a:defRPr>
            </a:lvl1pPr>
          </a:lstStyle>
          <a:p>
            <a:pPr/>
            <a:r>
              <a:t>€40K</a:t>
            </a:r>
          </a:p>
        </p:txBody>
      </p:sp>
      <p:sp>
        <p:nvSpPr>
          <p:cNvPr id="476" name="Text 5"/>
          <p:cNvSpPr txBox="1"/>
          <p:nvPr/>
        </p:nvSpPr>
        <p:spPr>
          <a:xfrm>
            <a:off x="9372600" y="1759838"/>
            <a:ext cx="2103121" cy="2476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5000"/>
              </a:lnSpc>
              <a:defRPr sz="800">
                <a:solidFill>
                  <a:srgbClr val="9AA6B4"/>
                </a:solidFill>
                <a:latin typeface="DM Sans"/>
                <a:ea typeface="DM Sans"/>
                <a:cs typeface="DM Sans"/>
                <a:sym typeface="DM Sans"/>
              </a:defRPr>
            </a:lvl1pPr>
          </a:lstStyle>
          <a:p>
            <a:pPr/>
            <a:r>
              <a:t>10 Pro · MVP on San Antonio + Valparaíso (&gt;60% of container traffic)</a:t>
            </a:r>
          </a:p>
        </p:txBody>
      </p:sp>
      <p:sp>
        <p:nvSpPr>
          <p:cNvPr id="477" name="Shape 6"/>
          <p:cNvSpPr/>
          <p:nvPr/>
        </p:nvSpPr>
        <p:spPr>
          <a:xfrm>
            <a:off x="7543800" y="2286000"/>
            <a:ext cx="4069080" cy="621792"/>
          </a:xfrm>
          <a:prstGeom prst="roundRect">
            <a:avLst>
              <a:gd name="adj" fmla="val 14706"/>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478" name="Text 7"/>
          <p:cNvSpPr txBox="1"/>
          <p:nvPr/>
        </p:nvSpPr>
        <p:spPr>
          <a:xfrm>
            <a:off x="7726680" y="2514345"/>
            <a:ext cx="9144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06B6D4"/>
                </a:solidFill>
                <a:latin typeface="DM Sans"/>
                <a:ea typeface="DM Sans"/>
                <a:cs typeface="DM Sans"/>
                <a:sym typeface="DM Sans"/>
              </a:defRPr>
            </a:lvl1pPr>
          </a:lstStyle>
          <a:p>
            <a:pPr/>
            <a:r>
              <a:t>Year 2</a:t>
            </a:r>
          </a:p>
        </p:txBody>
      </p:sp>
      <p:sp>
        <p:nvSpPr>
          <p:cNvPr id="479" name="Text 8"/>
          <p:cNvSpPr txBox="1"/>
          <p:nvPr/>
        </p:nvSpPr>
        <p:spPr>
          <a:xfrm>
            <a:off x="8503919" y="2488945"/>
            <a:ext cx="86868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FFFFF"/>
                </a:solidFill>
                <a:latin typeface="DM Sans"/>
                <a:ea typeface="DM Sans"/>
                <a:cs typeface="DM Sans"/>
                <a:sym typeface="DM Sans"/>
              </a:defRPr>
            </a:lvl1pPr>
          </a:lstStyle>
          <a:p>
            <a:pPr/>
            <a:r>
              <a:t>€150K</a:t>
            </a:r>
          </a:p>
        </p:txBody>
      </p:sp>
      <p:sp>
        <p:nvSpPr>
          <p:cNvPr id="480" name="Text 9"/>
          <p:cNvSpPr txBox="1"/>
          <p:nvPr/>
        </p:nvSpPr>
        <p:spPr>
          <a:xfrm>
            <a:off x="9372600" y="2473070"/>
            <a:ext cx="2103121" cy="2476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5000"/>
              </a:lnSpc>
              <a:defRPr sz="800">
                <a:solidFill>
                  <a:srgbClr val="9AA6B4"/>
                </a:solidFill>
                <a:latin typeface="DM Sans"/>
                <a:ea typeface="DM Sans"/>
                <a:cs typeface="DM Sans"/>
                <a:sym typeface="DM Sans"/>
              </a:defRPr>
            </a:lvl1pPr>
          </a:lstStyle>
          <a:p>
            <a:pPr/>
            <a:r>
              <a:t>55 Pro · conversion proven · first Enterprise · all 31 ports live</a:t>
            </a:r>
          </a:p>
        </p:txBody>
      </p:sp>
      <p:sp>
        <p:nvSpPr>
          <p:cNvPr id="481" name="Shape 10"/>
          <p:cNvSpPr/>
          <p:nvPr/>
        </p:nvSpPr>
        <p:spPr>
          <a:xfrm>
            <a:off x="7543800" y="2999232"/>
            <a:ext cx="4069080" cy="621793"/>
          </a:xfrm>
          <a:prstGeom prst="roundRect">
            <a:avLst>
              <a:gd name="adj" fmla="val 14706"/>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482" name="Text 11"/>
          <p:cNvSpPr txBox="1"/>
          <p:nvPr/>
        </p:nvSpPr>
        <p:spPr>
          <a:xfrm>
            <a:off x="7726680" y="3227578"/>
            <a:ext cx="9144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06B6D4"/>
                </a:solidFill>
                <a:latin typeface="DM Sans"/>
                <a:ea typeface="DM Sans"/>
                <a:cs typeface="DM Sans"/>
                <a:sym typeface="DM Sans"/>
              </a:defRPr>
            </a:lvl1pPr>
          </a:lstStyle>
          <a:p>
            <a:pPr/>
            <a:r>
              <a:t>Year 3</a:t>
            </a:r>
          </a:p>
        </p:txBody>
      </p:sp>
      <p:sp>
        <p:nvSpPr>
          <p:cNvPr id="483" name="Text 12"/>
          <p:cNvSpPr txBox="1"/>
          <p:nvPr/>
        </p:nvSpPr>
        <p:spPr>
          <a:xfrm>
            <a:off x="8503919" y="3202178"/>
            <a:ext cx="86868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FFFFF"/>
                </a:solidFill>
                <a:latin typeface="DM Sans"/>
                <a:ea typeface="DM Sans"/>
                <a:cs typeface="DM Sans"/>
                <a:sym typeface="DM Sans"/>
              </a:defRPr>
            </a:lvl1pPr>
          </a:lstStyle>
          <a:p>
            <a:pPr/>
            <a:r>
              <a:t>€400K</a:t>
            </a:r>
          </a:p>
        </p:txBody>
      </p:sp>
      <p:sp>
        <p:nvSpPr>
          <p:cNvPr id="484" name="Text 13"/>
          <p:cNvSpPr txBox="1"/>
          <p:nvPr/>
        </p:nvSpPr>
        <p:spPr>
          <a:xfrm>
            <a:off x="9372600" y="3185384"/>
            <a:ext cx="2103121" cy="24948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5000"/>
              </a:lnSpc>
              <a:defRPr sz="800">
                <a:solidFill>
                  <a:srgbClr val="9AA6B4"/>
                </a:solidFill>
                <a:latin typeface="DM Sans"/>
                <a:ea typeface="DM Sans"/>
                <a:cs typeface="DM Sans"/>
                <a:sym typeface="DM Sans"/>
              </a:defRPr>
            </a:lvl1pPr>
          </a:lstStyle>
          <a:p>
            <a:pPr/>
            <a:r>
              <a:t>150 Pro · ARPU → €250 on commodity upsell · first API deals</a:t>
            </a:r>
          </a:p>
        </p:txBody>
      </p:sp>
      <p:sp>
        <p:nvSpPr>
          <p:cNvPr id="485" name="Shape 14"/>
          <p:cNvSpPr/>
          <p:nvPr/>
        </p:nvSpPr>
        <p:spPr>
          <a:xfrm>
            <a:off x="7543800" y="3712464"/>
            <a:ext cx="4069080" cy="621793"/>
          </a:xfrm>
          <a:prstGeom prst="roundRect">
            <a:avLst>
              <a:gd name="adj" fmla="val 14706"/>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486" name="Text 15"/>
          <p:cNvSpPr txBox="1"/>
          <p:nvPr/>
        </p:nvSpPr>
        <p:spPr>
          <a:xfrm>
            <a:off x="7726680" y="3940810"/>
            <a:ext cx="9144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06B6D4"/>
                </a:solidFill>
                <a:latin typeface="DM Sans"/>
                <a:ea typeface="DM Sans"/>
                <a:cs typeface="DM Sans"/>
                <a:sym typeface="DM Sans"/>
              </a:defRPr>
            </a:lvl1pPr>
          </a:lstStyle>
          <a:p>
            <a:pPr/>
            <a:r>
              <a:t>Year 4</a:t>
            </a:r>
          </a:p>
        </p:txBody>
      </p:sp>
      <p:sp>
        <p:nvSpPr>
          <p:cNvPr id="487" name="Text 16"/>
          <p:cNvSpPr txBox="1"/>
          <p:nvPr/>
        </p:nvSpPr>
        <p:spPr>
          <a:xfrm>
            <a:off x="8503919" y="3915410"/>
            <a:ext cx="86868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FFFFF"/>
                </a:solidFill>
                <a:latin typeface="DM Sans"/>
                <a:ea typeface="DM Sans"/>
                <a:cs typeface="DM Sans"/>
                <a:sym typeface="DM Sans"/>
              </a:defRPr>
            </a:lvl1pPr>
          </a:lstStyle>
          <a:p>
            <a:pPr/>
            <a:r>
              <a:t>€750K</a:t>
            </a:r>
          </a:p>
        </p:txBody>
      </p:sp>
      <p:sp>
        <p:nvSpPr>
          <p:cNvPr id="488" name="Text 17"/>
          <p:cNvSpPr txBox="1"/>
          <p:nvPr/>
        </p:nvSpPr>
        <p:spPr>
          <a:xfrm>
            <a:off x="9372600" y="3899535"/>
            <a:ext cx="2103121" cy="2476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5000"/>
              </a:lnSpc>
              <a:defRPr sz="800">
                <a:solidFill>
                  <a:srgbClr val="9AA6B4"/>
                </a:solidFill>
                <a:latin typeface="DM Sans"/>
                <a:ea typeface="DM Sans"/>
                <a:cs typeface="DM Sans"/>
                <a:sym typeface="DM Sans"/>
              </a:defRPr>
            </a:lvl1pPr>
          </a:lstStyle>
          <a:p>
            <a:pPr/>
            <a:r>
              <a:t>280 Pro · LatAm expansion begins (Peru, Colombia)</a:t>
            </a:r>
          </a:p>
        </p:txBody>
      </p:sp>
      <p:sp>
        <p:nvSpPr>
          <p:cNvPr id="489" name="Shape 18"/>
          <p:cNvSpPr/>
          <p:nvPr/>
        </p:nvSpPr>
        <p:spPr>
          <a:xfrm>
            <a:off x="7543800" y="4425696"/>
            <a:ext cx="4069080" cy="621793"/>
          </a:xfrm>
          <a:prstGeom prst="roundRect">
            <a:avLst>
              <a:gd name="adj" fmla="val 14706"/>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490" name="Text 19"/>
          <p:cNvSpPr txBox="1"/>
          <p:nvPr/>
        </p:nvSpPr>
        <p:spPr>
          <a:xfrm>
            <a:off x="7726680" y="4654042"/>
            <a:ext cx="9144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06B6D4"/>
                </a:solidFill>
                <a:latin typeface="DM Sans"/>
                <a:ea typeface="DM Sans"/>
                <a:cs typeface="DM Sans"/>
                <a:sym typeface="DM Sans"/>
              </a:defRPr>
            </a:lvl1pPr>
          </a:lstStyle>
          <a:p>
            <a:pPr/>
            <a:r>
              <a:t>Year 5</a:t>
            </a:r>
          </a:p>
        </p:txBody>
      </p:sp>
      <p:sp>
        <p:nvSpPr>
          <p:cNvPr id="491" name="Text 20"/>
          <p:cNvSpPr txBox="1"/>
          <p:nvPr/>
        </p:nvSpPr>
        <p:spPr>
          <a:xfrm>
            <a:off x="8503919" y="4628642"/>
            <a:ext cx="86868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FFFFF"/>
                </a:solidFill>
                <a:latin typeface="DM Sans"/>
                <a:ea typeface="DM Sans"/>
                <a:cs typeface="DM Sans"/>
                <a:sym typeface="DM Sans"/>
              </a:defRPr>
            </a:lvl1pPr>
          </a:lstStyle>
          <a:p>
            <a:pPr/>
            <a:r>
              <a:t>€1.2M</a:t>
            </a:r>
          </a:p>
        </p:txBody>
      </p:sp>
      <p:sp>
        <p:nvSpPr>
          <p:cNvPr id="492" name="Text 21"/>
          <p:cNvSpPr txBox="1"/>
          <p:nvPr/>
        </p:nvSpPr>
        <p:spPr>
          <a:xfrm>
            <a:off x="9372600" y="4612767"/>
            <a:ext cx="2103121" cy="2476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5000"/>
              </a:lnSpc>
              <a:defRPr sz="800">
                <a:solidFill>
                  <a:srgbClr val="9AA6B4"/>
                </a:solidFill>
                <a:latin typeface="DM Sans"/>
                <a:ea typeface="DM Sans"/>
                <a:cs typeface="DM Sans"/>
                <a:sym typeface="DM Sans"/>
              </a:defRPr>
            </a:lvl1pPr>
          </a:lstStyle>
          <a:p>
            <a:pPr/>
            <a:r>
              <a:t>450 Pro · white-label port authorities · API licensing</a:t>
            </a:r>
          </a:p>
        </p:txBody>
      </p:sp>
      <p:sp>
        <p:nvSpPr>
          <p:cNvPr id="493" name="Text 22"/>
          <p:cNvSpPr txBox="1"/>
          <p:nvPr/>
        </p:nvSpPr>
        <p:spPr>
          <a:xfrm>
            <a:off x="548640" y="5974019"/>
            <a:ext cx="6766560" cy="167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F59E0B"/>
                </a:solidFill>
                <a:latin typeface="DM Sans"/>
                <a:ea typeface="DM Sans"/>
                <a:cs typeface="DM Sans"/>
                <a:sym typeface="DM Sans"/>
              </a:defRPr>
            </a:pPr>
            <a:r>
              <a:t>Pro users:  </a:t>
            </a:r>
            <a:r>
              <a:rPr b="0">
                <a:solidFill>
                  <a:srgbClr val="AEB9C7"/>
                </a:solidFill>
              </a:rPr>
              <a:t>10 → 55 → 150 → 280 → 450  across Years 1–5.</a:t>
            </a:r>
          </a:p>
        </p:txBody>
      </p:sp>
      <p:sp>
        <p:nvSpPr>
          <p:cNvPr id="494" name="Text 23"/>
          <p:cNvSpPr txBox="1"/>
          <p:nvPr/>
        </p:nvSpPr>
        <p:spPr>
          <a:xfrm>
            <a:off x="7543800" y="5381171"/>
            <a:ext cx="4069080" cy="2927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8000"/>
              </a:lnSpc>
              <a:defRPr i="1" sz="900">
                <a:solidFill>
                  <a:srgbClr val="64748B"/>
                </a:solidFill>
                <a:latin typeface="DM Sans"/>
                <a:ea typeface="DM Sans"/>
                <a:cs typeface="DM Sans"/>
                <a:sym typeface="DM Sans"/>
              </a:defRPr>
            </a:lvl1pPr>
          </a:lstStyle>
          <a:p>
            <a:pPr/>
            <a:r>
              <a:t>Assumptions: 8–12% free-to-paid (SaaS benchmark 3–5%) · churn &lt;5%/mo · ARPU €200→€250 · pipeline is country-agnostic.</a:t>
            </a:r>
          </a:p>
        </p:txBody>
      </p:sp>
      <p:sp>
        <p:nvSpPr>
          <p:cNvPr id="495" name="Text 24"/>
          <p:cNvSpPr txBox="1"/>
          <p:nvPr/>
        </p:nvSpPr>
        <p:spPr>
          <a:xfrm>
            <a:off x="502919" y="6461759"/>
            <a:ext cx="27432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64748B"/>
                </a:solidFill>
                <a:latin typeface="DM Sans"/>
                <a:ea typeface="DM Sans"/>
                <a:cs typeface="DM Sans"/>
                <a:sym typeface="DM Sans"/>
              </a:defRPr>
            </a:lvl1pPr>
          </a:lstStyle>
          <a:p>
            <a:pPr/>
            <a:r>
              <a:t>Waze Cargo</a:t>
            </a:r>
          </a:p>
        </p:txBody>
      </p:sp>
      <p:sp>
        <p:nvSpPr>
          <p:cNvPr id="496" name="Text 25"/>
          <p:cNvSpPr txBox="1"/>
          <p:nvPr/>
        </p:nvSpPr>
        <p:spPr>
          <a:xfrm>
            <a:off x="10728655" y="6461759"/>
            <a:ext cx="96012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latin typeface="DM Sans"/>
                <a:ea typeface="DM Sans"/>
                <a:cs typeface="DM Sans"/>
                <a:sym typeface="DM Sans"/>
              </a:defRPr>
            </a:lvl1pPr>
          </a:lstStyle>
          <a:p>
            <a:pPr/>
            <a:r>
              <a:t>11 / 14</a:t>
            </a:r>
          </a:p>
        </p:txBody>
      </p:sp>
      <p:pic>
        <p:nvPicPr>
          <p:cNvPr id="497" name="Ink 37" descr="Ink 37"/>
          <p:cNvPicPr>
            <a:picLocks noChangeAspect="1"/>
          </p:cNvPicPr>
          <p:nvPr/>
        </p:nvPicPr>
        <p:blipFill>
          <a:blip r:embed="rId3">
            <a:extLst/>
          </a:blip>
          <a:stretch>
            <a:fillRect/>
          </a:stretch>
        </p:blipFill>
        <p:spPr>
          <a:xfrm>
            <a:off x="1654079" y="2809158"/>
            <a:ext cx="5159488" cy="2614841"/>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3"/>
          <a:srcRect l="0" t="0" r="0" b="0"/>
          <a:stretch>
            <a:fillRect/>
          </a:stretch>
        </a:blipFill>
      </p:bgPr>
    </p:bg>
    <p:spTree>
      <p:nvGrpSpPr>
        <p:cNvPr id="1" name=""/>
        <p:cNvGrpSpPr/>
        <p:nvPr/>
      </p:nvGrpSpPr>
      <p:grpSpPr>
        <a:xfrm>
          <a:off x="0" y="0"/>
          <a:ext cx="0" cy="0"/>
          <a:chOff x="0" y="0"/>
          <a:chExt cx="0" cy="0"/>
        </a:xfrm>
      </p:grpSpPr>
      <p:sp>
        <p:nvSpPr>
          <p:cNvPr id="501" name="Text 0"/>
          <p:cNvSpPr txBox="1"/>
          <p:nvPr/>
        </p:nvSpPr>
        <p:spPr>
          <a:xfrm>
            <a:off x="548640" y="560323"/>
            <a:ext cx="10058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200">
                <a:solidFill>
                  <a:srgbClr val="06B6D4"/>
                </a:solidFill>
                <a:latin typeface="DM Sans"/>
                <a:ea typeface="DM Sans"/>
                <a:cs typeface="DM Sans"/>
                <a:sym typeface="DM Sans"/>
              </a:defRPr>
            </a:lvl1pPr>
          </a:lstStyle>
          <a:p>
            <a:pPr/>
            <a:r>
              <a:t>THE ASK</a:t>
            </a:r>
          </a:p>
        </p:txBody>
      </p:sp>
      <p:sp>
        <p:nvSpPr>
          <p:cNvPr id="502" name="Text 1"/>
          <p:cNvSpPr txBox="1"/>
          <p:nvPr/>
        </p:nvSpPr>
        <p:spPr>
          <a:xfrm>
            <a:off x="548640" y="917194"/>
            <a:ext cx="10972801"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100">
                <a:solidFill>
                  <a:srgbClr val="FFFFFF"/>
                </a:solidFill>
                <a:latin typeface="DM Sans"/>
                <a:ea typeface="DM Sans"/>
                <a:cs typeface="DM Sans"/>
                <a:sym typeface="DM Sans"/>
              </a:defRPr>
            </a:lvl1pPr>
          </a:lstStyle>
          <a:p>
            <a:pPr/>
            <a:r>
              <a:t>€120,000 seed for 15% equity.</a:t>
            </a:r>
          </a:p>
        </p:txBody>
      </p:sp>
      <p:sp>
        <p:nvSpPr>
          <p:cNvPr id="503" name="Text 2"/>
          <p:cNvSpPr txBox="1"/>
          <p:nvPr/>
        </p:nvSpPr>
        <p:spPr>
          <a:xfrm>
            <a:off x="548640" y="1601977"/>
            <a:ext cx="109728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06B6D4"/>
                </a:solidFill>
                <a:latin typeface="DM Sans"/>
                <a:ea typeface="DM Sans"/>
                <a:cs typeface="DM Sans"/>
                <a:sym typeface="DM Sans"/>
              </a:defRPr>
            </a:lvl1pPr>
          </a:lstStyle>
          <a:p>
            <a:pPr/>
            <a:r>
              <a:t>Implied valuation €800K. This is a go-to-market bet on a working product — not an R&amp;D bet.</a:t>
            </a:r>
          </a:p>
        </p:txBody>
      </p:sp>
      <p:sp>
        <p:nvSpPr>
          <p:cNvPr id="504" name="Shape 3"/>
          <p:cNvSpPr/>
          <p:nvPr/>
        </p:nvSpPr>
        <p:spPr>
          <a:xfrm>
            <a:off x="548640" y="2103120"/>
            <a:ext cx="3566160" cy="2331721"/>
          </a:xfrm>
          <a:prstGeom prst="roundRect">
            <a:avLst>
              <a:gd name="adj" fmla="val 3922"/>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505" name="Shape 4"/>
          <p:cNvSpPr/>
          <p:nvPr/>
        </p:nvSpPr>
        <p:spPr>
          <a:xfrm>
            <a:off x="822960" y="2377439"/>
            <a:ext cx="640081" cy="640081"/>
          </a:xfrm>
          <a:prstGeom prst="ellipse">
            <a:avLst/>
          </a:prstGeom>
          <a:solidFill>
            <a:srgbClr val="0E2A38"/>
          </a:solidFill>
          <a:ln w="12700">
            <a:miter lim="400000"/>
          </a:ln>
        </p:spPr>
        <p:txBody>
          <a:bodyPr lIns="45719" rIns="45719"/>
          <a:lstStyle/>
          <a:p>
            <a:pPr/>
          </a:p>
        </p:txBody>
      </p:sp>
      <p:pic>
        <p:nvPicPr>
          <p:cNvPr id="506" name="Image 0" descr="Image 0"/>
          <p:cNvPicPr>
            <a:picLocks noChangeAspect="1"/>
          </p:cNvPicPr>
          <p:nvPr/>
        </p:nvPicPr>
        <p:blipFill>
          <a:blip r:embed="rId4">
            <a:extLst/>
          </a:blip>
          <a:stretch>
            <a:fillRect/>
          </a:stretch>
        </p:blipFill>
        <p:spPr>
          <a:xfrm>
            <a:off x="978408" y="2532888"/>
            <a:ext cx="329185" cy="329185"/>
          </a:xfrm>
          <a:prstGeom prst="rect">
            <a:avLst/>
          </a:prstGeom>
          <a:ln w="12700">
            <a:miter lim="400000"/>
          </a:ln>
        </p:spPr>
      </p:pic>
      <p:sp>
        <p:nvSpPr>
          <p:cNvPr id="507" name="Text 5"/>
          <p:cNvSpPr txBox="1"/>
          <p:nvPr/>
        </p:nvSpPr>
        <p:spPr>
          <a:xfrm>
            <a:off x="2926079" y="2449322"/>
            <a:ext cx="100584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2400">
                <a:solidFill>
                  <a:srgbClr val="06B6D4"/>
                </a:solidFill>
                <a:latin typeface="DM Sans"/>
                <a:ea typeface="DM Sans"/>
                <a:cs typeface="DM Sans"/>
                <a:sym typeface="DM Sans"/>
              </a:defRPr>
            </a:lvl1pPr>
          </a:lstStyle>
          <a:p>
            <a:pPr/>
            <a:r>
              <a:t>40%</a:t>
            </a:r>
          </a:p>
        </p:txBody>
      </p:sp>
      <p:sp>
        <p:nvSpPr>
          <p:cNvPr id="508" name="Text 6"/>
          <p:cNvSpPr txBox="1"/>
          <p:nvPr/>
        </p:nvSpPr>
        <p:spPr>
          <a:xfrm>
            <a:off x="822960" y="3293617"/>
            <a:ext cx="301752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5000"/>
              </a:lnSpc>
              <a:defRPr b="1" sz="1400">
                <a:solidFill>
                  <a:srgbClr val="FFFFFF"/>
                </a:solidFill>
                <a:latin typeface="DM Sans"/>
                <a:ea typeface="DM Sans"/>
                <a:cs typeface="DM Sans"/>
                <a:sym typeface="DM Sans"/>
              </a:defRPr>
            </a:lvl1pPr>
          </a:lstStyle>
          <a:p>
            <a:pPr/>
            <a:r>
              <a:t>Product &amp; Infrastructure</a:t>
            </a:r>
          </a:p>
        </p:txBody>
      </p:sp>
      <p:sp>
        <p:nvSpPr>
          <p:cNvPr id="509" name="Text 7"/>
          <p:cNvSpPr txBox="1"/>
          <p:nvPr/>
        </p:nvSpPr>
        <p:spPr>
          <a:xfrm>
            <a:off x="822960" y="3632707"/>
            <a:ext cx="301752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06B6D4"/>
                </a:solidFill>
                <a:latin typeface="DM Sans"/>
                <a:ea typeface="DM Sans"/>
                <a:cs typeface="DM Sans"/>
                <a:sym typeface="DM Sans"/>
              </a:defRPr>
            </a:lvl1pPr>
          </a:lstStyle>
          <a:p>
            <a:pPr/>
            <a:r>
              <a:t>€48,000</a:t>
            </a:r>
          </a:p>
        </p:txBody>
      </p:sp>
      <p:sp>
        <p:nvSpPr>
          <p:cNvPr id="510" name="Text 8"/>
          <p:cNvSpPr txBox="1"/>
          <p:nvPr/>
        </p:nvSpPr>
        <p:spPr>
          <a:xfrm>
            <a:off x="822960" y="3911600"/>
            <a:ext cx="3017521" cy="42468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2000"/>
              </a:lnSpc>
              <a:defRPr sz="900">
                <a:solidFill>
                  <a:srgbClr val="9AA6B4"/>
                </a:solidFill>
                <a:latin typeface="DM Sans"/>
                <a:ea typeface="DM Sans"/>
                <a:cs typeface="DM Sans"/>
                <a:sym typeface="DM Sans"/>
              </a:defRPr>
            </a:lvl1pPr>
          </a:lstStyle>
          <a:p>
            <a:pPr/>
            <a:r>
              <a:t>Deploy Dashboard 2.0 (hosting, CI/CD, auth, payments) · AWS scaling · Enterprise API layer · upgrade weather to live 7-day marine forecasts.</a:t>
            </a:r>
          </a:p>
        </p:txBody>
      </p:sp>
      <p:sp>
        <p:nvSpPr>
          <p:cNvPr id="511" name="Shape 9"/>
          <p:cNvSpPr/>
          <p:nvPr/>
        </p:nvSpPr>
        <p:spPr>
          <a:xfrm>
            <a:off x="4315967" y="2103120"/>
            <a:ext cx="3566161" cy="2331721"/>
          </a:xfrm>
          <a:prstGeom prst="roundRect">
            <a:avLst>
              <a:gd name="adj" fmla="val 3922"/>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512" name="Shape 10"/>
          <p:cNvSpPr/>
          <p:nvPr/>
        </p:nvSpPr>
        <p:spPr>
          <a:xfrm>
            <a:off x="4590288" y="2377439"/>
            <a:ext cx="640081" cy="640081"/>
          </a:xfrm>
          <a:prstGeom prst="ellipse">
            <a:avLst/>
          </a:prstGeom>
          <a:solidFill>
            <a:srgbClr val="0E2A38"/>
          </a:solidFill>
          <a:ln w="12700">
            <a:miter lim="400000"/>
          </a:ln>
        </p:spPr>
        <p:txBody>
          <a:bodyPr lIns="45719" rIns="45719"/>
          <a:lstStyle/>
          <a:p>
            <a:pPr/>
          </a:p>
        </p:txBody>
      </p:sp>
      <p:pic>
        <p:nvPicPr>
          <p:cNvPr id="513" name="Image 1" descr="Image 1"/>
          <p:cNvPicPr>
            <a:picLocks noChangeAspect="1"/>
          </p:cNvPicPr>
          <p:nvPr/>
        </p:nvPicPr>
        <p:blipFill>
          <a:blip r:embed="rId5">
            <a:extLst/>
          </a:blip>
          <a:stretch>
            <a:fillRect/>
          </a:stretch>
        </p:blipFill>
        <p:spPr>
          <a:xfrm>
            <a:off x="4745735" y="2532888"/>
            <a:ext cx="329185" cy="329185"/>
          </a:xfrm>
          <a:prstGeom prst="rect">
            <a:avLst/>
          </a:prstGeom>
          <a:ln w="12700">
            <a:miter lim="400000"/>
          </a:ln>
        </p:spPr>
      </p:pic>
      <p:sp>
        <p:nvSpPr>
          <p:cNvPr id="514" name="Text 11"/>
          <p:cNvSpPr txBox="1"/>
          <p:nvPr/>
        </p:nvSpPr>
        <p:spPr>
          <a:xfrm>
            <a:off x="6693407" y="2449322"/>
            <a:ext cx="100584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2400">
                <a:solidFill>
                  <a:srgbClr val="06B6D4"/>
                </a:solidFill>
                <a:latin typeface="DM Sans"/>
                <a:ea typeface="DM Sans"/>
                <a:cs typeface="DM Sans"/>
                <a:sym typeface="DM Sans"/>
              </a:defRPr>
            </a:lvl1pPr>
          </a:lstStyle>
          <a:p>
            <a:pPr/>
            <a:r>
              <a:t>30%</a:t>
            </a:r>
          </a:p>
        </p:txBody>
      </p:sp>
      <p:sp>
        <p:nvSpPr>
          <p:cNvPr id="515" name="Text 12"/>
          <p:cNvSpPr txBox="1"/>
          <p:nvPr/>
        </p:nvSpPr>
        <p:spPr>
          <a:xfrm>
            <a:off x="4590288" y="3293617"/>
            <a:ext cx="301752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5000"/>
              </a:lnSpc>
              <a:defRPr b="1" sz="1400">
                <a:solidFill>
                  <a:srgbClr val="FFFFFF"/>
                </a:solidFill>
                <a:latin typeface="DM Sans"/>
                <a:ea typeface="DM Sans"/>
                <a:cs typeface="DM Sans"/>
                <a:sym typeface="DM Sans"/>
              </a:defRPr>
            </a:lvl1pPr>
          </a:lstStyle>
          <a:p>
            <a:pPr/>
            <a:r>
              <a:t>Sales &amp; Marketing</a:t>
            </a:r>
          </a:p>
        </p:txBody>
      </p:sp>
      <p:sp>
        <p:nvSpPr>
          <p:cNvPr id="516" name="Text 13"/>
          <p:cNvSpPr txBox="1"/>
          <p:nvPr/>
        </p:nvSpPr>
        <p:spPr>
          <a:xfrm>
            <a:off x="4590288" y="3632707"/>
            <a:ext cx="301752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06B6D4"/>
                </a:solidFill>
                <a:latin typeface="DM Sans"/>
                <a:ea typeface="DM Sans"/>
                <a:cs typeface="DM Sans"/>
                <a:sym typeface="DM Sans"/>
              </a:defRPr>
            </a:lvl1pPr>
          </a:lstStyle>
          <a:p>
            <a:pPr/>
            <a:r>
              <a:t>€36,000</a:t>
            </a:r>
          </a:p>
        </p:txBody>
      </p:sp>
      <p:sp>
        <p:nvSpPr>
          <p:cNvPr id="517" name="Text 14"/>
          <p:cNvSpPr txBox="1"/>
          <p:nvPr/>
        </p:nvSpPr>
        <p:spPr>
          <a:xfrm>
            <a:off x="4590288" y="3911600"/>
            <a:ext cx="3017521" cy="42468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2000"/>
              </a:lnSpc>
              <a:defRPr sz="900">
                <a:solidFill>
                  <a:srgbClr val="9AA6B4"/>
                </a:solidFill>
                <a:latin typeface="DM Sans"/>
                <a:ea typeface="DM Sans"/>
                <a:cs typeface="DM Sans"/>
                <a:sym typeface="DM Sans"/>
              </a:defRPr>
            </a:lvl1pPr>
          </a:lstStyle>
          <a:p>
            <a:pPr/>
            <a:r>
              <a:t>Cold-outreach tooling · trade events (SNA, ASOEX, SOFOFA) · content &amp; SEO · first case studies at San Antonio &amp; Valparaíso.</a:t>
            </a:r>
          </a:p>
        </p:txBody>
      </p:sp>
      <p:sp>
        <p:nvSpPr>
          <p:cNvPr id="518" name="Shape 15"/>
          <p:cNvSpPr/>
          <p:nvPr/>
        </p:nvSpPr>
        <p:spPr>
          <a:xfrm>
            <a:off x="8083295" y="2103120"/>
            <a:ext cx="3566161" cy="2331721"/>
          </a:xfrm>
          <a:prstGeom prst="roundRect">
            <a:avLst>
              <a:gd name="adj" fmla="val 3922"/>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519" name="Shape 16"/>
          <p:cNvSpPr/>
          <p:nvPr/>
        </p:nvSpPr>
        <p:spPr>
          <a:xfrm>
            <a:off x="8357616" y="2377439"/>
            <a:ext cx="640081" cy="640081"/>
          </a:xfrm>
          <a:prstGeom prst="ellipse">
            <a:avLst/>
          </a:prstGeom>
          <a:solidFill>
            <a:srgbClr val="0E2A38"/>
          </a:solidFill>
          <a:ln w="12700">
            <a:miter lim="400000"/>
          </a:ln>
        </p:spPr>
        <p:txBody>
          <a:bodyPr lIns="45719" rIns="45719"/>
          <a:lstStyle/>
          <a:p>
            <a:pPr/>
          </a:p>
        </p:txBody>
      </p:sp>
      <p:pic>
        <p:nvPicPr>
          <p:cNvPr id="520" name="Image 2" descr="Image 2"/>
          <p:cNvPicPr>
            <a:picLocks noChangeAspect="1"/>
          </p:cNvPicPr>
          <p:nvPr/>
        </p:nvPicPr>
        <p:blipFill>
          <a:blip r:embed="rId6">
            <a:extLst/>
          </a:blip>
          <a:stretch>
            <a:fillRect/>
          </a:stretch>
        </p:blipFill>
        <p:spPr>
          <a:xfrm>
            <a:off x="8513064" y="2532888"/>
            <a:ext cx="329185" cy="329185"/>
          </a:xfrm>
          <a:prstGeom prst="rect">
            <a:avLst/>
          </a:prstGeom>
          <a:ln w="12700">
            <a:miter lim="400000"/>
          </a:ln>
        </p:spPr>
      </p:pic>
      <p:sp>
        <p:nvSpPr>
          <p:cNvPr id="521" name="Text 17"/>
          <p:cNvSpPr txBox="1"/>
          <p:nvPr/>
        </p:nvSpPr>
        <p:spPr>
          <a:xfrm>
            <a:off x="10460735" y="2449322"/>
            <a:ext cx="100584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2400">
                <a:solidFill>
                  <a:srgbClr val="06B6D4"/>
                </a:solidFill>
                <a:latin typeface="DM Sans"/>
                <a:ea typeface="DM Sans"/>
                <a:cs typeface="DM Sans"/>
                <a:sym typeface="DM Sans"/>
              </a:defRPr>
            </a:lvl1pPr>
          </a:lstStyle>
          <a:p>
            <a:pPr/>
            <a:r>
              <a:t>30%</a:t>
            </a:r>
          </a:p>
        </p:txBody>
      </p:sp>
      <p:sp>
        <p:nvSpPr>
          <p:cNvPr id="522" name="Text 18"/>
          <p:cNvSpPr txBox="1"/>
          <p:nvPr/>
        </p:nvSpPr>
        <p:spPr>
          <a:xfrm>
            <a:off x="8357616" y="3293617"/>
            <a:ext cx="301752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5000"/>
              </a:lnSpc>
              <a:defRPr b="1" sz="1400">
                <a:solidFill>
                  <a:srgbClr val="FFFFFF"/>
                </a:solidFill>
                <a:latin typeface="DM Sans"/>
                <a:ea typeface="DM Sans"/>
                <a:cs typeface="DM Sans"/>
                <a:sym typeface="DM Sans"/>
              </a:defRPr>
            </a:lvl1pPr>
          </a:lstStyle>
          <a:p>
            <a:pPr/>
            <a:r>
              <a:t>Team &amp; Operations</a:t>
            </a:r>
          </a:p>
        </p:txBody>
      </p:sp>
      <p:sp>
        <p:nvSpPr>
          <p:cNvPr id="523" name="Text 19"/>
          <p:cNvSpPr txBox="1"/>
          <p:nvPr/>
        </p:nvSpPr>
        <p:spPr>
          <a:xfrm>
            <a:off x="8357616" y="3632707"/>
            <a:ext cx="301752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06B6D4"/>
                </a:solidFill>
                <a:latin typeface="DM Sans"/>
                <a:ea typeface="DM Sans"/>
                <a:cs typeface="DM Sans"/>
                <a:sym typeface="DM Sans"/>
              </a:defRPr>
            </a:lvl1pPr>
          </a:lstStyle>
          <a:p>
            <a:pPr/>
            <a:r>
              <a:t>€36,000</a:t>
            </a:r>
          </a:p>
        </p:txBody>
      </p:sp>
      <p:sp>
        <p:nvSpPr>
          <p:cNvPr id="524" name="Text 20"/>
          <p:cNvSpPr txBox="1"/>
          <p:nvPr/>
        </p:nvSpPr>
        <p:spPr>
          <a:xfrm>
            <a:off x="8357616" y="3982847"/>
            <a:ext cx="3017521" cy="28219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2000"/>
              </a:lnSpc>
              <a:defRPr sz="900">
                <a:solidFill>
                  <a:srgbClr val="9AA6B4"/>
                </a:solidFill>
                <a:latin typeface="DM Sans"/>
                <a:ea typeface="DM Sans"/>
                <a:cs typeface="DM Sans"/>
                <a:sym typeface="DM Sans"/>
              </a:defRPr>
            </a:lvl1pPr>
          </a:lstStyle>
          <a:p>
            <a:pPr/>
            <a:r>
              <a:t>Part-time Chile market rep · legal &amp; compliance · SNA data partnership to secure continued customs access.</a:t>
            </a:r>
          </a:p>
        </p:txBody>
      </p:sp>
      <p:sp>
        <p:nvSpPr>
          <p:cNvPr id="525" name="Shape 21"/>
          <p:cNvSpPr/>
          <p:nvPr/>
        </p:nvSpPr>
        <p:spPr>
          <a:xfrm>
            <a:off x="548640" y="4663440"/>
            <a:ext cx="11064241" cy="1408177"/>
          </a:xfrm>
          <a:prstGeom prst="roundRect">
            <a:avLst>
              <a:gd name="adj" fmla="val 7407"/>
            </a:avLst>
          </a:prstGeom>
          <a:solidFill>
            <a:srgbClr val="111A2B"/>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526" name="Text 22"/>
          <p:cNvSpPr txBox="1"/>
          <p:nvPr/>
        </p:nvSpPr>
        <p:spPr>
          <a:xfrm>
            <a:off x="822960" y="4836160"/>
            <a:ext cx="27432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06B6D4"/>
                </a:solidFill>
                <a:latin typeface="DM Sans"/>
                <a:ea typeface="DM Sans"/>
                <a:cs typeface="DM Sans"/>
                <a:sym typeface="DM Sans"/>
              </a:defRPr>
            </a:lvl1pPr>
          </a:lstStyle>
          <a:p>
            <a:pPr/>
            <a:r>
              <a:t>Return framing</a:t>
            </a:r>
          </a:p>
        </p:txBody>
      </p:sp>
      <p:sp>
        <p:nvSpPr>
          <p:cNvPr id="527" name="Text 23"/>
          <p:cNvSpPr txBox="1"/>
          <p:nvPr/>
        </p:nvSpPr>
        <p:spPr>
          <a:xfrm>
            <a:off x="841247" y="5123941"/>
            <a:ext cx="256032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900">
                <a:solidFill>
                  <a:srgbClr val="64748B"/>
                </a:solidFill>
                <a:latin typeface="DM Sans"/>
                <a:ea typeface="DM Sans"/>
                <a:cs typeface="DM Sans"/>
                <a:sym typeface="DM Sans"/>
              </a:defRPr>
            </a:lvl1pPr>
          </a:lstStyle>
          <a:p>
            <a:pPr/>
            <a:r>
              <a:t>TODAY</a:t>
            </a:r>
          </a:p>
        </p:txBody>
      </p:sp>
      <p:sp>
        <p:nvSpPr>
          <p:cNvPr id="528" name="Text 24"/>
          <p:cNvSpPr txBox="1"/>
          <p:nvPr/>
        </p:nvSpPr>
        <p:spPr>
          <a:xfrm>
            <a:off x="841247" y="5331205"/>
            <a:ext cx="256032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10B981"/>
                </a:solidFill>
                <a:latin typeface="DM Sans"/>
                <a:ea typeface="DM Sans"/>
                <a:cs typeface="DM Sans"/>
                <a:sym typeface="DM Sans"/>
              </a:defRPr>
            </a:lvl1pPr>
          </a:lstStyle>
          <a:p>
            <a:pPr/>
            <a:r>
              <a:t>€800K</a:t>
            </a:r>
          </a:p>
        </p:txBody>
      </p:sp>
      <p:sp>
        <p:nvSpPr>
          <p:cNvPr id="529" name="Text 25"/>
          <p:cNvSpPr txBox="1"/>
          <p:nvPr/>
        </p:nvSpPr>
        <p:spPr>
          <a:xfrm>
            <a:off x="841247" y="5709157"/>
            <a:ext cx="256032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AA6B4"/>
                </a:solidFill>
                <a:latin typeface="DM Sans"/>
                <a:ea typeface="DM Sans"/>
                <a:cs typeface="DM Sans"/>
                <a:sym typeface="DM Sans"/>
              </a:defRPr>
            </a:lvl1pPr>
          </a:lstStyle>
          <a:p>
            <a:pPr/>
            <a:r>
              <a:t>implied valuation</a:t>
            </a:r>
          </a:p>
        </p:txBody>
      </p:sp>
      <p:sp>
        <p:nvSpPr>
          <p:cNvPr id="530" name="Text 26"/>
          <p:cNvSpPr txBox="1"/>
          <p:nvPr/>
        </p:nvSpPr>
        <p:spPr>
          <a:xfrm>
            <a:off x="3584447" y="5123941"/>
            <a:ext cx="256032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900">
                <a:solidFill>
                  <a:srgbClr val="64748B"/>
                </a:solidFill>
                <a:latin typeface="DM Sans"/>
                <a:ea typeface="DM Sans"/>
                <a:cs typeface="DM Sans"/>
                <a:sym typeface="DM Sans"/>
              </a:defRPr>
            </a:lvl1pPr>
          </a:lstStyle>
          <a:p>
            <a:pPr/>
            <a:r>
              <a:t>YEAR 3</a:t>
            </a:r>
          </a:p>
        </p:txBody>
      </p:sp>
      <p:sp>
        <p:nvSpPr>
          <p:cNvPr id="531" name="Text 27"/>
          <p:cNvSpPr txBox="1"/>
          <p:nvPr/>
        </p:nvSpPr>
        <p:spPr>
          <a:xfrm>
            <a:off x="3584447" y="5331205"/>
            <a:ext cx="2560321"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10B981"/>
                </a:solidFill>
                <a:latin typeface="DM Sans"/>
                <a:ea typeface="DM Sans"/>
                <a:cs typeface="DM Sans"/>
                <a:sym typeface="DM Sans"/>
              </a:defRPr>
            </a:lvl1pPr>
          </a:lstStyle>
          <a:p>
            <a:pPr/>
            <a:r>
              <a:t>€2M</a:t>
            </a:r>
          </a:p>
        </p:txBody>
      </p:sp>
      <p:sp>
        <p:nvSpPr>
          <p:cNvPr id="532" name="Text 28"/>
          <p:cNvSpPr txBox="1"/>
          <p:nvPr/>
        </p:nvSpPr>
        <p:spPr>
          <a:xfrm>
            <a:off x="3584447" y="5708069"/>
            <a:ext cx="2560321" cy="141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AA6B4"/>
                </a:solidFill>
                <a:latin typeface="DM Sans"/>
                <a:ea typeface="DM Sans"/>
                <a:cs typeface="DM Sans"/>
                <a:sym typeface="DM Sans"/>
              </a:defRPr>
            </a:lvl1pPr>
          </a:lstStyle>
          <a:p>
            <a:pPr/>
            <a:r>
              <a:t>5× ARR → 16× return</a:t>
            </a:r>
          </a:p>
        </p:txBody>
      </p:sp>
      <p:sp>
        <p:nvSpPr>
          <p:cNvPr id="533" name="Text 29"/>
          <p:cNvSpPr txBox="1"/>
          <p:nvPr/>
        </p:nvSpPr>
        <p:spPr>
          <a:xfrm>
            <a:off x="6327647" y="5123941"/>
            <a:ext cx="256032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900">
                <a:solidFill>
                  <a:srgbClr val="64748B"/>
                </a:solidFill>
                <a:latin typeface="DM Sans"/>
                <a:ea typeface="DM Sans"/>
                <a:cs typeface="DM Sans"/>
                <a:sym typeface="DM Sans"/>
              </a:defRPr>
            </a:lvl1pPr>
          </a:lstStyle>
          <a:p>
            <a:pPr/>
            <a:r>
              <a:t>YEAR 5</a:t>
            </a:r>
          </a:p>
        </p:txBody>
      </p:sp>
      <p:sp>
        <p:nvSpPr>
          <p:cNvPr id="534" name="Text 30"/>
          <p:cNvSpPr txBox="1"/>
          <p:nvPr/>
        </p:nvSpPr>
        <p:spPr>
          <a:xfrm>
            <a:off x="6327647" y="5331205"/>
            <a:ext cx="2560321"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10B981"/>
                </a:solidFill>
                <a:latin typeface="DM Sans"/>
                <a:ea typeface="DM Sans"/>
                <a:cs typeface="DM Sans"/>
                <a:sym typeface="DM Sans"/>
              </a:defRPr>
            </a:lvl1pPr>
          </a:lstStyle>
          <a:p>
            <a:pPr/>
            <a:r>
              <a:t>€6M</a:t>
            </a:r>
          </a:p>
        </p:txBody>
      </p:sp>
      <p:sp>
        <p:nvSpPr>
          <p:cNvPr id="535" name="Text 31"/>
          <p:cNvSpPr txBox="1"/>
          <p:nvPr/>
        </p:nvSpPr>
        <p:spPr>
          <a:xfrm>
            <a:off x="6327647" y="5708069"/>
            <a:ext cx="2560321" cy="141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AA6B4"/>
                </a:solidFill>
                <a:latin typeface="DM Sans"/>
                <a:ea typeface="DM Sans"/>
                <a:cs typeface="DM Sans"/>
                <a:sym typeface="DM Sans"/>
              </a:defRPr>
            </a:lvl1pPr>
          </a:lstStyle>
          <a:p>
            <a:pPr/>
            <a:r>
              <a:t>5× ARR → 50× return</a:t>
            </a:r>
          </a:p>
        </p:txBody>
      </p:sp>
      <p:sp>
        <p:nvSpPr>
          <p:cNvPr id="536" name="Text 32"/>
          <p:cNvSpPr txBox="1"/>
          <p:nvPr/>
        </p:nvSpPr>
        <p:spPr>
          <a:xfrm>
            <a:off x="9070847" y="5123941"/>
            <a:ext cx="256032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900">
                <a:solidFill>
                  <a:srgbClr val="64748B"/>
                </a:solidFill>
                <a:latin typeface="DM Sans"/>
                <a:ea typeface="DM Sans"/>
                <a:cs typeface="DM Sans"/>
                <a:sym typeface="DM Sans"/>
              </a:defRPr>
            </a:lvl1pPr>
          </a:lstStyle>
          <a:p>
            <a:pPr/>
            <a:r>
              <a:t>COMPARABLES</a:t>
            </a:r>
          </a:p>
        </p:txBody>
      </p:sp>
      <p:sp>
        <p:nvSpPr>
          <p:cNvPr id="537" name="Text 33"/>
          <p:cNvSpPr txBox="1"/>
          <p:nvPr/>
        </p:nvSpPr>
        <p:spPr>
          <a:xfrm>
            <a:off x="9070847" y="5331205"/>
            <a:ext cx="2560321"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10B981"/>
                </a:solidFill>
                <a:latin typeface="DM Sans"/>
                <a:ea typeface="DM Sans"/>
                <a:cs typeface="DM Sans"/>
                <a:sym typeface="DM Sans"/>
              </a:defRPr>
            </a:lvl1pPr>
          </a:lstStyle>
          <a:p>
            <a:pPr/>
            <a:r>
              <a:t>8–12×</a:t>
            </a:r>
          </a:p>
        </p:txBody>
      </p:sp>
      <p:sp>
        <p:nvSpPr>
          <p:cNvPr id="538" name="Text 34"/>
          <p:cNvSpPr txBox="1"/>
          <p:nvPr/>
        </p:nvSpPr>
        <p:spPr>
          <a:xfrm>
            <a:off x="9070847" y="5709157"/>
            <a:ext cx="256032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AA6B4"/>
                </a:solidFill>
                <a:latin typeface="DM Sans"/>
                <a:ea typeface="DM Sans"/>
                <a:cs typeface="DM Sans"/>
                <a:sym typeface="DM Sans"/>
              </a:defRPr>
            </a:lvl1pPr>
          </a:lstStyle>
          <a:p>
            <a:pPr/>
            <a:r>
              <a:t>Windward, Kpler revenue multiples</a:t>
            </a:r>
          </a:p>
        </p:txBody>
      </p:sp>
      <p:sp>
        <p:nvSpPr>
          <p:cNvPr id="539" name="Text 35"/>
          <p:cNvSpPr txBox="1"/>
          <p:nvPr/>
        </p:nvSpPr>
        <p:spPr>
          <a:xfrm>
            <a:off x="502919" y="6461759"/>
            <a:ext cx="27432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64748B"/>
                </a:solidFill>
                <a:latin typeface="DM Sans"/>
                <a:ea typeface="DM Sans"/>
                <a:cs typeface="DM Sans"/>
                <a:sym typeface="DM Sans"/>
              </a:defRPr>
            </a:lvl1pPr>
          </a:lstStyle>
          <a:p>
            <a:pPr/>
            <a:r>
              <a:t>Waze Cargo</a:t>
            </a:r>
          </a:p>
        </p:txBody>
      </p:sp>
      <p:sp>
        <p:nvSpPr>
          <p:cNvPr id="540" name="Text 36"/>
          <p:cNvSpPr txBox="1"/>
          <p:nvPr/>
        </p:nvSpPr>
        <p:spPr>
          <a:xfrm>
            <a:off x="3108960" y="6468109"/>
            <a:ext cx="59436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900">
                <a:solidFill>
                  <a:srgbClr val="64748B"/>
                </a:solidFill>
                <a:latin typeface="DM Sans"/>
                <a:ea typeface="DM Sans"/>
                <a:cs typeface="DM Sans"/>
                <a:sym typeface="DM Sans"/>
              </a:defRPr>
            </a:lvl1pPr>
          </a:lstStyle>
          <a:p>
            <a:pPr/>
            <a:r>
              <a:t>The core product is already built and validated — the funds deploy it, not build it.</a:t>
            </a:r>
          </a:p>
        </p:txBody>
      </p:sp>
      <p:sp>
        <p:nvSpPr>
          <p:cNvPr id="541" name="Text 37"/>
          <p:cNvSpPr txBox="1"/>
          <p:nvPr/>
        </p:nvSpPr>
        <p:spPr>
          <a:xfrm>
            <a:off x="10728655" y="6461759"/>
            <a:ext cx="96012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latin typeface="DM Sans"/>
                <a:ea typeface="DM Sans"/>
                <a:cs typeface="DM Sans"/>
                <a:sym typeface="DM Sans"/>
              </a:defRPr>
            </a:lvl1pPr>
          </a:lstStyle>
          <a:p>
            <a:pPr/>
            <a:r>
              <a:t>12 / 14</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6090F"/>
        </a:solidFill>
      </p:bgPr>
    </p:bg>
    <p:spTree>
      <p:nvGrpSpPr>
        <p:cNvPr id="1" name=""/>
        <p:cNvGrpSpPr/>
        <p:nvPr/>
      </p:nvGrpSpPr>
      <p:grpSpPr>
        <a:xfrm>
          <a:off x="0" y="0"/>
          <a:ext cx="0" cy="0"/>
          <a:chOff x="0" y="0"/>
          <a:chExt cx="0" cy="0"/>
        </a:xfrm>
      </p:grpSpPr>
      <p:sp>
        <p:nvSpPr>
          <p:cNvPr id="545" name="Text 0"/>
          <p:cNvSpPr txBox="1"/>
          <p:nvPr/>
        </p:nvSpPr>
        <p:spPr>
          <a:xfrm>
            <a:off x="548640" y="514604"/>
            <a:ext cx="10058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200">
                <a:solidFill>
                  <a:srgbClr val="06B6D4"/>
                </a:solidFill>
                <a:latin typeface="DM Sans"/>
                <a:ea typeface="DM Sans"/>
                <a:cs typeface="DM Sans"/>
                <a:sym typeface="DM Sans"/>
              </a:defRPr>
            </a:lvl1pPr>
          </a:lstStyle>
          <a:p>
            <a:pPr/>
            <a:r>
              <a:t>RISKS &amp; MITIGATION</a:t>
            </a:r>
          </a:p>
        </p:txBody>
      </p:sp>
      <p:sp>
        <p:nvSpPr>
          <p:cNvPr id="546" name="Text 1"/>
          <p:cNvSpPr txBox="1"/>
          <p:nvPr/>
        </p:nvSpPr>
        <p:spPr>
          <a:xfrm>
            <a:off x="548639" y="909828"/>
            <a:ext cx="11155682"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FFFFF"/>
                </a:solidFill>
                <a:latin typeface="DM Sans"/>
                <a:ea typeface="DM Sans"/>
                <a:cs typeface="DM Sans"/>
                <a:sym typeface="DM Sans"/>
              </a:defRPr>
            </a:lvl1pPr>
          </a:lstStyle>
          <a:p>
            <a:pPr/>
            <a:r>
              <a:t>Backup — for Q&amp;A.</a:t>
            </a:r>
          </a:p>
        </p:txBody>
      </p:sp>
      <p:sp>
        <p:nvSpPr>
          <p:cNvPr id="547" name="Shape 2"/>
          <p:cNvSpPr/>
          <p:nvPr/>
        </p:nvSpPr>
        <p:spPr>
          <a:xfrm>
            <a:off x="548640" y="1691639"/>
            <a:ext cx="5394960" cy="1298449"/>
          </a:xfrm>
          <a:prstGeom prst="roundRect">
            <a:avLst>
              <a:gd name="adj" fmla="val 7042"/>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548" name="Text 3"/>
          <p:cNvSpPr txBox="1"/>
          <p:nvPr/>
        </p:nvSpPr>
        <p:spPr>
          <a:xfrm>
            <a:off x="822960" y="2042667"/>
            <a:ext cx="3840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5000"/>
              </a:lnSpc>
              <a:defRPr b="1" sz="1300">
                <a:solidFill>
                  <a:srgbClr val="FFFFFF"/>
                </a:solidFill>
                <a:latin typeface="DM Sans"/>
                <a:ea typeface="DM Sans"/>
                <a:cs typeface="DM Sans"/>
                <a:sym typeface="DM Sans"/>
              </a:defRPr>
            </a:lvl1pPr>
          </a:lstStyle>
          <a:p>
            <a:pPr/>
            <a:r>
              <a:t>Low SaaS adoption among Chilean SMEs</a:t>
            </a:r>
          </a:p>
        </p:txBody>
      </p:sp>
      <p:sp>
        <p:nvSpPr>
          <p:cNvPr id="549" name="Shape 4"/>
          <p:cNvSpPr/>
          <p:nvPr/>
        </p:nvSpPr>
        <p:spPr>
          <a:xfrm>
            <a:off x="4617720" y="1929383"/>
            <a:ext cx="501092" cy="310897"/>
          </a:xfrm>
          <a:prstGeom prst="roundRect">
            <a:avLst>
              <a:gd name="adj" fmla="val 50000"/>
            </a:avLst>
          </a:prstGeom>
          <a:solidFill>
            <a:srgbClr val="0E2A38"/>
          </a:solidFill>
          <a:ln w="12700">
            <a:solidFill>
              <a:srgbClr val="EF4444"/>
            </a:solidFill>
          </a:ln>
        </p:spPr>
        <p:txBody>
          <a:bodyPr lIns="45719" rIns="45719"/>
          <a:lstStyle/>
          <a:p>
            <a:pPr/>
          </a:p>
        </p:txBody>
      </p:sp>
      <p:sp>
        <p:nvSpPr>
          <p:cNvPr id="550" name="Text 5"/>
          <p:cNvSpPr txBox="1"/>
          <p:nvPr/>
        </p:nvSpPr>
        <p:spPr>
          <a:xfrm>
            <a:off x="4617720" y="2002282"/>
            <a:ext cx="50109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EF4444"/>
                </a:solidFill>
                <a:latin typeface="DM Sans"/>
                <a:ea typeface="DM Sans"/>
                <a:cs typeface="DM Sans"/>
                <a:sym typeface="DM Sans"/>
              </a:defRPr>
            </a:lvl1pPr>
          </a:lstStyle>
          <a:p>
            <a:pPr/>
            <a:r>
              <a:t>High</a:t>
            </a:r>
          </a:p>
        </p:txBody>
      </p:sp>
      <p:sp>
        <p:nvSpPr>
          <p:cNvPr id="551" name="Text 6"/>
          <p:cNvSpPr txBox="1"/>
          <p:nvPr/>
        </p:nvSpPr>
        <p:spPr>
          <a:xfrm>
            <a:off x="822960" y="2500883"/>
            <a:ext cx="4846321" cy="3108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000"/>
              </a:lnSpc>
              <a:defRPr sz="1000">
                <a:solidFill>
                  <a:srgbClr val="AEB9C7"/>
                </a:solidFill>
                <a:latin typeface="DM Sans"/>
                <a:ea typeface="DM Sans"/>
                <a:cs typeface="DM Sans"/>
                <a:sym typeface="DM Sans"/>
              </a:defRPr>
            </a:lvl1pPr>
          </a:lstStyle>
          <a:p>
            <a:pPr/>
            <a:r>
              <a:t>Free tier removes cost barrier · WhatsApp alerts meet users where they communicate · public dashboard needs zero signup.</a:t>
            </a:r>
          </a:p>
        </p:txBody>
      </p:sp>
      <p:sp>
        <p:nvSpPr>
          <p:cNvPr id="552" name="Shape 7"/>
          <p:cNvSpPr/>
          <p:nvPr/>
        </p:nvSpPr>
        <p:spPr>
          <a:xfrm>
            <a:off x="6172200" y="1691639"/>
            <a:ext cx="5394960" cy="1298449"/>
          </a:xfrm>
          <a:prstGeom prst="roundRect">
            <a:avLst>
              <a:gd name="adj" fmla="val 7042"/>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553" name="Text 8"/>
          <p:cNvSpPr txBox="1"/>
          <p:nvPr/>
        </p:nvSpPr>
        <p:spPr>
          <a:xfrm>
            <a:off x="6446520" y="2042667"/>
            <a:ext cx="3840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5000"/>
              </a:lnSpc>
              <a:defRPr b="1" sz="1300">
                <a:solidFill>
                  <a:srgbClr val="FFFFFF"/>
                </a:solidFill>
                <a:latin typeface="DM Sans"/>
                <a:ea typeface="DM Sans"/>
                <a:cs typeface="DM Sans"/>
                <a:sym typeface="DM Sans"/>
              </a:defRPr>
            </a:lvl1pPr>
          </a:lstStyle>
          <a:p>
            <a:pPr/>
            <a:r>
              <a:t>Competitors add prediction features</a:t>
            </a:r>
          </a:p>
        </p:txBody>
      </p:sp>
      <p:sp>
        <p:nvSpPr>
          <p:cNvPr id="554" name="Shape 9"/>
          <p:cNvSpPr/>
          <p:nvPr/>
        </p:nvSpPr>
        <p:spPr>
          <a:xfrm>
            <a:off x="10241280" y="1929383"/>
            <a:ext cx="669342" cy="310897"/>
          </a:xfrm>
          <a:prstGeom prst="roundRect">
            <a:avLst>
              <a:gd name="adj" fmla="val 50000"/>
            </a:avLst>
          </a:prstGeom>
          <a:solidFill>
            <a:srgbClr val="0E2A38"/>
          </a:solidFill>
          <a:ln w="12700">
            <a:solidFill>
              <a:srgbClr val="F59E0B"/>
            </a:solidFill>
          </a:ln>
        </p:spPr>
        <p:txBody>
          <a:bodyPr lIns="45719" rIns="45719"/>
          <a:lstStyle/>
          <a:p>
            <a:pPr/>
          </a:p>
        </p:txBody>
      </p:sp>
      <p:sp>
        <p:nvSpPr>
          <p:cNvPr id="555" name="Text 10"/>
          <p:cNvSpPr txBox="1"/>
          <p:nvPr/>
        </p:nvSpPr>
        <p:spPr>
          <a:xfrm>
            <a:off x="10241280" y="2002282"/>
            <a:ext cx="66934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59E0B"/>
                </a:solidFill>
                <a:latin typeface="DM Sans"/>
                <a:ea typeface="DM Sans"/>
                <a:cs typeface="DM Sans"/>
                <a:sym typeface="DM Sans"/>
              </a:defRPr>
            </a:lvl1pPr>
          </a:lstStyle>
          <a:p>
            <a:pPr/>
            <a:r>
              <a:t>Medium</a:t>
            </a:r>
          </a:p>
        </p:txBody>
      </p:sp>
      <p:sp>
        <p:nvSpPr>
          <p:cNvPr id="556" name="Text 11"/>
          <p:cNvSpPr txBox="1"/>
          <p:nvPr/>
        </p:nvSpPr>
        <p:spPr>
          <a:xfrm>
            <a:off x="6446520" y="2500883"/>
            <a:ext cx="4846321" cy="3108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000"/>
              </a:lnSpc>
              <a:defRPr sz="1000">
                <a:solidFill>
                  <a:srgbClr val="AEB9C7"/>
                </a:solidFill>
                <a:latin typeface="DM Sans"/>
                <a:ea typeface="DM Sans"/>
                <a:cs typeface="DM Sans"/>
                <a:sym typeface="DM Sans"/>
              </a:defRPr>
            </a:lvl1pPr>
          </a:lstStyle>
          <a:p>
            <a:pPr/>
            <a:r>
              <a:t>Our edge is 20yr Chilean customs at HS2×port granularity — unreplicable from AIS. Global platforms won’t build Chile-specific models for a niche.</a:t>
            </a:r>
          </a:p>
        </p:txBody>
      </p:sp>
      <p:sp>
        <p:nvSpPr>
          <p:cNvPr id="557" name="Shape 12"/>
          <p:cNvSpPr/>
          <p:nvPr/>
        </p:nvSpPr>
        <p:spPr>
          <a:xfrm>
            <a:off x="548640" y="3154679"/>
            <a:ext cx="5394960" cy="1298449"/>
          </a:xfrm>
          <a:prstGeom prst="roundRect">
            <a:avLst>
              <a:gd name="adj" fmla="val 7042"/>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558" name="Text 13"/>
          <p:cNvSpPr txBox="1"/>
          <p:nvPr/>
        </p:nvSpPr>
        <p:spPr>
          <a:xfrm>
            <a:off x="822960" y="3505707"/>
            <a:ext cx="3840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5000"/>
              </a:lnSpc>
              <a:defRPr b="1" sz="1300">
                <a:solidFill>
                  <a:srgbClr val="FFFFFF"/>
                </a:solidFill>
                <a:latin typeface="DM Sans"/>
                <a:ea typeface="DM Sans"/>
                <a:cs typeface="DM Sans"/>
                <a:sym typeface="DM Sans"/>
              </a:defRPr>
            </a:lvl1pPr>
          </a:lstStyle>
          <a:p>
            <a:pPr/>
            <a:r>
              <a:t>ML accuracy degrades</a:t>
            </a:r>
          </a:p>
        </p:txBody>
      </p:sp>
      <p:sp>
        <p:nvSpPr>
          <p:cNvPr id="559" name="Shape 14"/>
          <p:cNvSpPr/>
          <p:nvPr/>
        </p:nvSpPr>
        <p:spPr>
          <a:xfrm>
            <a:off x="4617720" y="3392423"/>
            <a:ext cx="669342" cy="310897"/>
          </a:xfrm>
          <a:prstGeom prst="roundRect">
            <a:avLst>
              <a:gd name="adj" fmla="val 50000"/>
            </a:avLst>
          </a:prstGeom>
          <a:solidFill>
            <a:srgbClr val="0E2A38"/>
          </a:solidFill>
          <a:ln w="12700">
            <a:solidFill>
              <a:srgbClr val="F59E0B"/>
            </a:solidFill>
          </a:ln>
        </p:spPr>
        <p:txBody>
          <a:bodyPr lIns="45719" rIns="45719"/>
          <a:lstStyle/>
          <a:p>
            <a:pPr/>
          </a:p>
        </p:txBody>
      </p:sp>
      <p:sp>
        <p:nvSpPr>
          <p:cNvPr id="560" name="Text 15"/>
          <p:cNvSpPr txBox="1"/>
          <p:nvPr/>
        </p:nvSpPr>
        <p:spPr>
          <a:xfrm>
            <a:off x="4617720" y="3465322"/>
            <a:ext cx="66934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59E0B"/>
                </a:solidFill>
                <a:latin typeface="DM Sans"/>
                <a:ea typeface="DM Sans"/>
                <a:cs typeface="DM Sans"/>
                <a:sym typeface="DM Sans"/>
              </a:defRPr>
            </a:lvl1pPr>
          </a:lstStyle>
          <a:p>
            <a:pPr/>
            <a:r>
              <a:t>Medium</a:t>
            </a:r>
          </a:p>
        </p:txBody>
      </p:sp>
      <p:sp>
        <p:nvSpPr>
          <p:cNvPr id="561" name="Text 16"/>
          <p:cNvSpPr txBox="1"/>
          <p:nvPr/>
        </p:nvSpPr>
        <p:spPr>
          <a:xfrm>
            <a:off x="822960" y="3963923"/>
            <a:ext cx="4846321" cy="3108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000"/>
              </a:lnSpc>
              <a:defRPr sz="1000">
                <a:solidFill>
                  <a:srgbClr val="AEB9C7"/>
                </a:solidFill>
                <a:latin typeface="DM Sans"/>
                <a:ea typeface="DM Sans"/>
                <a:cs typeface="DM Sans"/>
                <a:sym typeface="DM Sans"/>
              </a:defRPr>
            </a:lvl1pPr>
          </a:lstStyle>
          <a:p>
            <a:pPr/>
            <a:r>
              <a:t>Walk-forward CV across 4 folds (incl. COVID) · monthly auto-retrain · alert if wMAPE &gt; 8% · hybrid ensemble auto-adapts per port.</a:t>
            </a:r>
          </a:p>
        </p:txBody>
      </p:sp>
      <p:sp>
        <p:nvSpPr>
          <p:cNvPr id="562" name="Shape 17"/>
          <p:cNvSpPr/>
          <p:nvPr/>
        </p:nvSpPr>
        <p:spPr>
          <a:xfrm>
            <a:off x="6172200" y="3154679"/>
            <a:ext cx="5394960" cy="1298449"/>
          </a:xfrm>
          <a:prstGeom prst="roundRect">
            <a:avLst>
              <a:gd name="adj" fmla="val 7042"/>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563" name="Text 18"/>
          <p:cNvSpPr txBox="1"/>
          <p:nvPr/>
        </p:nvSpPr>
        <p:spPr>
          <a:xfrm>
            <a:off x="6446520" y="3505707"/>
            <a:ext cx="3840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5000"/>
              </a:lnSpc>
              <a:defRPr b="1" sz="1300">
                <a:solidFill>
                  <a:srgbClr val="FFFFFF"/>
                </a:solidFill>
                <a:latin typeface="DM Sans"/>
                <a:ea typeface="DM Sans"/>
                <a:cs typeface="DM Sans"/>
                <a:sym typeface="DM Sans"/>
              </a:defRPr>
            </a:lvl1pPr>
          </a:lstStyle>
          <a:p>
            <a:pPr/>
            <a:r>
              <a:t>Weather data reliability</a:t>
            </a:r>
          </a:p>
        </p:txBody>
      </p:sp>
      <p:sp>
        <p:nvSpPr>
          <p:cNvPr id="564" name="Shape 19"/>
          <p:cNvSpPr/>
          <p:nvPr/>
        </p:nvSpPr>
        <p:spPr>
          <a:xfrm>
            <a:off x="10241280" y="3392423"/>
            <a:ext cx="416967" cy="310897"/>
          </a:xfrm>
          <a:prstGeom prst="roundRect">
            <a:avLst>
              <a:gd name="adj" fmla="val 50000"/>
            </a:avLst>
          </a:prstGeom>
          <a:solidFill>
            <a:srgbClr val="0E2A38"/>
          </a:solidFill>
          <a:ln w="12700">
            <a:solidFill>
              <a:srgbClr val="10B981"/>
            </a:solidFill>
          </a:ln>
        </p:spPr>
        <p:txBody>
          <a:bodyPr lIns="45719" rIns="45719"/>
          <a:lstStyle/>
          <a:p>
            <a:pPr/>
          </a:p>
        </p:txBody>
      </p:sp>
      <p:sp>
        <p:nvSpPr>
          <p:cNvPr id="565" name="Text 20"/>
          <p:cNvSpPr txBox="1"/>
          <p:nvPr/>
        </p:nvSpPr>
        <p:spPr>
          <a:xfrm>
            <a:off x="10241280" y="3465322"/>
            <a:ext cx="41696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10B981"/>
                </a:solidFill>
                <a:latin typeface="DM Sans"/>
                <a:ea typeface="DM Sans"/>
                <a:cs typeface="DM Sans"/>
                <a:sym typeface="DM Sans"/>
              </a:defRPr>
            </a:lvl1pPr>
          </a:lstStyle>
          <a:p>
            <a:pPr/>
            <a:r>
              <a:t>Low</a:t>
            </a:r>
          </a:p>
        </p:txBody>
      </p:sp>
      <p:sp>
        <p:nvSpPr>
          <p:cNvPr id="566" name="Text 21"/>
          <p:cNvSpPr txBox="1"/>
          <p:nvPr/>
        </p:nvSpPr>
        <p:spPr>
          <a:xfrm>
            <a:off x="6446520" y="3963923"/>
            <a:ext cx="4846321" cy="3108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000"/>
              </a:lnSpc>
              <a:defRPr sz="1000">
                <a:solidFill>
                  <a:srgbClr val="AEB9C7"/>
                </a:solidFill>
                <a:latin typeface="DM Sans"/>
                <a:ea typeface="DM Sans"/>
                <a:cs typeface="DM Sans"/>
                <a:sym typeface="DM Sans"/>
              </a:defRPr>
            </a:lvl1pPr>
          </a:lstStyle>
          <a:p>
            <a:pPr/>
            <a:r>
              <a:t>Current system uses seasonal climatology (no API dependency). Live API upgrade planned with SHOA buoy fallback.</a:t>
            </a:r>
          </a:p>
        </p:txBody>
      </p:sp>
      <p:sp>
        <p:nvSpPr>
          <p:cNvPr id="567" name="Shape 22"/>
          <p:cNvSpPr/>
          <p:nvPr/>
        </p:nvSpPr>
        <p:spPr>
          <a:xfrm>
            <a:off x="548640" y="4617720"/>
            <a:ext cx="5394960" cy="1298449"/>
          </a:xfrm>
          <a:prstGeom prst="roundRect">
            <a:avLst>
              <a:gd name="adj" fmla="val 7042"/>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568" name="Text 23"/>
          <p:cNvSpPr txBox="1"/>
          <p:nvPr/>
        </p:nvSpPr>
        <p:spPr>
          <a:xfrm>
            <a:off x="822960" y="4968747"/>
            <a:ext cx="3840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5000"/>
              </a:lnSpc>
              <a:defRPr b="1" sz="1300">
                <a:solidFill>
                  <a:srgbClr val="FFFFFF"/>
                </a:solidFill>
                <a:latin typeface="DM Sans"/>
                <a:ea typeface="DM Sans"/>
                <a:cs typeface="DM Sans"/>
                <a:sym typeface="DM Sans"/>
              </a:defRPr>
            </a:lvl1pPr>
          </a:lstStyle>
          <a:p>
            <a:pPr/>
            <a:r>
              <a:t>Customs data access</a:t>
            </a:r>
          </a:p>
        </p:txBody>
      </p:sp>
      <p:sp>
        <p:nvSpPr>
          <p:cNvPr id="569" name="Shape 24"/>
          <p:cNvSpPr/>
          <p:nvPr/>
        </p:nvSpPr>
        <p:spPr>
          <a:xfrm>
            <a:off x="4617720" y="4855464"/>
            <a:ext cx="416967" cy="310897"/>
          </a:xfrm>
          <a:prstGeom prst="roundRect">
            <a:avLst>
              <a:gd name="adj" fmla="val 50000"/>
            </a:avLst>
          </a:prstGeom>
          <a:solidFill>
            <a:srgbClr val="0E2A38"/>
          </a:solidFill>
          <a:ln w="12700">
            <a:solidFill>
              <a:srgbClr val="10B981"/>
            </a:solidFill>
          </a:ln>
        </p:spPr>
        <p:txBody>
          <a:bodyPr lIns="45719" rIns="45719"/>
          <a:lstStyle/>
          <a:p>
            <a:pPr/>
          </a:p>
        </p:txBody>
      </p:sp>
      <p:sp>
        <p:nvSpPr>
          <p:cNvPr id="570" name="Text 25"/>
          <p:cNvSpPr txBox="1"/>
          <p:nvPr/>
        </p:nvSpPr>
        <p:spPr>
          <a:xfrm>
            <a:off x="4617720" y="4928361"/>
            <a:ext cx="41696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10B981"/>
                </a:solidFill>
                <a:latin typeface="DM Sans"/>
                <a:ea typeface="DM Sans"/>
                <a:cs typeface="DM Sans"/>
                <a:sym typeface="DM Sans"/>
              </a:defRPr>
            </a:lvl1pPr>
          </a:lstStyle>
          <a:p>
            <a:pPr/>
            <a:r>
              <a:t>Low</a:t>
            </a:r>
          </a:p>
        </p:txBody>
      </p:sp>
      <p:sp>
        <p:nvSpPr>
          <p:cNvPr id="571" name="Text 26"/>
          <p:cNvSpPr txBox="1"/>
          <p:nvPr/>
        </p:nvSpPr>
        <p:spPr>
          <a:xfrm>
            <a:off x="822960" y="5426963"/>
            <a:ext cx="4846321" cy="3108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000"/>
              </a:lnSpc>
              <a:defRPr sz="1000">
                <a:solidFill>
                  <a:srgbClr val="AEB9C7"/>
                </a:solidFill>
                <a:latin typeface="DM Sans"/>
                <a:ea typeface="DM Sans"/>
                <a:cs typeface="DM Sans"/>
                <a:sym typeface="DM Sans"/>
              </a:defRPr>
            </a:lvl1pPr>
          </a:lstStyle>
          <a:p>
            <a:pPr/>
            <a:r>
              <a:t>Chile’s SNA has published uninterrupted since 2002. Formal data partnership underway.</a:t>
            </a:r>
          </a:p>
        </p:txBody>
      </p:sp>
      <p:sp>
        <p:nvSpPr>
          <p:cNvPr id="572" name="Shape 27"/>
          <p:cNvSpPr/>
          <p:nvPr/>
        </p:nvSpPr>
        <p:spPr>
          <a:xfrm>
            <a:off x="6172200" y="4617720"/>
            <a:ext cx="5394960" cy="1298449"/>
          </a:xfrm>
          <a:prstGeom prst="roundRect">
            <a:avLst>
              <a:gd name="adj" fmla="val 7042"/>
            </a:avLst>
          </a:prstGeom>
          <a:solidFill>
            <a:srgbClr val="0C1220"/>
          </a:solidFill>
          <a:ln w="12700">
            <a:solidFill>
              <a:srgbClr val="172033"/>
            </a:solidFill>
          </a:ln>
          <a:effectLst>
            <a:outerShdw sx="100000" sy="100000" kx="0" ky="0" algn="b" rotWithShape="0" blurRad="101600" dist="25400" dir="5400000">
              <a:srgbClr val="000000">
                <a:alpha val="25000"/>
              </a:srgbClr>
            </a:outerShdw>
          </a:effectLst>
        </p:spPr>
        <p:txBody>
          <a:bodyPr lIns="45719" rIns="45719"/>
          <a:lstStyle/>
          <a:p>
            <a:pPr/>
          </a:p>
        </p:txBody>
      </p:sp>
      <p:sp>
        <p:nvSpPr>
          <p:cNvPr id="573" name="Text 28"/>
          <p:cNvSpPr txBox="1"/>
          <p:nvPr/>
        </p:nvSpPr>
        <p:spPr>
          <a:xfrm>
            <a:off x="6446520" y="4968747"/>
            <a:ext cx="3840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95000"/>
              </a:lnSpc>
              <a:defRPr b="1" sz="1300">
                <a:solidFill>
                  <a:srgbClr val="FFFFFF"/>
                </a:solidFill>
                <a:latin typeface="DM Sans"/>
                <a:ea typeface="DM Sans"/>
                <a:cs typeface="DM Sans"/>
                <a:sym typeface="DM Sans"/>
              </a:defRPr>
            </a:lvl1pPr>
          </a:lstStyle>
          <a:p>
            <a:pPr/>
            <a:r>
              <a:t>Team capacity</a:t>
            </a:r>
          </a:p>
        </p:txBody>
      </p:sp>
      <p:sp>
        <p:nvSpPr>
          <p:cNvPr id="574" name="Shape 29"/>
          <p:cNvSpPr/>
          <p:nvPr/>
        </p:nvSpPr>
        <p:spPr>
          <a:xfrm>
            <a:off x="10241280" y="4855464"/>
            <a:ext cx="501092" cy="310897"/>
          </a:xfrm>
          <a:prstGeom prst="roundRect">
            <a:avLst>
              <a:gd name="adj" fmla="val 50000"/>
            </a:avLst>
          </a:prstGeom>
          <a:solidFill>
            <a:srgbClr val="0E2A38"/>
          </a:solidFill>
          <a:ln w="12700">
            <a:solidFill>
              <a:srgbClr val="EF4444"/>
            </a:solidFill>
          </a:ln>
        </p:spPr>
        <p:txBody>
          <a:bodyPr lIns="45719" rIns="45719"/>
          <a:lstStyle/>
          <a:p>
            <a:pPr/>
          </a:p>
        </p:txBody>
      </p:sp>
      <p:sp>
        <p:nvSpPr>
          <p:cNvPr id="575" name="Text 30"/>
          <p:cNvSpPr txBox="1"/>
          <p:nvPr/>
        </p:nvSpPr>
        <p:spPr>
          <a:xfrm>
            <a:off x="10241280" y="4928361"/>
            <a:ext cx="50109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EF4444"/>
                </a:solidFill>
                <a:latin typeface="DM Sans"/>
                <a:ea typeface="DM Sans"/>
                <a:cs typeface="DM Sans"/>
                <a:sym typeface="DM Sans"/>
              </a:defRPr>
            </a:lvl1pPr>
          </a:lstStyle>
          <a:p>
            <a:pPr/>
            <a:r>
              <a:t>High</a:t>
            </a:r>
          </a:p>
        </p:txBody>
      </p:sp>
      <p:sp>
        <p:nvSpPr>
          <p:cNvPr id="576" name="Text 31"/>
          <p:cNvSpPr txBox="1"/>
          <p:nvPr/>
        </p:nvSpPr>
        <p:spPr>
          <a:xfrm>
            <a:off x="6446520" y="5426963"/>
            <a:ext cx="4846321" cy="3108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000"/>
              </a:lnSpc>
              <a:defRPr sz="1000">
                <a:solidFill>
                  <a:srgbClr val="AEB9C7"/>
                </a:solidFill>
                <a:latin typeface="DM Sans"/>
                <a:ea typeface="DM Sans"/>
                <a:cs typeface="DM Sans"/>
                <a:sym typeface="DM Sans"/>
              </a:defRPr>
            </a:lvl1pPr>
          </a:lstStyle>
          <a:p>
            <a:pPr/>
            <a:r>
              <a:t>Core product already built · MVP focused on Chilean ports · expand after 50 paying users.</a:t>
            </a:r>
          </a:p>
        </p:txBody>
      </p:sp>
      <p:sp>
        <p:nvSpPr>
          <p:cNvPr id="577" name="Text 32"/>
          <p:cNvSpPr txBox="1"/>
          <p:nvPr/>
        </p:nvSpPr>
        <p:spPr>
          <a:xfrm>
            <a:off x="502919" y="6461759"/>
            <a:ext cx="27432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64748B"/>
                </a:solidFill>
                <a:latin typeface="DM Sans"/>
                <a:ea typeface="DM Sans"/>
                <a:cs typeface="DM Sans"/>
                <a:sym typeface="DM Sans"/>
              </a:defRPr>
            </a:lvl1pPr>
          </a:lstStyle>
          <a:p>
            <a:pPr/>
            <a:r>
              <a:t>Waze Cargo</a:t>
            </a:r>
          </a:p>
        </p:txBody>
      </p:sp>
      <p:sp>
        <p:nvSpPr>
          <p:cNvPr id="578" name="Text 33"/>
          <p:cNvSpPr txBox="1"/>
          <p:nvPr/>
        </p:nvSpPr>
        <p:spPr>
          <a:xfrm>
            <a:off x="10728655" y="6461759"/>
            <a:ext cx="96012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latin typeface="DM Sans"/>
                <a:ea typeface="DM Sans"/>
                <a:cs typeface="DM Sans"/>
                <a:sym typeface="DM Sans"/>
              </a:defRPr>
            </a:lvl1pPr>
          </a:lstStyle>
          <a:p>
            <a:pPr/>
            <a:r>
              <a:t>13 / 14</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3"/>
          <a:srcRect l="0" t="0" r="0" b="0"/>
          <a:stretch>
            <a:fillRect/>
          </a:stretch>
        </a:blipFill>
      </p:bgPr>
    </p:bg>
    <p:spTree>
      <p:nvGrpSpPr>
        <p:cNvPr id="1" name=""/>
        <p:cNvGrpSpPr/>
        <p:nvPr/>
      </p:nvGrpSpPr>
      <p:grpSpPr>
        <a:xfrm>
          <a:off x="0" y="0"/>
          <a:ext cx="0" cy="0"/>
          <a:chOff x="0" y="0"/>
          <a:chExt cx="0" cy="0"/>
        </a:xfrm>
      </p:grpSpPr>
      <p:pic>
        <p:nvPicPr>
          <p:cNvPr id="582" name="Image 0" descr="Image 0"/>
          <p:cNvPicPr>
            <a:picLocks noChangeAspect="1"/>
          </p:cNvPicPr>
          <p:nvPr/>
        </p:nvPicPr>
        <p:blipFill>
          <a:blip r:embed="rId4">
            <a:extLst/>
          </a:blip>
          <a:stretch>
            <a:fillRect/>
          </a:stretch>
        </p:blipFill>
        <p:spPr>
          <a:xfrm>
            <a:off x="9326880" y="1234439"/>
            <a:ext cx="2240281" cy="4864610"/>
          </a:xfrm>
          <a:prstGeom prst="rect">
            <a:avLst/>
          </a:prstGeom>
          <a:ln w="12700">
            <a:miter lim="400000"/>
          </a:ln>
        </p:spPr>
      </p:pic>
      <p:sp>
        <p:nvSpPr>
          <p:cNvPr id="583" name="Text 0"/>
          <p:cNvSpPr txBox="1"/>
          <p:nvPr/>
        </p:nvSpPr>
        <p:spPr>
          <a:xfrm>
            <a:off x="777239" y="1882139"/>
            <a:ext cx="7863842" cy="1905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4200">
                <a:solidFill>
                  <a:srgbClr val="FFFFFF"/>
                </a:solidFill>
                <a:latin typeface="DM Sans"/>
                <a:ea typeface="DM Sans"/>
                <a:cs typeface="DM Sans"/>
                <a:sym typeface="DM Sans"/>
              </a:defRPr>
            </a:pPr>
            <a:r>
              <a:t>“The ocean doesn’t wait.</a:t>
            </a:r>
          </a:p>
          <a:p>
            <a:pPr>
              <a:defRPr b="1" sz="4200">
                <a:solidFill>
                  <a:srgbClr val="FFFFFF"/>
                </a:solidFill>
                <a:latin typeface="DM Sans"/>
                <a:ea typeface="DM Sans"/>
                <a:cs typeface="DM Sans"/>
                <a:sym typeface="DM Sans"/>
              </a:defRPr>
            </a:pPr>
            <a:r>
              <a:t>Now you can move</a:t>
            </a:r>
          </a:p>
          <a:p>
            <a:pPr>
              <a:defRPr b="1" sz="4200">
                <a:solidFill>
                  <a:srgbClr val="FFFFFF"/>
                </a:solidFill>
                <a:latin typeface="DM Sans"/>
                <a:ea typeface="DM Sans"/>
                <a:cs typeface="DM Sans"/>
                <a:sym typeface="DM Sans"/>
              </a:defRPr>
            </a:pPr>
            <a:r>
              <a:t>before it does.”</a:t>
            </a:r>
          </a:p>
        </p:txBody>
      </p:sp>
      <p:sp>
        <p:nvSpPr>
          <p:cNvPr id="584" name="Text 1"/>
          <p:cNvSpPr txBox="1"/>
          <p:nvPr/>
        </p:nvSpPr>
        <p:spPr>
          <a:xfrm>
            <a:off x="822960" y="4229100"/>
            <a:ext cx="7589519"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sz="1500">
                <a:solidFill>
                  <a:srgbClr val="06B6D4"/>
                </a:solidFill>
                <a:latin typeface="DM Sans"/>
                <a:ea typeface="DM Sans"/>
                <a:cs typeface="DM Sans"/>
                <a:sym typeface="DM Sans"/>
              </a:defRPr>
            </a:lvl1pPr>
          </a:lstStyle>
          <a:p>
            <a:pPr/>
            <a:r>
              <a:t>Waze Cargo — predictive port congestion intelligence for Chilean maritime trade.</a:t>
            </a:r>
          </a:p>
        </p:txBody>
      </p:sp>
      <p:sp>
        <p:nvSpPr>
          <p:cNvPr id="585" name="Shape 2"/>
          <p:cNvSpPr/>
          <p:nvPr/>
        </p:nvSpPr>
        <p:spPr>
          <a:xfrm>
            <a:off x="822960" y="4800600"/>
            <a:ext cx="3246121" cy="566928"/>
          </a:xfrm>
          <a:prstGeom prst="roundRect">
            <a:avLst>
              <a:gd name="adj" fmla="val 50000"/>
            </a:avLst>
          </a:prstGeom>
          <a:solidFill>
            <a:srgbClr val="06B6D4"/>
          </a:solidFill>
          <a:ln w="12700">
            <a:miter lim="400000"/>
          </a:ln>
        </p:spPr>
        <p:txBody>
          <a:bodyPr lIns="45719" rIns="45719"/>
          <a:lstStyle/>
          <a:p>
            <a:pPr/>
          </a:p>
        </p:txBody>
      </p:sp>
      <p:sp>
        <p:nvSpPr>
          <p:cNvPr id="586" name="Text 3"/>
          <p:cNvSpPr txBox="1"/>
          <p:nvPr/>
        </p:nvSpPr>
        <p:spPr>
          <a:xfrm>
            <a:off x="822960" y="4982464"/>
            <a:ext cx="324612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06090F"/>
                </a:solidFill>
                <a:latin typeface="DM Sans"/>
                <a:ea typeface="DM Sans"/>
                <a:cs typeface="DM Sans"/>
                <a:sym typeface="DM Sans"/>
              </a:defRPr>
            </a:lvl1pPr>
          </a:lstStyle>
          <a:p>
            <a:pPr/>
            <a:r>
              <a:t>€120K seed  ·  15% equity</a:t>
            </a:r>
          </a:p>
        </p:txBody>
      </p:sp>
      <p:sp>
        <p:nvSpPr>
          <p:cNvPr id="587" name="Text 4"/>
          <p:cNvSpPr txBox="1"/>
          <p:nvPr/>
        </p:nvSpPr>
        <p:spPr>
          <a:xfrm>
            <a:off x="822960" y="5821679"/>
            <a:ext cx="768096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AA6B4"/>
                </a:solidFill>
                <a:latin typeface="DM Sans"/>
                <a:ea typeface="DM Sans"/>
                <a:cs typeface="DM Sans"/>
                <a:sym typeface="DM Sans"/>
              </a:defRPr>
            </a:lvl1pPr>
          </a:lstStyle>
          <a:p>
            <a:pPr/>
            <a:r>
              <a:t>Meliane Meledje  ·  Michalis Arvanitis Katzourakis  ·  Artemiy Klimkin  ·  Gerson Montesinos  ·  David Vergara Fuentes</a:t>
            </a:r>
          </a:p>
        </p:txBody>
      </p:sp>
      <p:sp>
        <p:nvSpPr>
          <p:cNvPr id="588" name="Text 5"/>
          <p:cNvSpPr txBox="1"/>
          <p:nvPr/>
        </p:nvSpPr>
        <p:spPr>
          <a:xfrm>
            <a:off x="822960" y="6114288"/>
            <a:ext cx="73152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000">
                <a:solidFill>
                  <a:srgbClr val="64748B"/>
                </a:solidFill>
                <a:latin typeface="DM Sans"/>
                <a:ea typeface="DM Sans"/>
                <a:cs typeface="DM Sans"/>
                <a:sym typeface="DM Sans"/>
              </a:defRPr>
            </a:lvl1pPr>
          </a:lstStyle>
          <a:p>
            <a:pPr/>
            <a:r>
              <a:t>BTS MSc AI &amp; Data Solutions — 2026</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